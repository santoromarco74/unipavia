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1287" r:id="rId2"/>
    <p:sldId id="1290" r:id="rId3"/>
    <p:sldId id="1288" r:id="rId4"/>
    <p:sldId id="1289" r:id="rId5"/>
  </p:sldIdLst>
  <p:sldSz cx="9906000" cy="6858000" type="A4"/>
  <p:notesSz cx="6858000" cy="9945688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it-IT"/>
    </a:defPPr>
    <a:lvl1pPr algn="l" rtl="0" eaLnBrk="0" fontAlgn="base" hangingPunct="0">
      <a:spcBef>
        <a:spcPct val="0"/>
      </a:spcBef>
      <a:spcAft>
        <a:spcPct val="0"/>
      </a:spcAft>
      <a:defRPr sz="4400" b="1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4400" b="1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4400" b="1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4400" b="1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4400" b="1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4400" b="1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4400" b="1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4400" b="1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4400" b="1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2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66"/>
    <a:srgbClr val="CC0000"/>
    <a:srgbClr val="FF0000"/>
    <a:srgbClr val="CC3300"/>
    <a:srgbClr val="FF9900"/>
    <a:srgbClr val="FF6600"/>
    <a:srgbClr val="FF9933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ile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Stile me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E171933-4619-4E11-9A3F-F7608DF75F80}" styleName="Stile medio 1 - Color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354" autoAdjust="0"/>
    <p:restoredTop sz="86441" autoAdjust="0"/>
  </p:normalViewPr>
  <p:slideViewPr>
    <p:cSldViewPr>
      <p:cViewPr varScale="1">
        <p:scale>
          <a:sx n="74" d="100"/>
          <a:sy n="74" d="100"/>
        </p:scale>
        <p:origin x="1186" y="283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54" d="100"/>
          <a:sy n="54" d="100"/>
        </p:scale>
        <p:origin x="-2658" y="-102"/>
      </p:cViewPr>
      <p:guideLst>
        <p:guide orient="horz" pos="3132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08130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46125" y="752475"/>
            <a:ext cx="5367338" cy="3716338"/>
          </a:xfrm>
          <a:prstGeom prst="rect">
            <a:avLst/>
          </a:prstGeom>
          <a:noFill/>
          <a:ln w="12699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1" name="Rectangle 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2813" y="4722813"/>
            <a:ext cx="5030787" cy="4476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913" tIns="44659" rIns="90913" bIns="4465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 noProof="0"/>
              <a:t>Click to edit Master text styles</a:t>
            </a:r>
          </a:p>
          <a:p>
            <a:pPr lvl="1"/>
            <a:r>
              <a:rPr lang="it-IT" altLang="it-IT" noProof="0"/>
              <a:t>Second level</a:t>
            </a:r>
          </a:p>
          <a:p>
            <a:pPr lvl="2"/>
            <a:r>
              <a:rPr lang="it-IT" altLang="it-IT" noProof="0"/>
              <a:t>Third level</a:t>
            </a:r>
          </a:p>
          <a:p>
            <a:pPr lvl="3"/>
            <a:r>
              <a:rPr lang="it-IT" altLang="it-IT" noProof="0"/>
              <a:t>Fourth level</a:t>
            </a:r>
          </a:p>
          <a:p>
            <a:pPr lvl="4"/>
            <a:r>
              <a:rPr lang="it-IT" altLang="it-IT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3696179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340524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760547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533720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742950" y="1524000"/>
            <a:ext cx="413385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5029200" y="1524000"/>
            <a:ext cx="413385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501220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669901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</p:spTree>
    <p:extLst>
      <p:ext uri="{BB962C8B-B14F-4D97-AF65-F5344CB8AC3E}">
        <p14:creationId xmlns:p14="http://schemas.microsoft.com/office/powerpoint/2010/main" val="1491803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0075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162800" y="6352309"/>
            <a:ext cx="2057400" cy="5334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D2B96B-A603-4140-9069-ABE1A3595BC1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32175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162800" y="6352309"/>
            <a:ext cx="2057400" cy="5334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3C0416-0BE0-4F9E-8597-2DB2DBBDF86B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662469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162800" y="6352309"/>
            <a:ext cx="2057400" cy="5334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F88EF2-1A8F-4D3C-993B-72D9F9E72677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894256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7058025" y="304800"/>
            <a:ext cx="2105025" cy="5791200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742950" y="304800"/>
            <a:ext cx="6162675" cy="5791200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162800" y="6352309"/>
            <a:ext cx="2057400" cy="5334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A1F4AF-1232-4B69-8CB3-1756E32E9DC5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5756158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olo, test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16"/>
          <p:cNvGraphicFramePr>
            <a:graphicFrameLocks noChangeAspect="1"/>
          </p:cNvGraphicFramePr>
          <p:nvPr userDrawn="1"/>
        </p:nvGraphicFramePr>
        <p:xfrm>
          <a:off x="8915400" y="333375"/>
          <a:ext cx="935038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tografia di Photo Editor" r:id="rId2" imgW="5028571" imgH="4866667" progId="MSPhotoEd.3">
                  <p:embed/>
                </p:oleObj>
              </mc:Choice>
              <mc:Fallback>
                <p:oleObj name="Fotografia di Photo Editor" r:id="rId2" imgW="5028571" imgH="4866667" progId="MSPhotoEd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15400" y="333375"/>
                        <a:ext cx="935038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699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egnaposto testo 2"/>
          <p:cNvSpPr>
            <a:spLocks noGrp="1"/>
          </p:cNvSpPr>
          <p:nvPr>
            <p:ph type="body" sz="half" idx="1"/>
          </p:nvPr>
        </p:nvSpPr>
        <p:spPr>
          <a:xfrm>
            <a:off x="742950" y="1524000"/>
            <a:ext cx="4133850" cy="4572000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5029200" y="1524000"/>
            <a:ext cx="4133850" cy="4572000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9841082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olo, contenuto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42950" y="304800"/>
            <a:ext cx="8170863" cy="914400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742950" y="1524000"/>
            <a:ext cx="4133850" cy="4572000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5029200" y="1524000"/>
            <a:ext cx="4133850" cy="4572000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162800" y="6352309"/>
            <a:ext cx="2057400" cy="5334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79C960-918F-4D2A-8EBF-976F4722527A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9037840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Titolo, contenuto 2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42950" y="304800"/>
            <a:ext cx="8170863" cy="914400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quarter" idx="1"/>
          </p:nvPr>
        </p:nvSpPr>
        <p:spPr>
          <a:xfrm>
            <a:off x="742950" y="1524000"/>
            <a:ext cx="4133850" cy="2209800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quarter" idx="2"/>
          </p:nvPr>
        </p:nvSpPr>
        <p:spPr>
          <a:xfrm>
            <a:off x="742950" y="3886200"/>
            <a:ext cx="4133850" cy="2209800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half" idx="3"/>
          </p:nvPr>
        </p:nvSpPr>
        <p:spPr>
          <a:xfrm>
            <a:off x="5029200" y="1524000"/>
            <a:ext cx="4133850" cy="4572000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162800" y="6352309"/>
            <a:ext cx="2057400" cy="5334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AA70CA-F801-4D97-AA6A-EB4370DD1CC4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1271426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olo e contenuto sopra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42950" y="304800"/>
            <a:ext cx="8170863" cy="914400"/>
          </a:xfrm>
        </p:spPr>
        <p:txBody>
          <a:bodyPr/>
          <a:lstStyle/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742950" y="1524000"/>
            <a:ext cx="8420100" cy="2209800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742950" y="3871000"/>
            <a:ext cx="8420100" cy="2209800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5428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olo e contenuto sopra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42950" y="304800"/>
            <a:ext cx="8170863" cy="914400"/>
          </a:xfrm>
        </p:spPr>
        <p:txBody>
          <a:bodyPr/>
          <a:lstStyle/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742950" y="1524000"/>
            <a:ext cx="8420100" cy="2209800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EDA4FDA5-39E1-455C-B001-F4220CFC994B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742950" y="4028984"/>
            <a:ext cx="8420100" cy="2209800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5506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olo e contenuto sopra tes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42950" y="304800"/>
            <a:ext cx="8170863" cy="914400"/>
          </a:xfrm>
        </p:spPr>
        <p:txBody>
          <a:bodyPr/>
          <a:lstStyle/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sz="quarter" idx="1"/>
          </p:nvPr>
        </p:nvSpPr>
        <p:spPr>
          <a:xfrm>
            <a:off x="742950" y="1524000"/>
            <a:ext cx="4133850" cy="2209800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contenuto 3"/>
          <p:cNvSpPr>
            <a:spLocks noGrp="1"/>
          </p:cNvSpPr>
          <p:nvPr>
            <p:ph sz="quarter" idx="2"/>
          </p:nvPr>
        </p:nvSpPr>
        <p:spPr>
          <a:xfrm>
            <a:off x="5029200" y="1524000"/>
            <a:ext cx="4133850" cy="2209800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testo 4"/>
          <p:cNvSpPr>
            <a:spLocks noGrp="1"/>
          </p:cNvSpPr>
          <p:nvPr>
            <p:ph type="body" sz="half" idx="3"/>
          </p:nvPr>
        </p:nvSpPr>
        <p:spPr>
          <a:xfrm>
            <a:off x="742950" y="3886200"/>
            <a:ext cx="8420100" cy="2209800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162800" y="6352309"/>
            <a:ext cx="2057400" cy="5334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2EE3C5-5BA6-42C3-B0F6-6BDC46A7AB9D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1306033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1_Titolo, test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42950" y="304800"/>
            <a:ext cx="8170863" cy="914400"/>
          </a:xfrm>
        </p:spPr>
        <p:txBody>
          <a:bodyPr/>
          <a:lstStyle/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Segnaposto testo 2"/>
          <p:cNvSpPr>
            <a:spLocks noGrp="1"/>
          </p:cNvSpPr>
          <p:nvPr>
            <p:ph type="body" sz="half" idx="1"/>
          </p:nvPr>
        </p:nvSpPr>
        <p:spPr>
          <a:xfrm>
            <a:off x="742950" y="1524000"/>
            <a:ext cx="4133850" cy="4572000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5029200" y="1524000"/>
            <a:ext cx="4133850" cy="4572000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162800" y="6352309"/>
            <a:ext cx="2057400" cy="5334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C099F7-996D-4B5D-A891-A4B107769732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562218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42950" y="304800"/>
            <a:ext cx="8170863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42950" y="1524000"/>
            <a:ext cx="84201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Click to edit Master text styles</a:t>
            </a:r>
          </a:p>
          <a:p>
            <a:pPr lvl="1"/>
            <a:r>
              <a:rPr lang="it-IT" altLang="it-IT"/>
              <a:t>Second level</a:t>
            </a:r>
          </a:p>
          <a:p>
            <a:pPr lvl="2"/>
            <a:r>
              <a:rPr lang="it-IT" altLang="it-IT"/>
              <a:t>Third level</a:t>
            </a:r>
          </a:p>
          <a:p>
            <a:pPr lvl="3"/>
            <a:r>
              <a:rPr lang="it-IT" altLang="it-IT"/>
              <a:t>Fourth level</a:t>
            </a:r>
          </a:p>
          <a:p>
            <a:pPr lvl="4"/>
            <a:r>
              <a:rPr lang="it-IT" altLang="it-IT"/>
              <a:t>Fifth level</a:t>
            </a:r>
          </a:p>
        </p:txBody>
      </p:sp>
      <p:graphicFrame>
        <p:nvGraphicFramePr>
          <p:cNvPr id="4102" name="Object 16"/>
          <p:cNvGraphicFramePr>
            <a:graphicFrameLocks noChangeAspect="1"/>
          </p:cNvGraphicFramePr>
          <p:nvPr userDrawn="1"/>
        </p:nvGraphicFramePr>
        <p:xfrm>
          <a:off x="8915400" y="333375"/>
          <a:ext cx="935038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tografia di Photo Editor" r:id="rId20" imgW="5028571" imgH="4866667" progId="MSPhotoEd.3">
                  <p:embed/>
                </p:oleObj>
              </mc:Choice>
              <mc:Fallback>
                <p:oleObj name="Fotografia di Photo Editor" r:id="rId20" imgW="5028571" imgH="4866667" progId="MSPhotoEd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15400" y="333375"/>
                        <a:ext cx="935038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699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13" r:id="rId12"/>
    <p:sldLayoutId id="2147483708" r:id="rId13"/>
    <p:sldLayoutId id="2147483709" r:id="rId14"/>
    <p:sldLayoutId id="2147483710" r:id="rId15"/>
    <p:sldLayoutId id="2147483714" r:id="rId16"/>
    <p:sldLayoutId id="2147483711" r:id="rId17"/>
    <p:sldLayoutId id="2147483712" r:id="rId18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0066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0066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0066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0066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0066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400">
          <a:solidFill>
            <a:srgbClr val="000066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sz="2000">
          <a:solidFill>
            <a:srgbClr val="000066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>
          <a:solidFill>
            <a:srgbClr val="000066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sz="1600">
          <a:solidFill>
            <a:srgbClr val="000066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»"/>
        <a:defRPr sz="1600">
          <a:solidFill>
            <a:srgbClr val="000066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»"/>
        <a:defRPr sz="1600">
          <a:solidFill>
            <a:schemeClr val="accent2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»"/>
        <a:defRPr sz="1600">
          <a:solidFill>
            <a:schemeClr val="accent2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»"/>
        <a:defRPr sz="1600">
          <a:solidFill>
            <a:schemeClr val="accent2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»"/>
        <a:defRPr sz="1600">
          <a:solidFill>
            <a:schemeClr val="accent2"/>
          </a:solidFill>
          <a:latin typeface="+mn-lt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C812270-6306-DDD3-E837-E9F7B967BA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Business Process Modeling</a:t>
            </a:r>
            <a:br>
              <a:rPr lang="en-US" dirty="0"/>
            </a:br>
            <a:r>
              <a:rPr lang="en-US" dirty="0"/>
              <a:t>Foreword </a:t>
            </a:r>
            <a:br>
              <a:rPr lang="en-US" dirty="0"/>
            </a:br>
            <a:r>
              <a:rPr lang="en-US" sz="1800" dirty="0"/>
              <a:t>R 251117</a:t>
            </a:r>
            <a:endParaRPr lang="en-US" dirty="0"/>
          </a:p>
        </p:txBody>
      </p:sp>
      <p:sp>
        <p:nvSpPr>
          <p:cNvPr id="4" name="Sottotitolo 3">
            <a:extLst>
              <a:ext uri="{FF2B5EF4-FFF2-40B4-BE49-F238E27FC236}">
                <a16:creationId xmlns:a16="http://schemas.microsoft.com/office/drawing/2014/main" id="{8EA23590-8DAF-36C8-DBD8-6C055E6B14F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ctr"/>
          <a:lstStyle/>
          <a:p>
            <a:r>
              <a:rPr lang="en-US" dirty="0"/>
              <a:t>Scope</a:t>
            </a:r>
          </a:p>
          <a:p>
            <a:r>
              <a:rPr lang="en-US" dirty="0"/>
              <a:t>Objectives </a:t>
            </a:r>
          </a:p>
          <a:p>
            <a:r>
              <a:rPr lang="en-US" dirty="0"/>
              <a:t>Materials </a:t>
            </a:r>
          </a:p>
        </p:txBody>
      </p:sp>
    </p:spTree>
    <p:extLst>
      <p:ext uri="{BB962C8B-B14F-4D97-AF65-F5344CB8AC3E}">
        <p14:creationId xmlns:p14="http://schemas.microsoft.com/office/powerpoint/2010/main" val="2830135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2A805-F0DB-B9EF-BA6F-FCC9083AD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947D021-2BED-31CB-F0F1-A2BDF0CF4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DF1F0CD-2867-9DEA-7DC9-4FAD882FBF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en-US" sz="3200" dirty="0"/>
              <a:t>The  session focuses on Business Process. </a:t>
            </a:r>
          </a:p>
          <a:p>
            <a:r>
              <a:rPr lang="en-US" sz="3200" dirty="0"/>
              <a:t>Business Processes analysis is  the starting point of any digital project and defines  the activities  to be  digitized, which are the items of the Product Breakdown Structure or  Themes/ Epics in an Agile approach. </a:t>
            </a:r>
          </a:p>
          <a:p>
            <a:r>
              <a:rPr lang="en-US" sz="3200" dirty="0"/>
              <a:t>The  analysis of the business processes is an input of the Scoping  assignment. </a:t>
            </a:r>
          </a:p>
        </p:txBody>
      </p:sp>
    </p:spTree>
    <p:extLst>
      <p:ext uri="{BB962C8B-B14F-4D97-AF65-F5344CB8AC3E}">
        <p14:creationId xmlns:p14="http://schemas.microsoft.com/office/powerpoint/2010/main" val="2779306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B423126-5AE5-48D9-B1C6-547033238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OBJECTIVES 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DDC1F61-4F10-3002-323B-9C3EDDA5C8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dirty="0"/>
              <a:t>The session has  3 objectives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sz="2800" dirty="0"/>
              <a:t>Learn how  to model a business process  at a detail level sufficient to define the  Product Breakdown Structure  of a  Project, hence to  workout a  scoping document 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sz="2800" dirty="0"/>
              <a:t>To KNOW the map of business processes in an enterprise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sz="2800" dirty="0"/>
              <a:t>to BE INFORMED  about the  reference  framework used in the  enterprise </a:t>
            </a:r>
          </a:p>
        </p:txBody>
      </p:sp>
    </p:spTree>
    <p:extLst>
      <p:ext uri="{BB962C8B-B14F-4D97-AF65-F5344CB8AC3E}">
        <p14:creationId xmlns:p14="http://schemas.microsoft.com/office/powerpoint/2010/main" val="1277613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54150-FDD6-3B4B-8700-24A3196CF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01463DD-8B4F-FE35-0816-25AFAD885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OF MATERIALS 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EFEF425-6B49-2C85-6A3E-0FB66210C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en-US" sz="2000" dirty="0"/>
              <a:t>BA-15-1 : a  PPT illustration of modeling  of a Business Process t</a:t>
            </a:r>
            <a:r>
              <a:rPr lang="en-US" sz="2000" b="1" dirty="0"/>
              <a:t>o  be used in the scoping assignment (objective  1)</a:t>
            </a:r>
            <a:endParaRPr lang="en-US" sz="2000" dirty="0"/>
          </a:p>
          <a:p>
            <a:r>
              <a:rPr lang="en-US" sz="2000" dirty="0"/>
              <a:t>Ba-15-2 BP  overview: a  presentation on the  map  of  business  processes in the enterprise; for  your knowledge (objective 2)</a:t>
            </a:r>
          </a:p>
          <a:p>
            <a:r>
              <a:rPr lang="en-US" sz="2000" dirty="0"/>
              <a:t>BA-15-3: BP architecture manual: please read the  manual  to prepare  your scoping assignment because it explains how  to model a Business Process  and what Business  Process are in an  Enterprise (objective 1+2)</a:t>
            </a:r>
          </a:p>
          <a:p>
            <a:r>
              <a:rPr lang="en-US" sz="2000" dirty="0"/>
              <a:t>Ba-16-1-SCOR-SHORT:  a PPT presentation of  SCOR  with a  case study (objective 3)</a:t>
            </a:r>
          </a:p>
          <a:p>
            <a:r>
              <a:rPr lang="en-US" sz="2000" dirty="0"/>
              <a:t>BA-16-2 - SCOR manual:  the  official manual of  SCOR edition 6  (objective 3)</a:t>
            </a:r>
          </a:p>
        </p:txBody>
      </p:sp>
    </p:spTree>
    <p:extLst>
      <p:ext uri="{BB962C8B-B14F-4D97-AF65-F5344CB8AC3E}">
        <p14:creationId xmlns:p14="http://schemas.microsoft.com/office/powerpoint/2010/main" val="4190762479"/>
      </p:ext>
    </p:extLst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699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sz="6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699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sz="6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C:\Programmi\Microsoft Office\Templates\Blank Presentation.pot</Template>
  <TotalTime>46304197</TotalTime>
  <Words>241</Words>
  <Application>Microsoft Office PowerPoint</Application>
  <PresentationFormat>A4 (21x29,7 cm)</PresentationFormat>
  <Paragraphs>19</Paragraphs>
  <Slides>4</Slides>
  <Notes>0</Notes>
  <HiddenSlides>0</HiddenSlides>
  <MMClips>0</MMClips>
  <ScaleCrop>false</ScaleCrop>
  <HeadingPairs>
    <vt:vector size="8" baseType="variant">
      <vt:variant>
        <vt:lpstr>Caratteri utilizzati</vt:lpstr>
      </vt:variant>
      <vt:variant>
        <vt:i4>1</vt:i4>
      </vt:variant>
      <vt:variant>
        <vt:lpstr>Tema</vt:lpstr>
      </vt:variant>
      <vt:variant>
        <vt:i4>1</vt:i4>
      </vt:variant>
      <vt:variant>
        <vt:lpstr>Server OLE incorporati</vt:lpstr>
      </vt:variant>
      <vt:variant>
        <vt:i4>1</vt:i4>
      </vt:variant>
      <vt:variant>
        <vt:lpstr>Titoli diapositive</vt:lpstr>
      </vt:variant>
      <vt:variant>
        <vt:i4>4</vt:i4>
      </vt:variant>
    </vt:vector>
  </HeadingPairs>
  <TitlesOfParts>
    <vt:vector size="7" baseType="lpstr">
      <vt:lpstr>Times New Roman</vt:lpstr>
      <vt:lpstr>Blank Presentation</vt:lpstr>
      <vt:lpstr>Fotografia di Photo Editor</vt:lpstr>
      <vt:lpstr>Business Process Modeling Foreword  R 251117</vt:lpstr>
      <vt:lpstr>Scope</vt:lpstr>
      <vt:lpstr> OBJECTIVES </vt:lpstr>
      <vt:lpstr>LIST OF MATERIALS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Mip</dc:title>
  <dc:creator>PROF. MOTTA</dc:creator>
  <cp:lastModifiedBy>gianmario motta</cp:lastModifiedBy>
  <cp:revision>1209</cp:revision>
  <cp:lastPrinted>1999-09-25T10:12:07Z</cp:lastPrinted>
  <dcterms:created xsi:type="dcterms:W3CDTF">1998-09-05T08:17:15Z</dcterms:created>
  <dcterms:modified xsi:type="dcterms:W3CDTF">2025-11-17T17:03:49Z</dcterms:modified>
</cp:coreProperties>
</file>