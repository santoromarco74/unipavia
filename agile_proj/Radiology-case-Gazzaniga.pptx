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3" r:id="rId9"/>
    <p:sldId id="266" r:id="rId10"/>
    <p:sldId id="267" r:id="rId11"/>
  </p:sldIdLst>
  <p:sldSz cx="9906000" cy="6858000" type="A4"/>
  <p:notesSz cx="6797675" cy="992663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0000"/>
    <a:srgbClr val="FFFF00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4" autoAdjust="0"/>
    <p:restoredTop sz="94660"/>
  </p:normalViewPr>
  <p:slideViewPr>
    <p:cSldViewPr>
      <p:cViewPr varScale="1">
        <p:scale>
          <a:sx n="102" d="100"/>
          <a:sy n="102" d="100"/>
        </p:scale>
        <p:origin x="1788" y="31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2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/>
      <dgm:spPr/>
      <dgm:t>
        <a:bodyPr/>
        <a:lstStyle/>
        <a:p>
          <a:r>
            <a:rPr lang="en-US" b="1" noProof="0" dirty="0"/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/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/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/>
      <dgm:spPr/>
      <dgm:t>
        <a:bodyPr/>
        <a:lstStyle/>
        <a:p>
          <a:r>
            <a:rPr lang="en-US" b="1" noProof="0" dirty="0"/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/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/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/>
      <dgm:spPr/>
      <dgm:t>
        <a:bodyPr/>
        <a:lstStyle/>
        <a:p>
          <a:r>
            <a:rPr lang="en-US" b="1" noProof="0" dirty="0"/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/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/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/>
      <dgm:spPr/>
      <dgm:t>
        <a:bodyPr/>
        <a:lstStyle/>
        <a:p>
          <a:r>
            <a:rPr lang="en-US" b="1" noProof="0" dirty="0"/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/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/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 custT="1"/>
      <dgm:spPr>
        <a:solidFill>
          <a:srgbClr val="FFC000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/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</dgm:spPr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 custT="1"/>
      <dgm:spPr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</dgm:spPr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 custT="1"/>
      <dgm:spPr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</dgm:spPr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/>
      <dgm:spPr/>
      <dgm:t>
        <a:bodyPr/>
        <a:lstStyle/>
        <a:p>
          <a:r>
            <a:rPr lang="en-US" b="1" noProof="0" dirty="0"/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/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/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64614C-AAC8-4278-8E7E-BF4920B60DD6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53B184-8684-46F5-B28F-FEDC29F4915D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Privacy</a:t>
          </a:r>
        </a:p>
      </dgm:t>
    </dgm:pt>
    <dgm:pt modelId="{A9C17EF5-628E-4F7B-8F7A-E915F62E8598}" type="parTrans" cxnId="{AC1FF637-93F6-412B-A76E-C93FB3E4A8B8}">
      <dgm:prSet/>
      <dgm:spPr/>
      <dgm:t>
        <a:bodyPr/>
        <a:lstStyle/>
        <a:p>
          <a:endParaRPr lang="en-US"/>
        </a:p>
      </dgm:t>
    </dgm:pt>
    <dgm:pt modelId="{C5E0F628-6DA8-42AA-BD21-146802E26D96}" type="sibTrans" cxnId="{AC1FF637-93F6-412B-A76E-C93FB3E4A8B8}">
      <dgm:prSet/>
      <dgm:spPr/>
      <dgm:t>
        <a:bodyPr/>
        <a:lstStyle/>
        <a:p>
          <a:endParaRPr lang="en-US" noProof="0" dirty="0"/>
        </a:p>
      </dgm:t>
    </dgm:pt>
    <dgm:pt modelId="{003D1A36-D801-4B83-9863-6221836F4C9E}">
      <dgm:prSet phldrT="[Testo]" phldr="0" custT="1"/>
      <dgm:spPr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gm:t>
    </dgm:pt>
    <dgm:pt modelId="{48D02576-6962-4BF8-AE94-AC1C6BF2B3B5}" type="parTrans" cxnId="{969FA343-53FA-449C-AEC0-5DF09DA9AA33}">
      <dgm:prSet/>
      <dgm:spPr/>
      <dgm:t>
        <a:bodyPr/>
        <a:lstStyle/>
        <a:p>
          <a:endParaRPr lang="en-US"/>
        </a:p>
      </dgm:t>
    </dgm:pt>
    <dgm:pt modelId="{CEDC6768-1B2D-4190-B462-AF818280EAC9}" type="sibTrans" cxnId="{969FA343-53FA-449C-AEC0-5DF09DA9AA33}">
      <dgm:prSet/>
      <dgm:spPr/>
      <dgm:t>
        <a:bodyPr/>
        <a:lstStyle/>
        <a:p>
          <a:endParaRPr lang="en-US" noProof="0" dirty="0"/>
        </a:p>
      </dgm:t>
    </dgm:pt>
    <dgm:pt modelId="{61421029-0BE8-4278-9A65-AE2AA3B8BB31}">
      <dgm:prSet phldrT="[Testo]" phldr="0"/>
      <dgm:spPr>
        <a:solidFill>
          <a:schemeClr val="bg1"/>
        </a:solidFill>
      </dgm:spPr>
      <dgm:t>
        <a:bodyPr/>
        <a:lstStyle/>
        <a:p>
          <a:r>
            <a:rPr lang="en-US" b="1" noProof="0" dirty="0"/>
            <a:t>Infrastructure</a:t>
          </a:r>
        </a:p>
      </dgm:t>
    </dgm:pt>
    <dgm:pt modelId="{1BD33F79-BE64-478F-9249-81CB0C201550}" type="parTrans" cxnId="{DF541D66-239B-4927-84EA-6CF5B8B2935F}">
      <dgm:prSet/>
      <dgm:spPr/>
      <dgm:t>
        <a:bodyPr/>
        <a:lstStyle/>
        <a:p>
          <a:endParaRPr lang="en-US"/>
        </a:p>
      </dgm:t>
    </dgm:pt>
    <dgm:pt modelId="{E291050E-2A16-40F4-9042-7B2CACA93BD7}" type="sibTrans" cxnId="{DF541D66-239B-4927-84EA-6CF5B8B2935F}">
      <dgm:prSet/>
      <dgm:spPr/>
      <dgm:t>
        <a:bodyPr/>
        <a:lstStyle/>
        <a:p>
          <a:endParaRPr lang="en-US" noProof="0" dirty="0"/>
        </a:p>
      </dgm:t>
    </dgm:pt>
    <dgm:pt modelId="{06CF6498-441F-4408-A1C1-6FD503042786}">
      <dgm:prSet phldrT="[Testo]" phldr="0"/>
      <dgm:spPr>
        <a:solidFill>
          <a:srgbClr val="FFC000"/>
        </a:solidFill>
      </dgm:spPr>
      <dgm:t>
        <a:bodyPr/>
        <a:lstStyle/>
        <a:p>
          <a:r>
            <a:rPr lang="en-US" b="1" noProof="0" dirty="0"/>
            <a:t>Process</a:t>
          </a:r>
        </a:p>
      </dgm:t>
    </dgm:pt>
    <dgm:pt modelId="{B84EFF1C-DAAC-48DE-B1D7-D4427BCDA6E1}" type="parTrans" cxnId="{A4705D80-9CCA-4E29-90FE-758DB8F89FD2}">
      <dgm:prSet/>
      <dgm:spPr/>
      <dgm:t>
        <a:bodyPr/>
        <a:lstStyle/>
        <a:p>
          <a:endParaRPr lang="en-US"/>
        </a:p>
      </dgm:t>
    </dgm:pt>
    <dgm:pt modelId="{ABEB8A78-FDEF-4B73-8B9C-69C21E0E2053}" type="sibTrans" cxnId="{A4705D80-9CCA-4E29-90FE-758DB8F89FD2}">
      <dgm:prSet/>
      <dgm:spPr/>
      <dgm:t>
        <a:bodyPr/>
        <a:lstStyle/>
        <a:p>
          <a:endParaRPr lang="en-US"/>
        </a:p>
      </dgm:t>
    </dgm:pt>
    <dgm:pt modelId="{A34DED24-57C9-49F6-806B-1CD2AD5E9A10}" type="pres">
      <dgm:prSet presAssocID="{D964614C-AAC8-4278-8E7E-BF4920B60DD6}" presName="linearFlow" presStyleCnt="0">
        <dgm:presLayoutVars>
          <dgm:resizeHandles val="exact"/>
        </dgm:presLayoutVars>
      </dgm:prSet>
      <dgm:spPr/>
    </dgm:pt>
    <dgm:pt modelId="{0ACC4E30-34F7-4FFA-95FC-614416A12EFC}" type="pres">
      <dgm:prSet presAssocID="{5553B184-8684-46F5-B28F-FEDC29F4915D}" presName="node" presStyleLbl="node1" presStyleIdx="0" presStyleCnt="4">
        <dgm:presLayoutVars>
          <dgm:bulletEnabled val="1"/>
        </dgm:presLayoutVars>
      </dgm:prSet>
      <dgm:spPr/>
    </dgm:pt>
    <dgm:pt modelId="{10CA762E-C77E-4181-818C-2F5D3CA8A2E1}" type="pres">
      <dgm:prSet presAssocID="{C5E0F628-6DA8-42AA-BD21-146802E26D96}" presName="sibTrans" presStyleLbl="sibTrans2D1" presStyleIdx="0" presStyleCnt="3"/>
      <dgm:spPr/>
    </dgm:pt>
    <dgm:pt modelId="{A60221D7-0710-436D-9A1B-BC2C7367F718}" type="pres">
      <dgm:prSet presAssocID="{C5E0F628-6DA8-42AA-BD21-146802E26D96}" presName="connectorText" presStyleLbl="sibTrans2D1" presStyleIdx="0" presStyleCnt="3"/>
      <dgm:spPr/>
    </dgm:pt>
    <dgm:pt modelId="{6C954D00-108F-4783-BFA1-9AFE0AC53921}" type="pres">
      <dgm:prSet presAssocID="{003D1A36-D801-4B83-9863-6221836F4C9E}" presName="node" presStyleLbl="node1" presStyleIdx="1" presStyleCnt="4">
        <dgm:presLayoutVars>
          <dgm:bulletEnabled val="1"/>
        </dgm:presLayoutVars>
      </dgm:prSet>
      <dgm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</dgm:spPr>
    </dgm:pt>
    <dgm:pt modelId="{933CDC59-DE79-4677-B980-F89B9AD8FA2F}" type="pres">
      <dgm:prSet presAssocID="{CEDC6768-1B2D-4190-B462-AF818280EAC9}" presName="sibTrans" presStyleLbl="sibTrans2D1" presStyleIdx="1" presStyleCnt="3"/>
      <dgm:spPr/>
    </dgm:pt>
    <dgm:pt modelId="{5E5D558C-6FC9-47F2-A45A-56871BED1238}" type="pres">
      <dgm:prSet presAssocID="{CEDC6768-1B2D-4190-B462-AF818280EAC9}" presName="connectorText" presStyleLbl="sibTrans2D1" presStyleIdx="1" presStyleCnt="3"/>
      <dgm:spPr/>
    </dgm:pt>
    <dgm:pt modelId="{A2DEFF55-2720-4259-AD29-0ED95C3B1F17}" type="pres">
      <dgm:prSet presAssocID="{61421029-0BE8-4278-9A65-AE2AA3B8BB31}" presName="node" presStyleLbl="node1" presStyleIdx="2" presStyleCnt="4">
        <dgm:presLayoutVars>
          <dgm:bulletEnabled val="1"/>
        </dgm:presLayoutVars>
      </dgm:prSet>
      <dgm:spPr/>
    </dgm:pt>
    <dgm:pt modelId="{77066A0E-146A-4AD1-B9B9-9F8B54BEB263}" type="pres">
      <dgm:prSet presAssocID="{E291050E-2A16-40F4-9042-7B2CACA93BD7}" presName="sibTrans" presStyleLbl="sibTrans2D1" presStyleIdx="2" presStyleCnt="3"/>
      <dgm:spPr/>
    </dgm:pt>
    <dgm:pt modelId="{3D4EC128-C4F0-4AEF-A76F-48238AE44F2A}" type="pres">
      <dgm:prSet presAssocID="{E291050E-2A16-40F4-9042-7B2CACA93BD7}" presName="connectorText" presStyleLbl="sibTrans2D1" presStyleIdx="2" presStyleCnt="3"/>
      <dgm:spPr/>
    </dgm:pt>
    <dgm:pt modelId="{3041BFD4-C5EF-4DD4-89F8-EC0DC11E09D1}" type="pres">
      <dgm:prSet presAssocID="{06CF6498-441F-4408-A1C1-6FD503042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42FCA716-9593-45B0-8EAD-BE6A5C0BA474}" type="presOf" srcId="{CEDC6768-1B2D-4190-B462-AF818280EAC9}" destId="{933CDC59-DE79-4677-B980-F89B9AD8FA2F}" srcOrd="0" destOrd="0" presId="urn:microsoft.com/office/officeart/2005/8/layout/process2"/>
    <dgm:cxn modelId="{AC1FF637-93F6-412B-A76E-C93FB3E4A8B8}" srcId="{D964614C-AAC8-4278-8E7E-BF4920B60DD6}" destId="{5553B184-8684-46F5-B28F-FEDC29F4915D}" srcOrd="0" destOrd="0" parTransId="{A9C17EF5-628E-4F7B-8F7A-E915F62E8598}" sibTransId="{C5E0F628-6DA8-42AA-BD21-146802E26D96}"/>
    <dgm:cxn modelId="{B9DAB53B-AC52-4693-B99B-4DD22E270CF8}" type="presOf" srcId="{CEDC6768-1B2D-4190-B462-AF818280EAC9}" destId="{5E5D558C-6FC9-47F2-A45A-56871BED1238}" srcOrd="1" destOrd="0" presId="urn:microsoft.com/office/officeart/2005/8/layout/process2"/>
    <dgm:cxn modelId="{ECDA6543-D323-403B-9611-CCDB648A790D}" type="presOf" srcId="{06CF6498-441F-4408-A1C1-6FD503042786}" destId="{3041BFD4-C5EF-4DD4-89F8-EC0DC11E09D1}" srcOrd="0" destOrd="0" presId="urn:microsoft.com/office/officeart/2005/8/layout/process2"/>
    <dgm:cxn modelId="{969FA343-53FA-449C-AEC0-5DF09DA9AA33}" srcId="{D964614C-AAC8-4278-8E7E-BF4920B60DD6}" destId="{003D1A36-D801-4B83-9863-6221836F4C9E}" srcOrd="1" destOrd="0" parTransId="{48D02576-6962-4BF8-AE94-AC1C6BF2B3B5}" sibTransId="{CEDC6768-1B2D-4190-B462-AF818280EAC9}"/>
    <dgm:cxn modelId="{71D96964-FF99-4FF2-B7D9-504416DC6332}" type="presOf" srcId="{D964614C-AAC8-4278-8E7E-BF4920B60DD6}" destId="{A34DED24-57C9-49F6-806B-1CD2AD5E9A10}" srcOrd="0" destOrd="0" presId="urn:microsoft.com/office/officeart/2005/8/layout/process2"/>
    <dgm:cxn modelId="{DF541D66-239B-4927-84EA-6CF5B8B2935F}" srcId="{D964614C-AAC8-4278-8E7E-BF4920B60DD6}" destId="{61421029-0BE8-4278-9A65-AE2AA3B8BB31}" srcOrd="2" destOrd="0" parTransId="{1BD33F79-BE64-478F-9249-81CB0C201550}" sibTransId="{E291050E-2A16-40F4-9042-7B2CACA93BD7}"/>
    <dgm:cxn modelId="{ABDD707F-5E09-4CC6-9E37-EA822B1C45B6}" type="presOf" srcId="{61421029-0BE8-4278-9A65-AE2AA3B8BB31}" destId="{A2DEFF55-2720-4259-AD29-0ED95C3B1F17}" srcOrd="0" destOrd="0" presId="urn:microsoft.com/office/officeart/2005/8/layout/process2"/>
    <dgm:cxn modelId="{A4705D80-9CCA-4E29-90FE-758DB8F89FD2}" srcId="{D964614C-AAC8-4278-8E7E-BF4920B60DD6}" destId="{06CF6498-441F-4408-A1C1-6FD503042786}" srcOrd="3" destOrd="0" parTransId="{B84EFF1C-DAAC-48DE-B1D7-D4427BCDA6E1}" sibTransId="{ABEB8A78-FDEF-4B73-8B9C-69C21E0E2053}"/>
    <dgm:cxn modelId="{5F755385-A354-41CC-8F6E-4D6795E11F66}" type="presOf" srcId="{5553B184-8684-46F5-B28F-FEDC29F4915D}" destId="{0ACC4E30-34F7-4FFA-95FC-614416A12EFC}" srcOrd="0" destOrd="0" presId="urn:microsoft.com/office/officeart/2005/8/layout/process2"/>
    <dgm:cxn modelId="{AB041B8C-7240-449F-BAEA-D5AE35A74B60}" type="presOf" srcId="{E291050E-2A16-40F4-9042-7B2CACA93BD7}" destId="{3D4EC128-C4F0-4AEF-A76F-48238AE44F2A}" srcOrd="1" destOrd="0" presId="urn:microsoft.com/office/officeart/2005/8/layout/process2"/>
    <dgm:cxn modelId="{DA0E948C-DE74-42E3-991E-615A5FD5B9FB}" type="presOf" srcId="{003D1A36-D801-4B83-9863-6221836F4C9E}" destId="{6C954D00-108F-4783-BFA1-9AFE0AC53921}" srcOrd="0" destOrd="0" presId="urn:microsoft.com/office/officeart/2005/8/layout/process2"/>
    <dgm:cxn modelId="{5057C29A-AA92-4DE9-AE02-80909774402D}" type="presOf" srcId="{C5E0F628-6DA8-42AA-BD21-146802E26D96}" destId="{10CA762E-C77E-4181-818C-2F5D3CA8A2E1}" srcOrd="0" destOrd="0" presId="urn:microsoft.com/office/officeart/2005/8/layout/process2"/>
    <dgm:cxn modelId="{77ABFF9B-D74E-4081-9A00-063066A90D14}" type="presOf" srcId="{C5E0F628-6DA8-42AA-BD21-146802E26D96}" destId="{A60221D7-0710-436D-9A1B-BC2C7367F718}" srcOrd="1" destOrd="0" presId="urn:microsoft.com/office/officeart/2005/8/layout/process2"/>
    <dgm:cxn modelId="{22D8DCCA-522C-4D1E-9C84-F1CD5BBED717}" type="presOf" srcId="{E291050E-2A16-40F4-9042-7B2CACA93BD7}" destId="{77066A0E-146A-4AD1-B9B9-9F8B54BEB263}" srcOrd="0" destOrd="0" presId="urn:microsoft.com/office/officeart/2005/8/layout/process2"/>
    <dgm:cxn modelId="{2F7BDA4B-3F3A-400B-BA83-0E7EDFD9833D}" type="presParOf" srcId="{A34DED24-57C9-49F6-806B-1CD2AD5E9A10}" destId="{0ACC4E30-34F7-4FFA-95FC-614416A12EFC}" srcOrd="0" destOrd="0" presId="urn:microsoft.com/office/officeart/2005/8/layout/process2"/>
    <dgm:cxn modelId="{ED86C394-5E4C-4806-9857-9F52C656D2E8}" type="presParOf" srcId="{A34DED24-57C9-49F6-806B-1CD2AD5E9A10}" destId="{10CA762E-C77E-4181-818C-2F5D3CA8A2E1}" srcOrd="1" destOrd="0" presId="urn:microsoft.com/office/officeart/2005/8/layout/process2"/>
    <dgm:cxn modelId="{D374D252-97ED-47C9-8A5C-39E68D47CC5C}" type="presParOf" srcId="{10CA762E-C77E-4181-818C-2F5D3CA8A2E1}" destId="{A60221D7-0710-436D-9A1B-BC2C7367F718}" srcOrd="0" destOrd="0" presId="urn:microsoft.com/office/officeart/2005/8/layout/process2"/>
    <dgm:cxn modelId="{0BD1FD09-3822-4E24-A58B-EA9B008538F9}" type="presParOf" srcId="{A34DED24-57C9-49F6-806B-1CD2AD5E9A10}" destId="{6C954D00-108F-4783-BFA1-9AFE0AC53921}" srcOrd="2" destOrd="0" presId="urn:microsoft.com/office/officeart/2005/8/layout/process2"/>
    <dgm:cxn modelId="{81312C2E-5483-4B57-A5FD-6EEE0F3D3BDE}" type="presParOf" srcId="{A34DED24-57C9-49F6-806B-1CD2AD5E9A10}" destId="{933CDC59-DE79-4677-B980-F89B9AD8FA2F}" srcOrd="3" destOrd="0" presId="urn:microsoft.com/office/officeart/2005/8/layout/process2"/>
    <dgm:cxn modelId="{9E2DE3A7-C711-4ADD-95EC-995A53A7A9B2}" type="presParOf" srcId="{933CDC59-DE79-4677-B980-F89B9AD8FA2F}" destId="{5E5D558C-6FC9-47F2-A45A-56871BED1238}" srcOrd="0" destOrd="0" presId="urn:microsoft.com/office/officeart/2005/8/layout/process2"/>
    <dgm:cxn modelId="{34E964C6-2EBE-4263-A54D-1639F94843E3}" type="presParOf" srcId="{A34DED24-57C9-49F6-806B-1CD2AD5E9A10}" destId="{A2DEFF55-2720-4259-AD29-0ED95C3B1F17}" srcOrd="4" destOrd="0" presId="urn:microsoft.com/office/officeart/2005/8/layout/process2"/>
    <dgm:cxn modelId="{E3E2D343-CFA0-41E5-A40C-14C0F1802CE0}" type="presParOf" srcId="{A34DED24-57C9-49F6-806B-1CD2AD5E9A10}" destId="{77066A0E-146A-4AD1-B9B9-9F8B54BEB263}" srcOrd="5" destOrd="0" presId="urn:microsoft.com/office/officeart/2005/8/layout/process2"/>
    <dgm:cxn modelId="{74DF7C0B-3BDC-476E-A676-1615E89CD037}" type="presParOf" srcId="{77066A0E-146A-4AD1-B9B9-9F8B54BEB263}" destId="{3D4EC128-C4F0-4AEF-A76F-48238AE44F2A}" srcOrd="0" destOrd="0" presId="urn:microsoft.com/office/officeart/2005/8/layout/process2"/>
    <dgm:cxn modelId="{421F2892-CD81-422B-A3EA-DAFBFF9B208E}" type="presParOf" srcId="{A34DED24-57C9-49F6-806B-1CD2AD5E9A10}" destId="{3041BFD4-C5EF-4DD4-89F8-EC0DC11E09D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2702" y="2086"/>
          <a:ext cx="1610719" cy="77625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5438" y="24822"/>
        <a:ext cx="1565247" cy="730778"/>
      </dsp:txXfrm>
    </dsp:sp>
    <dsp:sp modelId="{10CA762E-C77E-4181-818C-2F5D3CA8A2E1}">
      <dsp:nvSpPr>
        <dsp:cNvPr id="0" name=""/>
        <dsp:cNvSpPr/>
      </dsp:nvSpPr>
      <dsp:spPr>
        <a:xfrm rot="5400000">
          <a:off x="862515" y="797743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826852"/>
        <a:ext cx="209588" cy="203765"/>
      </dsp:txXfrm>
    </dsp:sp>
    <dsp:sp modelId="{6C954D00-108F-4783-BFA1-9AFE0AC53921}">
      <dsp:nvSpPr>
        <dsp:cNvPr id="0" name=""/>
        <dsp:cNvSpPr/>
      </dsp:nvSpPr>
      <dsp:spPr>
        <a:xfrm>
          <a:off x="202702" y="1166462"/>
          <a:ext cx="1610719" cy="77625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sp:txBody>
      <dsp:txXfrm>
        <a:off x="225438" y="1189198"/>
        <a:ext cx="1565247" cy="730778"/>
      </dsp:txXfrm>
    </dsp:sp>
    <dsp:sp modelId="{933CDC59-DE79-4677-B980-F89B9AD8FA2F}">
      <dsp:nvSpPr>
        <dsp:cNvPr id="0" name=""/>
        <dsp:cNvSpPr/>
      </dsp:nvSpPr>
      <dsp:spPr>
        <a:xfrm rot="5400000">
          <a:off x="862515" y="1962118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1991227"/>
        <a:ext cx="209588" cy="203765"/>
      </dsp:txXfrm>
    </dsp:sp>
    <dsp:sp modelId="{A2DEFF55-2720-4259-AD29-0ED95C3B1F17}">
      <dsp:nvSpPr>
        <dsp:cNvPr id="0" name=""/>
        <dsp:cNvSpPr/>
      </dsp:nvSpPr>
      <dsp:spPr>
        <a:xfrm>
          <a:off x="202702" y="2330837"/>
          <a:ext cx="1610719" cy="77625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5438" y="2353573"/>
        <a:ext cx="1565247" cy="730778"/>
      </dsp:txXfrm>
    </dsp:sp>
    <dsp:sp modelId="{77066A0E-146A-4AD1-B9B9-9F8B54BEB263}">
      <dsp:nvSpPr>
        <dsp:cNvPr id="0" name=""/>
        <dsp:cNvSpPr/>
      </dsp:nvSpPr>
      <dsp:spPr>
        <a:xfrm rot="5400000">
          <a:off x="862515" y="3126494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3155603"/>
        <a:ext cx="209588" cy="203765"/>
      </dsp:txXfrm>
    </dsp:sp>
    <dsp:sp modelId="{3041BFD4-C5EF-4DD4-89F8-EC0DC11E09D1}">
      <dsp:nvSpPr>
        <dsp:cNvPr id="0" name=""/>
        <dsp:cNvSpPr/>
      </dsp:nvSpPr>
      <dsp:spPr>
        <a:xfrm>
          <a:off x="202702" y="3495213"/>
          <a:ext cx="1610719" cy="7762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5438" y="3517949"/>
        <a:ext cx="1565247" cy="7307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3553" y="2232"/>
          <a:ext cx="1609018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7876" y="26555"/>
        <a:ext cx="1560372" cy="781814"/>
      </dsp:txXfrm>
    </dsp:sp>
    <dsp:sp modelId="{10CA762E-C77E-4181-818C-2F5D3CA8A2E1}">
      <dsp:nvSpPr>
        <dsp:cNvPr id="0" name=""/>
        <dsp:cNvSpPr/>
      </dsp:nvSpPr>
      <dsp:spPr>
        <a:xfrm rot="5400000">
          <a:off x="852351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884597"/>
        <a:ext cx="224225" cy="217995"/>
      </dsp:txXfrm>
    </dsp:sp>
    <dsp:sp modelId="{6C954D00-108F-4783-BFA1-9AFE0AC53921}">
      <dsp:nvSpPr>
        <dsp:cNvPr id="0" name=""/>
        <dsp:cNvSpPr/>
      </dsp:nvSpPr>
      <dsp:spPr>
        <a:xfrm>
          <a:off x="203553" y="1247923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</a:p>
      </dsp:txBody>
      <dsp:txXfrm>
        <a:off x="227876" y="1272246"/>
        <a:ext cx="1560372" cy="781814"/>
      </dsp:txXfrm>
    </dsp:sp>
    <dsp:sp modelId="{933CDC59-DE79-4677-B980-F89B9AD8FA2F}">
      <dsp:nvSpPr>
        <dsp:cNvPr id="0" name=""/>
        <dsp:cNvSpPr/>
      </dsp:nvSpPr>
      <dsp:spPr>
        <a:xfrm rot="5400000">
          <a:off x="852351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2130289"/>
        <a:ext cx="224225" cy="217995"/>
      </dsp:txXfrm>
    </dsp:sp>
    <dsp:sp modelId="{A2DEFF55-2720-4259-AD29-0ED95C3B1F17}">
      <dsp:nvSpPr>
        <dsp:cNvPr id="0" name=""/>
        <dsp:cNvSpPr/>
      </dsp:nvSpPr>
      <dsp:spPr>
        <a:xfrm>
          <a:off x="203553" y="2493615"/>
          <a:ext cx="1609018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7876" y="2517938"/>
        <a:ext cx="1560372" cy="781814"/>
      </dsp:txXfrm>
    </dsp:sp>
    <dsp:sp modelId="{77066A0E-146A-4AD1-B9B9-9F8B54BEB263}">
      <dsp:nvSpPr>
        <dsp:cNvPr id="0" name=""/>
        <dsp:cNvSpPr/>
      </dsp:nvSpPr>
      <dsp:spPr>
        <a:xfrm rot="5400000">
          <a:off x="852351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895950" y="3375980"/>
        <a:ext cx="224225" cy="217995"/>
      </dsp:txXfrm>
    </dsp:sp>
    <dsp:sp modelId="{3041BFD4-C5EF-4DD4-89F8-EC0DC11E09D1}">
      <dsp:nvSpPr>
        <dsp:cNvPr id="0" name=""/>
        <dsp:cNvSpPr/>
      </dsp:nvSpPr>
      <dsp:spPr>
        <a:xfrm>
          <a:off x="203553" y="3739306"/>
          <a:ext cx="1609018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7876" y="3763629"/>
        <a:ext cx="1560372" cy="7818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C4E30-34F7-4FFA-95FC-614416A12EFC}">
      <dsp:nvSpPr>
        <dsp:cNvPr id="0" name=""/>
        <dsp:cNvSpPr/>
      </dsp:nvSpPr>
      <dsp:spPr>
        <a:xfrm>
          <a:off x="202702" y="2086"/>
          <a:ext cx="1610719" cy="77625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Privacy</a:t>
          </a:r>
        </a:p>
      </dsp:txBody>
      <dsp:txXfrm>
        <a:off x="225438" y="24822"/>
        <a:ext cx="1565247" cy="730778"/>
      </dsp:txXfrm>
    </dsp:sp>
    <dsp:sp modelId="{10CA762E-C77E-4181-818C-2F5D3CA8A2E1}">
      <dsp:nvSpPr>
        <dsp:cNvPr id="0" name=""/>
        <dsp:cNvSpPr/>
      </dsp:nvSpPr>
      <dsp:spPr>
        <a:xfrm rot="5400000">
          <a:off x="862515" y="797743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826852"/>
        <a:ext cx="209588" cy="203765"/>
      </dsp:txXfrm>
    </dsp:sp>
    <dsp:sp modelId="{6C954D00-108F-4783-BFA1-9AFE0AC53921}">
      <dsp:nvSpPr>
        <dsp:cNvPr id="0" name=""/>
        <dsp:cNvSpPr/>
      </dsp:nvSpPr>
      <dsp:spPr>
        <a:xfrm>
          <a:off x="202702" y="1166462"/>
          <a:ext cx="1610719" cy="77625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Security</a:t>
          </a:r>
        </a:p>
      </dsp:txBody>
      <dsp:txXfrm>
        <a:off x="225438" y="1189198"/>
        <a:ext cx="1565247" cy="730778"/>
      </dsp:txXfrm>
    </dsp:sp>
    <dsp:sp modelId="{933CDC59-DE79-4677-B980-F89B9AD8FA2F}">
      <dsp:nvSpPr>
        <dsp:cNvPr id="0" name=""/>
        <dsp:cNvSpPr/>
      </dsp:nvSpPr>
      <dsp:spPr>
        <a:xfrm rot="5400000">
          <a:off x="862515" y="1962118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1991227"/>
        <a:ext cx="209588" cy="203765"/>
      </dsp:txXfrm>
    </dsp:sp>
    <dsp:sp modelId="{A2DEFF55-2720-4259-AD29-0ED95C3B1F17}">
      <dsp:nvSpPr>
        <dsp:cNvPr id="0" name=""/>
        <dsp:cNvSpPr/>
      </dsp:nvSpPr>
      <dsp:spPr>
        <a:xfrm>
          <a:off x="202702" y="2330837"/>
          <a:ext cx="1610719" cy="77625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Infrastructure</a:t>
          </a:r>
        </a:p>
      </dsp:txBody>
      <dsp:txXfrm>
        <a:off x="225438" y="2353573"/>
        <a:ext cx="1565247" cy="730778"/>
      </dsp:txXfrm>
    </dsp:sp>
    <dsp:sp modelId="{77066A0E-146A-4AD1-B9B9-9F8B54BEB263}">
      <dsp:nvSpPr>
        <dsp:cNvPr id="0" name=""/>
        <dsp:cNvSpPr/>
      </dsp:nvSpPr>
      <dsp:spPr>
        <a:xfrm rot="5400000">
          <a:off x="862515" y="3126494"/>
          <a:ext cx="291093" cy="34931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 rot="-5400000">
        <a:off x="903268" y="3155603"/>
        <a:ext cx="209588" cy="203765"/>
      </dsp:txXfrm>
    </dsp:sp>
    <dsp:sp modelId="{3041BFD4-C5EF-4DD4-89F8-EC0DC11E09D1}">
      <dsp:nvSpPr>
        <dsp:cNvPr id="0" name=""/>
        <dsp:cNvSpPr/>
      </dsp:nvSpPr>
      <dsp:spPr>
        <a:xfrm>
          <a:off x="202702" y="3495213"/>
          <a:ext cx="1610719" cy="776250"/>
        </a:xfrm>
        <a:prstGeom prst="roundRect">
          <a:avLst>
            <a:gd name="adj" fmla="val 10000"/>
          </a:avLst>
        </a:prstGeom>
        <a:solidFill>
          <a:srgbClr val="FFC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Process</a:t>
          </a:r>
        </a:p>
      </dsp:txBody>
      <dsp:txXfrm>
        <a:off x="225438" y="3517949"/>
        <a:ext cx="1565247" cy="730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326A148-4D0D-A556-1F93-6D644073F5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9138" y="750888"/>
            <a:ext cx="5359400" cy="3709987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168500E-F4C6-F948-8E1C-1FB7787505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3288"/>
            <a:ext cx="4986338" cy="446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7CC471-C492-F966-42CA-0F5656A50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47ACB-3E98-97AD-CF10-F6E262209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DECF88-9819-6010-56F3-D41894E54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8B9544-474F-46BB-BDC4-10EA8BEB777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3115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1A8919-0B24-8AA2-CDD0-4766A8CD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C6D216-3416-D325-A39F-BAD705362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02FD21-6191-9C64-492E-8EB548DE3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B83394-9455-4ECC-A675-D017B6BA212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7547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1A8919-0B24-8AA2-CDD0-4766A8CD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304800"/>
            <a:ext cx="860253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C6D216-3416-D325-A39F-BAD70536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768" y="1524000"/>
            <a:ext cx="6298282" cy="4572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02FD21-6191-9C64-492E-8EB548DE3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B83394-9455-4ECC-A675-D017B6BA2125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F6E4ED87-BC05-2328-3F1B-D79D747386B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60512" y="1512772"/>
            <a:ext cx="2016224" cy="4572000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3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EC3E5-792C-1C13-335E-E47A4DA5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DF5A3-5E98-9ED8-9E3C-A72A699E8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30F8F9-8088-F511-00F0-FDEB993B3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EEFA4B-439E-45A8-9414-ADB2BF1FA12A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5171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FC8EA-1012-8390-F156-E5F23AEF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CAD7FC-01C5-96C8-FA89-5C11C1918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3C19AF-94CA-211C-9517-54B0E2F7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B8B37D-DAD6-7ADE-F7D6-63D3B9270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1AE166-AB45-4583-A348-59368E6297D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5893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E905A7-9A28-CB19-E53E-9B5FB645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5C0138-394F-AE79-D067-994015772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87E370B-E394-7AF2-6917-66F00013A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0189150-E8D3-FACC-9AE1-38822DC90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E53E48C-0CCD-57E7-1361-518CD07E5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C0B4A0-405A-439A-55ED-882176A2D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1EFDC0-F559-49AA-8CB0-50B22261490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180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E905A7-9A28-CB19-E53E-9B5FB645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3" y="365125"/>
            <a:ext cx="8928992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5C0138-394F-AE79-D067-994015772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8119" y="1916831"/>
            <a:ext cx="3305001" cy="58824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87E370B-E394-7AF2-6917-66F00013A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8119" y="2612577"/>
            <a:ext cx="3305001" cy="357708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C0B4A0-405A-439A-55ED-882176A2D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1EFDC0-F559-49AA-8CB0-50B22261490C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690C48E4-9B69-770E-2DAC-6404B0D4D1A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60512" y="1916831"/>
            <a:ext cx="2016224" cy="4272832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EE725647-DC66-9E82-ADA4-9FF721C5764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84503" y="1916832"/>
            <a:ext cx="3305001" cy="58824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008D20C5-E0A4-E753-499D-99668CAA606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503" y="2612578"/>
            <a:ext cx="3305001" cy="357708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5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E0724F-6A2F-F621-7829-3707C01D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0C66175-281C-035B-D8EA-12A2EB3AA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CA4596-AF92-4C91-B4A3-E87F7150CDB4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73274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6B8AAAD-1F8E-4C83-A45A-CE5B666F7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F8CC65-79DD-4C7A-9B4C-1649FA69CBBD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1998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12AAC-64FA-252A-CC05-390792D8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BF7607-1637-8606-861F-3F809DE7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5E383C-F853-C812-E3F7-7EA44C5B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1F7786-F95C-8B33-3B3E-5A38A6CFF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58C91A-B310-4CA2-8B9D-8F866D284FD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5324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5956B-022A-E834-95E5-3997A9B9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281AD2-376D-D033-34D6-52E85A023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3EC5C10-E14C-E505-65EA-4786FBA37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4146E82-ED6F-B1AA-E606-271A40C7A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2E6C78-234A-4135-B3AF-88138027DAAD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1409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6439CF-05DF-19AE-57C1-FB1F451A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42A1AAE-7CF5-04C0-4CBA-41DD652DC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6D312F-DD79-A780-C00B-A3EBFFF9A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82B216-F0B3-4270-8E86-15EADD70423A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32556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BB94042-D90F-EF8C-943F-1C6BC3477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F3C55C2-A6FC-C45B-1462-3BD972324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8763C6-7A91-A821-93FA-FC3E9AFB5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D208319-D268-4E15-845A-F08C880812D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18960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078639-8E47-24C6-D143-AD5391F26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42010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6A05C3-3CC0-74DA-534E-6C811339B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E93E077-E162-01BB-4065-1B3D798FD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B16343-1855-7BF5-A619-9080CBDF8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</p:spPr>
        <p:txBody>
          <a:bodyPr/>
          <a:lstStyle>
            <a:lvl1pPr>
              <a:defRPr/>
            </a:lvl1pPr>
          </a:lstStyle>
          <a:p>
            <a:fld id="{47A850F1-70CB-4A7F-B8E2-5FCAD106B54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5946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olo, ClipArt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12B267-84C3-C050-C493-41ECB3BB5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42010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online 2">
            <a:extLst>
              <a:ext uri="{FF2B5EF4-FFF2-40B4-BE49-F238E27FC236}">
                <a16:creationId xmlns:a16="http://schemas.microsoft.com/office/drawing/2014/main" id="{D70D5976-CEE2-79D4-9946-A05956C2C001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CD4BC8E-8397-243A-BF8C-93D292E25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3A8CF2-E6F4-D8DC-063E-80E4FE616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</p:spPr>
        <p:txBody>
          <a:bodyPr/>
          <a:lstStyle>
            <a:lvl1pPr>
              <a:defRPr/>
            </a:lvl1pPr>
          </a:lstStyle>
          <a:p>
            <a:fld id="{3068B73C-9977-4F84-90B7-5DBCC4591D9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36821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AE9A3D-FECA-7AD8-2673-E0EB8EC7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420100" cy="91440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abella 2">
            <a:extLst>
              <a:ext uri="{FF2B5EF4-FFF2-40B4-BE49-F238E27FC236}">
                <a16:creationId xmlns:a16="http://schemas.microsoft.com/office/drawing/2014/main" id="{5B0F5445-DEC4-8393-317E-AAC70C29E83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5ACC72-D58C-7338-F544-ED2483159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</p:spPr>
        <p:txBody>
          <a:bodyPr/>
          <a:lstStyle>
            <a:lvl1pPr>
              <a:defRPr/>
            </a:lvl1pPr>
          </a:lstStyle>
          <a:p>
            <a:fld id="{9AEE97E8-D2F1-472C-9D05-8BFFFD9E544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9287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797145-813B-169D-D1FD-23859F1DE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420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B9A4E4-98CB-B7F7-C7B1-96A68BDD2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8B52B4-742D-BB0F-1745-A0E72A92BA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2057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sng"/>
            </a:lvl1pPr>
          </a:lstStyle>
          <a:p>
            <a:fld id="{8D4A9000-D934-4782-9388-C78D29ED3591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325593-9AAD-0C5E-4CE1-DEDE444F86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477000"/>
            <a:ext cx="2057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it-IT" altLang="it-IT"/>
              <a:t>R ott 2000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227028F-8D68-B372-524B-09B8A134BC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77000"/>
            <a:ext cx="3048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it-IT" altLang="it-IT"/>
              <a:t>G Motta  Politecnico Milano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2" r:id="rId5"/>
    <p:sldLayoutId id="2147483653" r:id="rId6"/>
    <p:sldLayoutId id="2147483664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2DAF39-E602-FC7F-1C8A-5B9348B53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3600" noProof="0" dirty="0"/>
              <a:t>Radiology Case Study</a:t>
            </a:r>
            <a:br>
              <a:rPr lang="en-US" sz="3600" noProof="0" dirty="0"/>
            </a:br>
            <a:r>
              <a:rPr lang="en-US" sz="3200" noProof="0" dirty="0"/>
              <a:t>Policlinico San Matteo, Pavia</a:t>
            </a:r>
            <a:br>
              <a:rPr lang="en-US" sz="3200" noProof="0" dirty="0"/>
            </a:br>
            <a:r>
              <a:rPr lang="en-US" sz="3200" noProof="0" dirty="0"/>
              <a:t>Testimonial: Dr. Ing. Loredana Gazzaniga</a:t>
            </a:r>
            <a:br>
              <a:rPr lang="en-US" sz="3200" noProof="0" dirty="0"/>
            </a:br>
            <a:r>
              <a:rPr lang="en-US" sz="2400" noProof="0" dirty="0"/>
              <a:t>R 251031</a:t>
            </a:r>
            <a:endParaRPr lang="en-US" sz="3600" noProof="0" dirty="0">
              <a:solidFill>
                <a:schemeClr val="tx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91298E-C36A-6A6D-52E6-46E0F2628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843186"/>
          </a:xfrm>
        </p:spPr>
        <p:txBody>
          <a:bodyPr/>
          <a:lstStyle/>
          <a:p>
            <a:r>
              <a:rPr lang="en-US" b="1" noProof="0" dirty="0"/>
              <a:t>Privacy</a:t>
            </a:r>
          </a:p>
          <a:p>
            <a:r>
              <a:rPr lang="en-US" b="1" noProof="0" dirty="0"/>
              <a:t>Security</a:t>
            </a:r>
          </a:p>
          <a:p>
            <a:r>
              <a:rPr lang="en-US" b="1" noProof="0" dirty="0"/>
              <a:t>Infrastructure </a:t>
            </a:r>
          </a:p>
          <a:p>
            <a:r>
              <a:rPr lang="en-US" b="1" noProof="0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74391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DC1A90F8-A1E5-FDB9-FB14-08FCBFF79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Privacy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C258090-C607-7AA7-BB57-B4AE209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Rules:</a:t>
            </a:r>
          </a:p>
          <a:p>
            <a:pPr lvl="1"/>
            <a:r>
              <a:rPr lang="en-US" noProof="0" dirty="0"/>
              <a:t>https://commission.europa.eu/law/law-topic/data-protection_en</a:t>
            </a:r>
          </a:p>
          <a:p>
            <a:pPr lvl="1"/>
            <a:r>
              <a:rPr lang="en-US" noProof="0" dirty="0"/>
              <a:t>https://commission.europa.eu/law/law-topic/data-protection/data-protection-explained_en</a:t>
            </a:r>
          </a:p>
          <a:p>
            <a:r>
              <a:rPr lang="en-US" noProof="0" dirty="0"/>
              <a:t>Italy implementation:</a:t>
            </a:r>
          </a:p>
          <a:p>
            <a:pPr lvl="1"/>
            <a:r>
              <a:rPr lang="en-US" noProof="0" dirty="0"/>
              <a:t>Generally, Italian Regulations are very strict on privacy especially in  the critical contexts of Healthcare and  Government</a:t>
            </a:r>
          </a:p>
          <a:p>
            <a:pPr lvl="1"/>
            <a:r>
              <a:rPr lang="en-US" noProof="0" dirty="0"/>
              <a:t>Personal profile </a:t>
            </a:r>
            <a:r>
              <a:rPr lang="en-US" dirty="0"/>
              <a:t>must not be extracted by integrating data on:</a:t>
            </a:r>
          </a:p>
          <a:p>
            <a:pPr lvl="2"/>
            <a:r>
              <a:rPr lang="en-US" noProof="0" dirty="0"/>
              <a:t>Health </a:t>
            </a:r>
          </a:p>
          <a:p>
            <a:pPr lvl="2"/>
            <a:r>
              <a:rPr lang="en-US" noProof="0" dirty="0"/>
              <a:t>Residence</a:t>
            </a:r>
          </a:p>
          <a:p>
            <a:pPr lvl="2"/>
            <a:r>
              <a:rPr lang="en-US" dirty="0"/>
              <a:t>School education</a:t>
            </a:r>
          </a:p>
          <a:p>
            <a:pPr lvl="2"/>
            <a:r>
              <a:rPr lang="en-US" noProof="0" dirty="0"/>
              <a:t>Lifestyle </a:t>
            </a:r>
          </a:p>
          <a:p>
            <a:pPr lvl="1"/>
            <a:r>
              <a:rPr lang="en-US" noProof="0" dirty="0"/>
              <a:t>Sensitive data should not move from their original authorized storage</a:t>
            </a:r>
          </a:p>
          <a:p>
            <a:pPr lvl="1"/>
            <a:r>
              <a:rPr lang="en-US" noProof="0" dirty="0"/>
              <a:t>Accordingly, EPR is only a table of contents, where referrals, discharges, vaccines are all stored in their original databases and  are accessed through a link by legitimate  users  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483A95-B341-E0EC-9585-08AD9A66C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2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E823A3E9-0BB4-5CE5-0FC5-F40E8E97186D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813649250"/>
              </p:ext>
            </p:extLst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764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7797-7403-DE4B-5865-3162A6D9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2F022AE-9CAF-E6DB-2DEB-8D20D917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Privacy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F0063E-9597-BE76-6DF4-3395AA9BE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r>
              <a:rPr lang="en-US" noProof="0" dirty="0"/>
              <a:t>Data privacy includes</a:t>
            </a:r>
          </a:p>
          <a:p>
            <a:pPr lvl="1"/>
            <a:r>
              <a:rPr lang="en-US" dirty="0"/>
              <a:t>Integrity</a:t>
            </a:r>
          </a:p>
          <a:p>
            <a:pPr lvl="1"/>
            <a:r>
              <a:rPr lang="en-US" noProof="0" dirty="0"/>
              <a:t>Availability </a:t>
            </a:r>
          </a:p>
          <a:p>
            <a:pPr lvl="1"/>
            <a:r>
              <a:rPr lang="en-US" noProof="0" dirty="0"/>
              <a:t>Privacy</a:t>
            </a:r>
          </a:p>
          <a:p>
            <a:r>
              <a:rPr lang="en-US" noProof="0" dirty="0"/>
              <a:t>Any infringement of the above parameters implies:</a:t>
            </a:r>
          </a:p>
          <a:p>
            <a:pPr lvl="1"/>
            <a:r>
              <a:rPr lang="en-US" dirty="0"/>
              <a:t>Log and notify to Privacy Authority the infringements that may occur due to a system error or wrong operation</a:t>
            </a:r>
          </a:p>
          <a:p>
            <a:pPr lvl="2"/>
            <a:r>
              <a:rPr lang="en-US" noProof="0" dirty="0"/>
              <a:t>Little: not relevant and immediately solved</a:t>
            </a:r>
          </a:p>
          <a:p>
            <a:pPr lvl="2"/>
            <a:r>
              <a:rPr lang="en-US" dirty="0"/>
              <a:t>Medium: small violation affecting several individuals</a:t>
            </a:r>
          </a:p>
          <a:p>
            <a:pPr lvl="2"/>
            <a:r>
              <a:rPr lang="en-US" dirty="0"/>
              <a:t>Large: significant privacy breach affecting many individuals </a:t>
            </a:r>
          </a:p>
          <a:p>
            <a:pPr lvl="1"/>
            <a:r>
              <a:rPr lang="en-US" dirty="0"/>
              <a:t>In the worst case: notification to the individuals  affected and publishing on the news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210529-B767-C343-D496-86252E49F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3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7632569C-F05D-A4B8-C496-4AA3F2A830D5}"/>
              </a:ext>
            </a:extLst>
          </p:cNvPr>
          <p:cNvGraphicFramePr>
            <a:graphicFrameLocks noGrp="1"/>
          </p:cNvGraphicFramePr>
          <p:nvPr>
            <p:ph idx="11"/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5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D0D1E-ACB5-9A5D-6B68-E91C9551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AC0E2B5-B5D4-0C67-FA51-D2F3EB51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Privacy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66246C-C17D-9137-172A-FA4F1A665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For the sake of privacy, data must be stored in the physical location where they were originally recorded and must not be moved around</a:t>
            </a:r>
          </a:p>
          <a:p>
            <a:r>
              <a:rPr lang="en-US" dirty="0"/>
              <a:t>E.g.: </a:t>
            </a:r>
          </a:p>
          <a:p>
            <a:pPr lvl="1"/>
            <a:r>
              <a:rPr lang="en-US" noProof="0" dirty="0"/>
              <a:t>A patient goes to the emergency of a hospital A and  makes some exams e.g., blood and glycemia</a:t>
            </a:r>
          </a:p>
          <a:p>
            <a:pPr lvl="1"/>
            <a:r>
              <a:rPr lang="en-US" dirty="0"/>
              <a:t>After that first care, the patient goes to a larger hospital B for finalizing her/his care </a:t>
            </a:r>
          </a:p>
          <a:p>
            <a:pPr lvl="1"/>
            <a:r>
              <a:rPr lang="en-US" noProof="0" dirty="0"/>
              <a:t>Only hospital A may allow the hospital B  to  receive the referrals on blood and glycemia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7ED320-94A2-79FF-9798-29A96F51F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4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452BB932-EBFC-D40B-E5B0-1E509892C32B}"/>
              </a:ext>
            </a:extLst>
          </p:cNvPr>
          <p:cNvGraphicFramePr>
            <a:graphicFrameLocks noGrp="1"/>
          </p:cNvGraphicFramePr>
          <p:nvPr>
            <p:ph idx="11"/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064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C10F-8569-96B4-9986-5DE469AF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5292E524-396E-F499-6662-94600871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Privacy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F70FF2-C601-0226-68E0-43AB1B4C1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/>
          </a:bodyPr>
          <a:lstStyle/>
          <a:p>
            <a:r>
              <a:rPr lang="en-US" noProof="0" dirty="0"/>
              <a:t>Implications on healthcare </a:t>
            </a:r>
            <a:r>
              <a:rPr lang="en-US" dirty="0"/>
              <a:t>projects</a:t>
            </a:r>
            <a:r>
              <a:rPr lang="en-US" noProof="0" dirty="0"/>
              <a:t>:</a:t>
            </a:r>
          </a:p>
          <a:p>
            <a:pPr lvl="1"/>
            <a:r>
              <a:rPr lang="en-US" dirty="0"/>
              <a:t>Rule: GDPR rule article 25: Privacy by design </a:t>
            </a:r>
          </a:p>
          <a:p>
            <a:pPr lvl="1"/>
            <a:r>
              <a:rPr lang="en-US" dirty="0"/>
              <a:t>All project documents should be checked to ensure  that only legitimate users are allowed to access patient data</a:t>
            </a:r>
          </a:p>
          <a:p>
            <a:pPr lvl="1"/>
            <a:r>
              <a:rPr lang="en-US" noProof="0" dirty="0"/>
              <a:t>Legitimate users include the  General Practitioner </a:t>
            </a:r>
            <a:r>
              <a:rPr lang="en-US" dirty="0"/>
              <a:t>(</a:t>
            </a:r>
            <a:r>
              <a:rPr lang="en-US" noProof="0" dirty="0"/>
              <a:t>who can access data of h</a:t>
            </a:r>
            <a:r>
              <a:rPr lang="en-US" dirty="0"/>
              <a:t>er/his patient only), the patient, healthcare services, only when treating the patient</a:t>
            </a:r>
            <a:endParaRPr lang="en-US" noProof="0" dirty="0"/>
          </a:p>
          <a:p>
            <a:pPr lvl="1"/>
            <a:r>
              <a:rPr lang="en-US" noProof="0" dirty="0"/>
              <a:t>The legitimate users should access patient data only by a specific secured procedure </a:t>
            </a:r>
          </a:p>
          <a:p>
            <a:pPr lvl="1"/>
            <a:r>
              <a:rPr lang="en-US" dirty="0"/>
              <a:t>Even patients can access their  own data by a secured procedure </a:t>
            </a:r>
            <a:r>
              <a:rPr lang="en-US" noProof="0" dirty="0"/>
              <a:t>such as SPID  https://www.spid.gov.it/en/</a:t>
            </a:r>
          </a:p>
          <a:p>
            <a:pPr lvl="1"/>
            <a:r>
              <a:rPr lang="en-US" noProof="0" dirty="0"/>
              <a:t>Only selected functions can access sensitive data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1F53C9-2095-FD4D-1ED6-E194D1F85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5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3EE9D88A-B210-CA89-0FE9-E3E9CB0347E0}"/>
              </a:ext>
            </a:extLst>
          </p:cNvPr>
          <p:cNvGraphicFramePr>
            <a:graphicFrameLocks noGrp="1"/>
          </p:cNvGraphicFramePr>
          <p:nvPr>
            <p:ph idx="11"/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C130-224A-0FE1-2425-F11CD5A4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377A33FE-938D-4254-9904-525024F4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304800"/>
            <a:ext cx="8602538" cy="914400"/>
          </a:xfrm>
        </p:spPr>
        <p:txBody>
          <a:bodyPr/>
          <a:lstStyle/>
          <a:p>
            <a:r>
              <a:rPr lang="en-US" noProof="0" dirty="0"/>
              <a:t>Security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7B715E0-50FB-B140-C278-860B7C57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768" y="1524000"/>
            <a:ext cx="6298282" cy="4572000"/>
          </a:xfrm>
        </p:spPr>
        <p:txBody>
          <a:bodyPr anchor="ctr">
            <a:normAutofit fontScale="85000" lnSpcReduction="10000"/>
          </a:bodyPr>
          <a:lstStyle/>
          <a:p>
            <a:r>
              <a:rPr lang="en-US" noProof="0" dirty="0"/>
              <a:t>Scope:</a:t>
            </a:r>
            <a:r>
              <a:rPr lang="en-US" dirty="0"/>
              <a:t> to ensure data integrity and block illegitimate access </a:t>
            </a:r>
          </a:p>
          <a:p>
            <a:pPr lvl="1"/>
            <a:r>
              <a:rPr lang="en-US" noProof="0" dirty="0"/>
              <a:t>Rule: NIS2 </a:t>
            </a:r>
            <a:r>
              <a:rPr lang="en-US" dirty="0"/>
              <a:t>(Network and Information Security Directive 2) https://digital-strategy.ec.europa.eu/en/policies/nis2-directive</a:t>
            </a:r>
            <a:endParaRPr lang="en-US" noProof="0" dirty="0"/>
          </a:p>
          <a:p>
            <a:pPr lvl="1"/>
            <a:r>
              <a:rPr lang="en-US" noProof="0" dirty="0"/>
              <a:t>In fact, security is cross-related with privacy requirements </a:t>
            </a:r>
          </a:p>
          <a:p>
            <a:pPr lvl="1"/>
            <a:r>
              <a:rPr lang="en-US" dirty="0"/>
              <a:t>Implications on projects: check data integrity by solving data overlaps, ambiguity and uncontrolled redundancy </a:t>
            </a:r>
          </a:p>
          <a:p>
            <a:r>
              <a:rPr lang="en-US" dirty="0"/>
              <a:t>Continuity / Downgrading</a:t>
            </a:r>
          </a:p>
          <a:p>
            <a:pPr lvl="1"/>
            <a:r>
              <a:rPr lang="en-US" noProof="0" dirty="0"/>
              <a:t>In case of computer service denial, the healthcare service chain, from General Practitioners down to labs and hospitals, can rely on paper documents e.g.:</a:t>
            </a:r>
          </a:p>
          <a:p>
            <a:pPr lvl="2"/>
            <a:r>
              <a:rPr lang="en-US" dirty="0"/>
              <a:t>Paper prescriptions by GPs</a:t>
            </a:r>
          </a:p>
          <a:p>
            <a:pPr lvl="2"/>
            <a:r>
              <a:rPr lang="en-US" noProof="0" dirty="0"/>
              <a:t>Paper visit referrals by labs</a:t>
            </a:r>
          </a:p>
          <a:p>
            <a:pPr lvl="2"/>
            <a:r>
              <a:rPr lang="en-US" dirty="0"/>
              <a:t>Paper labels for lab exams</a:t>
            </a:r>
          </a:p>
          <a:p>
            <a:pPr lvl="2"/>
            <a:r>
              <a:rPr lang="en-US" noProof="0" dirty="0"/>
              <a:t>Etc.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BA55D-959B-8FA0-BBF0-C94E23DF8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</p:spPr>
        <p:txBody>
          <a:bodyPr/>
          <a:lstStyle/>
          <a:p>
            <a:fld id="{7DB83394-9455-4ECC-A675-D017B6BA2125}" type="slidenum">
              <a:rPr lang="en-US" noProof="0" smtClean="0"/>
              <a:pPr/>
              <a:t>6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880CF365-8337-4FB8-DED8-956C3A9B9057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644879838"/>
              </p:ext>
            </p:extLst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51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91DC-7757-89A8-8F41-BF528220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5BDAA3B-89F5-5D5F-8688-74A87386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Infrastructure history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0F8FC35-E96E-4A51-9D2E-2C3313BC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Infrastructure grew bottom-up with each hospital and lab using its own software for check-in, labs, and hospital operations.</a:t>
            </a:r>
          </a:p>
          <a:p>
            <a:r>
              <a:rPr lang="en-US" dirty="0"/>
              <a:t>Labs and hospitals have their own database with reservations (CUP), referrals, radiographies, exams, medical records, discharges.  </a:t>
            </a:r>
          </a:p>
          <a:p>
            <a:r>
              <a:rPr lang="en-US" dirty="0"/>
              <a:t>The regional database store EPR and other overall information such as GP master data, exemptions, service master data, etc. </a:t>
            </a:r>
            <a:endParaRPr lang="en-US" noProof="0" dirty="0"/>
          </a:p>
          <a:p>
            <a:r>
              <a:rPr lang="en-US" dirty="0"/>
              <a:t>The regional database can be accessed by every service point - hospital, General Practitioner, clinic, lab, pharmacies  </a:t>
            </a:r>
          </a:p>
          <a:p>
            <a:r>
              <a:rPr lang="en-US" noProof="0" dirty="0"/>
              <a:t>This </a:t>
            </a:r>
            <a:r>
              <a:rPr lang="en-US" dirty="0"/>
              <a:t>access relies on Extranet (as explained in the Radiology Case Background)</a:t>
            </a:r>
            <a:endParaRPr lang="en-US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5A8EB51-C745-202C-5B52-CCE7A12EF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7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C9AA7F4E-7E36-8A04-1785-84C9C15F3EF4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211840737"/>
              </p:ext>
            </p:extLst>
          </p:nvPr>
        </p:nvGraphicFramePr>
        <p:xfrm>
          <a:off x="560388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02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9896-0F1F-284E-7208-3C7B09E3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10ABEEE-B347-4068-6E65-3AEB2850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Infrastructure</a:t>
            </a:r>
            <a:r>
              <a:rPr lang="en-US" dirty="0"/>
              <a:t>:</a:t>
            </a:r>
            <a:r>
              <a:rPr lang="en-US" noProof="0" dirty="0"/>
              <a:t> project by Lombardy Region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BEADB454-B816-5FF0-D963-3E5F9304C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As-is	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A1418505-2B47-0EA0-E2C0-2F0F1E0B81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Each hospital check-in is connected  to its own labs.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Each hospital may have its own coding of services that can include multiple levels.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7A2F74-6059-504C-2DD1-52B52B036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CA83D8E6-2282-E521-F617-14DC07B9243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pPr algn="ctr"/>
            <a:r>
              <a:rPr lang="en-US" dirty="0"/>
              <a:t>To-be</a:t>
            </a:r>
          </a:p>
        </p:txBody>
      </p:sp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6EBA5822-56CB-E183-A4A9-8F0C399F912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anchor="ctr"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Check-in software is  centralized, and labs are connected to check-in through a  shared middleware.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Code of services is  unified. </a:t>
            </a:r>
          </a:p>
          <a:p>
            <a:endParaRPr lang="en-US" dirty="0"/>
          </a:p>
        </p:txBody>
      </p:sp>
      <p:graphicFrame>
        <p:nvGraphicFramePr>
          <p:cNvPr id="13" name="Segnaposto contenuto 7">
            <a:extLst>
              <a:ext uri="{FF2B5EF4-FFF2-40B4-BE49-F238E27FC236}">
                <a16:creationId xmlns:a16="http://schemas.microsoft.com/office/drawing/2014/main" id="{0BF644C6-3696-903A-4473-B32133AD8AED}"/>
              </a:ext>
            </a:extLst>
          </p:cNvPr>
          <p:cNvGraphicFramePr>
            <a:graphicFrameLocks noGrp="1"/>
          </p:cNvGraphicFramePr>
          <p:nvPr>
            <p:ph idx="11"/>
          </p:nvPr>
        </p:nvGraphicFramePr>
        <p:xfrm>
          <a:off x="560388" y="1916113"/>
          <a:ext cx="2016125" cy="427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458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2A23-08CE-9704-0397-F2BD274B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BFD3A6F-4249-898A-38F5-D57886D0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Infrastructure: model as-is /to-be</a:t>
            </a:r>
          </a:p>
        </p:txBody>
      </p:sp>
      <p:pic>
        <p:nvPicPr>
          <p:cNvPr id="3" name="Segnaposto contenuto 2" descr="Immagine che contiene testo, calligrafia, inchiostro, disegno&#10;&#10;Il contenuto generato dall'IA potrebbe non essere corretto.">
            <a:extLst>
              <a:ext uri="{FF2B5EF4-FFF2-40B4-BE49-F238E27FC236}">
                <a16:creationId xmlns:a16="http://schemas.microsoft.com/office/drawing/2014/main" id="{71EEC271-F048-8D8B-2B46-CDFA697EA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320" y="1655986"/>
            <a:ext cx="7619208" cy="4285804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443C81-90A3-EE8C-8966-9B1821631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9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ACA083A6-CBBD-2F67-4529-2B07C57910C4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635629771"/>
              </p:ext>
            </p:extLst>
          </p:nvPr>
        </p:nvGraphicFramePr>
        <p:xfrm>
          <a:off x="200472" y="1512888"/>
          <a:ext cx="201612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031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6241-BD66-A6F4-C297-B63122C1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BC6BC82-D392-6772-CE00-B11F4DC7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Check-in cases: recall</a:t>
            </a:r>
            <a:br>
              <a:rPr lang="en-US" dirty="0"/>
            </a:br>
            <a:endParaRPr lang="en-US" noProof="0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BAC4D0A-8C3C-BCFA-FE06-D2C1284C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sz="2800" dirty="0"/>
              <a:t>Emergency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D74C01-0020-D133-A481-671263962E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85000" lnSpcReduction="10000"/>
          </a:bodyPr>
          <a:lstStyle/>
          <a:p>
            <a:r>
              <a:rPr lang="en-US" dirty="0"/>
              <a:t>Emergency code: Black, Red, Yellow, Green</a:t>
            </a:r>
          </a:p>
          <a:p>
            <a:r>
              <a:rPr lang="en-US" dirty="0"/>
              <a:t>Patient identification cases</a:t>
            </a:r>
          </a:p>
          <a:p>
            <a:pPr lvl="1"/>
            <a:r>
              <a:rPr lang="en-US" dirty="0"/>
              <a:t>Patient with Health card</a:t>
            </a:r>
          </a:p>
          <a:p>
            <a:pPr lvl="1"/>
            <a:r>
              <a:rPr lang="en-US" dirty="0"/>
              <a:t>Patient without Health Card </a:t>
            </a:r>
          </a:p>
          <a:p>
            <a:pPr lvl="1"/>
            <a:r>
              <a:rPr lang="en-US" dirty="0"/>
              <a:t>Patient without ID</a:t>
            </a:r>
          </a:p>
          <a:p>
            <a:pPr lvl="1"/>
            <a:r>
              <a:rPr lang="en-US" dirty="0"/>
              <a:t>Foreign patient with or without ID</a:t>
            </a:r>
          </a:p>
          <a:p>
            <a:r>
              <a:rPr lang="en-US" noProof="0" dirty="0"/>
              <a:t>Exam management functions</a:t>
            </a:r>
          </a:p>
          <a:p>
            <a:r>
              <a:rPr lang="en-US" dirty="0"/>
              <a:t>Follow-up functions</a:t>
            </a:r>
            <a:r>
              <a:rPr lang="en-US" noProof="0" dirty="0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267AFE-2C82-40B6-F5C3-31049ECF4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83394-9455-4ECC-A675-D017B6BA2125}" type="slidenum">
              <a:rPr lang="en-US" noProof="0" smtClean="0"/>
              <a:pPr/>
              <a:t>10</a:t>
            </a:fld>
            <a:endParaRPr lang="en-US" noProof="0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27DA3F70-7B8C-88BC-BA52-0C0A783F3295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765658460"/>
              </p:ext>
            </p:extLst>
          </p:nvPr>
        </p:nvGraphicFramePr>
        <p:xfrm>
          <a:off x="560388" y="1916113"/>
          <a:ext cx="2016125" cy="427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43C582-3BFD-6305-9FE5-024C454F253B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>
            <a:normAutofit fontScale="92500"/>
          </a:bodyPr>
          <a:lstStyle/>
          <a:p>
            <a:pPr algn="ctr"/>
            <a:r>
              <a:rPr lang="en-US" sz="3200" dirty="0"/>
              <a:t>Standard check-in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AFE2501-FB8D-0038-1617-4E89B236F1E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anchor="ctr">
            <a:normAutofit fontScale="92500"/>
          </a:bodyPr>
          <a:lstStyle/>
          <a:p>
            <a:r>
              <a:rPr lang="en-US" sz="1400" dirty="0"/>
              <a:t>Patient identification </a:t>
            </a:r>
          </a:p>
          <a:p>
            <a:pPr lvl="1"/>
            <a:r>
              <a:rPr lang="en-US" sz="1200" dirty="0"/>
              <a:t>The document for registering  is prescription, which is identified  by a unique number </a:t>
            </a:r>
          </a:p>
          <a:p>
            <a:pPr lvl="1"/>
            <a:r>
              <a:rPr lang="en-US" sz="1200" dirty="0"/>
              <a:t>Prescription, on paper or digital. specifies exams, visits, operations of the patients</a:t>
            </a:r>
          </a:p>
          <a:p>
            <a:pPr lvl="1"/>
            <a:r>
              <a:rPr lang="en-US" sz="1200" dirty="0"/>
              <a:t>Health card or ID is  complementary identification</a:t>
            </a:r>
          </a:p>
          <a:p>
            <a:pPr lvl="1"/>
            <a:r>
              <a:rPr lang="en-US" sz="1200" dirty="0"/>
              <a:t>Patient data are downloaded  from the regional database </a:t>
            </a:r>
          </a:p>
          <a:p>
            <a:r>
              <a:rPr lang="en-US" sz="1400" noProof="0" dirty="0"/>
              <a:t>Exam management</a:t>
            </a:r>
          </a:p>
          <a:p>
            <a:pPr lvl="1"/>
            <a:r>
              <a:rPr lang="en-US" sz="1200" dirty="0"/>
              <a:t>Based on the registration, the  </a:t>
            </a:r>
            <a:r>
              <a:rPr lang="en-US" sz="1200" dirty="0" err="1"/>
              <a:t>the</a:t>
            </a:r>
            <a:r>
              <a:rPr lang="en-US" sz="1200" dirty="0"/>
              <a:t>  series of services  (exams, visits, operations) the patient should receive</a:t>
            </a:r>
          </a:p>
          <a:p>
            <a:pPr lvl="1"/>
            <a:r>
              <a:rPr lang="en-US" sz="1200" dirty="0"/>
              <a:t>Date management: the  system can  group dates of checks for the sake of the patient</a:t>
            </a:r>
          </a:p>
          <a:p>
            <a:pPr lvl="1"/>
            <a:r>
              <a:rPr lang="en-US" sz="1200" noProof="0" dirty="0"/>
              <a:t>Exam grouping</a:t>
            </a:r>
          </a:p>
          <a:p>
            <a:r>
              <a:rPr lang="en-US" sz="1400" dirty="0"/>
              <a:t>Follow-up</a:t>
            </a:r>
            <a:r>
              <a:rPr lang="en-US" sz="1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559174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46298680</TotalTime>
  <Words>859</Words>
  <Application>Microsoft Office PowerPoint</Application>
  <PresentationFormat>A4 (21x29,7 cm)</PresentationFormat>
  <Paragraphs>134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Blank Presentation</vt:lpstr>
      <vt:lpstr>Radiology Case Study Policlinico San Matteo, Pavia Testimonial: Dr. Ing. Loredana Gazzaniga R 251031</vt:lpstr>
      <vt:lpstr>Privacy</vt:lpstr>
      <vt:lpstr>Privacy</vt:lpstr>
      <vt:lpstr>Privacy</vt:lpstr>
      <vt:lpstr>Privacy</vt:lpstr>
      <vt:lpstr>Security</vt:lpstr>
      <vt:lpstr>Infrastructure history</vt:lpstr>
      <vt:lpstr>Infrastructure: project by Lombardy Region</vt:lpstr>
      <vt:lpstr>Infrastructure: model as-is /to-be</vt:lpstr>
      <vt:lpstr>Check-in cases: recall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378</cp:revision>
  <cp:lastPrinted>1999-09-25T10:12:07Z</cp:lastPrinted>
  <dcterms:created xsi:type="dcterms:W3CDTF">1998-09-05T08:17:15Z</dcterms:created>
  <dcterms:modified xsi:type="dcterms:W3CDTF">2025-10-31T15:10:09Z</dcterms:modified>
</cp:coreProperties>
</file>