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1048" r:id="rId2"/>
    <p:sldId id="262" r:id="rId3"/>
    <p:sldId id="1046" r:id="rId4"/>
    <p:sldId id="1053" r:id="rId5"/>
    <p:sldId id="1052" r:id="rId6"/>
    <p:sldId id="1047" r:id="rId7"/>
    <p:sldId id="1054" r:id="rId8"/>
    <p:sldId id="1050" r:id="rId9"/>
    <p:sldId id="1049" r:id="rId10"/>
    <p:sldId id="1028" r:id="rId11"/>
    <p:sldId id="1036" r:id="rId12"/>
    <p:sldId id="1051" r:id="rId13"/>
    <p:sldId id="1055" r:id="rId14"/>
    <p:sldId id="1056" r:id="rId15"/>
    <p:sldId id="1057" r:id="rId16"/>
    <p:sldId id="1059" r:id="rId17"/>
    <p:sldId id="1058" r:id="rId18"/>
    <p:sldId id="1060" r:id="rId19"/>
    <p:sldId id="1061" r:id="rId20"/>
  </p:sldIdLst>
  <p:sldSz cx="9906000" cy="6858000" type="A4"/>
  <p:notesSz cx="6858000" cy="9945688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predefinita" id="{B1281252-3800-4C44-8CAB-3FF46C1ACFEE}">
          <p14:sldIdLst>
            <p14:sldId id="1048"/>
            <p14:sldId id="262"/>
            <p14:sldId id="1046"/>
            <p14:sldId id="1053"/>
            <p14:sldId id="1052"/>
            <p14:sldId id="1047"/>
            <p14:sldId id="1054"/>
            <p14:sldId id="1050"/>
            <p14:sldId id="1049"/>
            <p14:sldId id="1028"/>
            <p14:sldId id="1036"/>
            <p14:sldId id="1051"/>
          </p14:sldIdLst>
        </p14:section>
        <p14:section name="Sezione senza titolo" id="{B1019EDB-6B44-489D-8310-3D1794596EAF}">
          <p14:sldIdLst>
            <p14:sldId id="1055"/>
            <p14:sldId id="1056"/>
            <p14:sldId id="1057"/>
            <p14:sldId id="1059"/>
            <p14:sldId id="1058"/>
            <p14:sldId id="1060"/>
            <p14:sldId id="10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ianmario motta" initials="gm" lastIdx="3" clrIdx="0">
    <p:extLst>
      <p:ext uri="{19B8F6BF-5375-455C-9EA6-DF929625EA0E}">
        <p15:presenceInfo xmlns:p15="http://schemas.microsoft.com/office/powerpoint/2012/main" userId="00b19a31de7b238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FF9900"/>
    <a:srgbClr val="000000"/>
    <a:srgbClr val="7030A0"/>
    <a:srgbClr val="CC0000"/>
    <a:srgbClr val="CC3300"/>
    <a:srgbClr val="FF6600"/>
    <a:srgbClr val="003366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ABFCF23-3B69-468F-B69F-88F6DE6A72F2}" styleName="Stile medio 1 - Color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54" autoAdjust="0"/>
    <p:restoredTop sz="95278" autoAdjust="0"/>
  </p:normalViewPr>
  <p:slideViewPr>
    <p:cSldViewPr>
      <p:cViewPr varScale="1">
        <p:scale>
          <a:sx n="97" d="100"/>
          <a:sy n="97" d="100"/>
        </p:scale>
        <p:origin x="1326" y="30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-976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49" d="100"/>
          <a:sy n="49" d="100"/>
        </p:scale>
        <p:origin x="-1890" y="-102"/>
      </p:cViewPr>
      <p:guideLst>
        <p:guide orient="horz" pos="3132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3741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46125" y="752475"/>
            <a:ext cx="5367338" cy="3716338"/>
          </a:xfrm>
          <a:prstGeom prst="rect">
            <a:avLst/>
          </a:prstGeom>
          <a:noFill/>
          <a:ln w="12699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722813"/>
            <a:ext cx="5030787" cy="447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913" tIns="44659" rIns="90913" bIns="4465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noProof="0"/>
              <a:t>Click to edit Master text styles</a:t>
            </a:r>
          </a:p>
          <a:p>
            <a:pPr lvl="1"/>
            <a:r>
              <a:rPr lang="it-IT" altLang="it-IT" noProof="0"/>
              <a:t>Second level</a:t>
            </a:r>
          </a:p>
          <a:p>
            <a:pPr lvl="2"/>
            <a:r>
              <a:rPr lang="it-IT" altLang="it-IT" noProof="0"/>
              <a:t>Third level</a:t>
            </a:r>
          </a:p>
          <a:p>
            <a:pPr lvl="3"/>
            <a:r>
              <a:rPr lang="it-IT" altLang="it-IT" noProof="0"/>
              <a:t>Fourth level</a:t>
            </a:r>
          </a:p>
          <a:p>
            <a:pPr lvl="4"/>
            <a:r>
              <a:rPr lang="it-IT" altLang="it-IT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09973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670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BDFCB-C5F8-E62D-B3C5-CFCF405E3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BFC4B8-EED9-B8B3-A92B-FD08E55E5C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E4D7EE-5AA0-3ABB-33A2-EED5D6F1F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6166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26881-1EC6-E3E3-EC03-D89431B94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45FC1A-3CB2-8CC4-35A5-38D382EE6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E07436-F298-C9E7-6B7C-00CFE7029D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9846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FBD0A-5012-050E-162F-9FA6F9E89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470594-BDC4-D1E7-F99A-789BB82A1A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153F34-B301-7379-CEB8-551935AEEF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0398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C0C80-1DB6-AA60-9A25-0CE1B5AC8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E15447-F1F1-47A4-56B7-1B95676ECF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54045B-E85E-4B58-B8D1-ACD8990B74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9605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25781-375A-E107-5515-EFE4D8511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92B564-6A37-8E4C-8660-C8FA8ADCBF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5F2092-E63F-000D-A339-AE96E1CE4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689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B2AC5-A4AF-A924-DEFC-1A4D4ACF8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716138-7007-B059-FC9E-BF80674527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8464C8-B422-592A-AA97-989E4153B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3841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B4DF27C9-014C-08A6-2F8A-9DB08BC105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753D61F-CBCE-4DCF-9FAE-E8BED3CD0978}" type="slidenum">
              <a:rPr lang="en-US" altLang="it-IT" i="0"/>
              <a:pPr/>
              <a:t>10</a:t>
            </a:fld>
            <a:endParaRPr lang="en-US" altLang="it-IT" i="0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AEB1270D-EE9D-F617-52DA-022C1DE887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00400" y="533400"/>
            <a:ext cx="3843338" cy="2660650"/>
          </a:xfrm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1C842742-A57D-162D-2486-285BA86757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65250" y="3371850"/>
            <a:ext cx="7504113" cy="31940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27CC221C-F9D6-C2DF-1440-676B34E955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4B124D6-E371-4769-9DF7-ABD20F9A6A3E}" type="slidenum">
              <a:rPr lang="en-US" altLang="it-IT" i="0"/>
              <a:pPr/>
              <a:t>11</a:t>
            </a:fld>
            <a:endParaRPr lang="en-US" altLang="it-IT" i="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846EB639-96BD-086D-EA91-5C54557180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00400" y="533400"/>
            <a:ext cx="3843338" cy="2660650"/>
          </a:xfrm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900B91A8-1B9D-7684-FD37-F070F9494B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65250" y="3371850"/>
            <a:ext cx="7504113" cy="31940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it-IT" altLang="it-IT"/>
              <a:t>Punteggio finale = f (allineamento(interno, esterno); rischio)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0B801-FCAA-32BE-BC9C-01C0B7D22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C93A29-BF7F-493F-D4CA-48AE52FD5F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55ABE6-B0D3-4FAD-81C6-DF8914AB5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1835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E0425-D03B-7417-6A4B-804B0E738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2C14B7-8BE5-C0F6-8234-31F8145D56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D203C2-72DB-A305-2465-0F8B62DA2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0019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67E4E-8640-6E85-16A9-626858A78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5EC9BA-ED54-CB77-46B4-407F7906D6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F9DE8C-C49C-8971-7F84-C9FE6D383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7918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531DF-571E-4E43-F471-54F406164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482465-AFEB-7E13-7980-0C38055CC3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FD4AF-5057-B515-7FC1-7C45D07134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7961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1178C-A706-12CA-0D47-8612D3835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137484-A132-D3C8-2823-25CB972E1F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8176F2-6964-473A-02B8-875B46533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0086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B8059-96AF-3200-50D7-B39C0FFA2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C045DC-E16F-DB0D-B222-8D92C036A3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D02992-78F8-1C1E-4B02-3B0C72150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787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59A14-765A-4BE6-197C-70D754F87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D8B4B9-6FD6-DDC2-5A7D-2FF6ADF9C2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B2779E-8CBE-0A9F-49B5-2E9EF46EB6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8107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F98E3-AEF6-9435-03B4-0BF1280E1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BD9834-5705-9222-9FB9-E9511A8D6F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9C2776-48EF-9F52-E12E-DC4BB9E87C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26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7"/>
          <p:cNvGraphicFramePr>
            <a:graphicFrameLocks noChangeAspect="1"/>
          </p:cNvGraphicFramePr>
          <p:nvPr userDrawn="1"/>
        </p:nvGraphicFramePr>
        <p:xfrm>
          <a:off x="8915400" y="333375"/>
          <a:ext cx="93503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ia di Photo Editor" r:id="rId2" imgW="5028571" imgH="4866667" progId="MSPhotoEd.3">
                  <p:embed/>
                </p:oleObj>
              </mc:Choice>
              <mc:Fallback>
                <p:oleObj name="Fotografia di Photo Editor" r:id="rId2" imgW="5028571" imgH="4866667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0" y="333375"/>
                        <a:ext cx="935038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699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>
            <a:lvl1pPr>
              <a:defRPr>
                <a:solidFill>
                  <a:srgbClr val="0033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003366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60298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7"/>
          <p:cNvGraphicFramePr>
            <a:graphicFrameLocks noChangeAspect="1"/>
          </p:cNvGraphicFramePr>
          <p:nvPr userDrawn="1"/>
        </p:nvGraphicFramePr>
        <p:xfrm>
          <a:off x="8915400" y="333375"/>
          <a:ext cx="93503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ia di Photo Editor" r:id="rId2" imgW="5028571" imgH="4866667" progId="MSPhotoEd.3">
                  <p:embed/>
                </p:oleObj>
              </mc:Choice>
              <mc:Fallback>
                <p:oleObj name="Fotografia di Photo Editor" r:id="rId2" imgW="5028571" imgH="4866667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0" y="333375"/>
                        <a:ext cx="935038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699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33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3366"/>
                </a:solidFill>
              </a:defRPr>
            </a:lvl1pPr>
            <a:lvl2pPr>
              <a:defRPr>
                <a:solidFill>
                  <a:srgbClr val="003366"/>
                </a:solidFill>
              </a:defRPr>
            </a:lvl2pPr>
            <a:lvl3pPr>
              <a:defRPr>
                <a:solidFill>
                  <a:srgbClr val="003366"/>
                </a:solidFill>
              </a:defRPr>
            </a:lvl3pPr>
            <a:lvl4pPr>
              <a:defRPr>
                <a:solidFill>
                  <a:srgbClr val="003366"/>
                </a:solidFill>
              </a:defRPr>
            </a:lvl4pPr>
            <a:lvl5pPr>
              <a:defRPr>
                <a:solidFill>
                  <a:srgbClr val="0033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709993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7"/>
          <p:cNvGraphicFramePr>
            <a:graphicFrameLocks noChangeAspect="1"/>
          </p:cNvGraphicFramePr>
          <p:nvPr userDrawn="1"/>
        </p:nvGraphicFramePr>
        <p:xfrm>
          <a:off x="8915400" y="333375"/>
          <a:ext cx="93503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ia di Photo Editor" r:id="rId2" imgW="5028571" imgH="4866667" progId="MSPhotoEd.3">
                  <p:embed/>
                </p:oleObj>
              </mc:Choice>
              <mc:Fallback>
                <p:oleObj name="Fotografia di Photo Editor" r:id="rId2" imgW="5028571" imgH="4866667" progId="MSPhotoEd.3">
                  <p:embed/>
                  <p:pic>
                    <p:nvPicPr>
                      <p:cNvPr id="4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0" y="333375"/>
                        <a:ext cx="935038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699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33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742950" y="1524000"/>
            <a:ext cx="8420100" cy="4572000"/>
          </a:xfrm>
        </p:spPr>
        <p:txBody>
          <a:bodyPr/>
          <a:lstStyle>
            <a:lvl1pPr>
              <a:defRPr>
                <a:solidFill>
                  <a:srgbClr val="003366"/>
                </a:solidFill>
              </a:defRPr>
            </a:lvl1pPr>
            <a:lvl2pPr>
              <a:defRPr>
                <a:solidFill>
                  <a:srgbClr val="003366"/>
                </a:solidFill>
              </a:defRPr>
            </a:lvl2pPr>
            <a:lvl3pPr>
              <a:defRPr>
                <a:solidFill>
                  <a:srgbClr val="003366"/>
                </a:solidFill>
              </a:defRPr>
            </a:lvl3pPr>
            <a:lvl4pPr>
              <a:defRPr>
                <a:solidFill>
                  <a:srgbClr val="003366"/>
                </a:solidFill>
              </a:defRPr>
            </a:lvl4pPr>
            <a:lvl5pPr>
              <a:defRPr>
                <a:solidFill>
                  <a:srgbClr val="0033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69208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792760" y="1524000"/>
            <a:ext cx="6121053" cy="4572000"/>
          </a:xfrm>
        </p:spPr>
        <p:txBody>
          <a:bodyPr/>
          <a:lstStyle>
            <a:lvl1pPr>
              <a:defRPr>
                <a:solidFill>
                  <a:srgbClr val="003366"/>
                </a:solidFill>
              </a:defRPr>
            </a:lvl1pPr>
            <a:lvl2pPr>
              <a:defRPr>
                <a:solidFill>
                  <a:srgbClr val="003366"/>
                </a:solidFill>
              </a:defRPr>
            </a:lvl2pPr>
            <a:lvl3pPr>
              <a:defRPr>
                <a:solidFill>
                  <a:srgbClr val="003366"/>
                </a:solidFill>
              </a:defRPr>
            </a:lvl3pPr>
            <a:lvl4pPr>
              <a:defRPr>
                <a:solidFill>
                  <a:srgbClr val="003366"/>
                </a:solidFill>
              </a:defRPr>
            </a:lvl4pPr>
            <a:lvl5pPr>
              <a:defRPr>
                <a:solidFill>
                  <a:srgbClr val="0033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836249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162800" y="6324600"/>
            <a:ext cx="2057400" cy="533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15EA67-AD77-413F-9935-ABA9CC97110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776288" y="6381750"/>
            <a:ext cx="6192837" cy="3603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it-IT"/>
              <a:t>2009-10-Gianmario Motta</a:t>
            </a:r>
          </a:p>
        </p:txBody>
      </p:sp>
    </p:spTree>
    <p:extLst>
      <p:ext uri="{BB962C8B-B14F-4D97-AF65-F5344CB8AC3E}">
        <p14:creationId xmlns:p14="http://schemas.microsoft.com/office/powerpoint/2010/main" val="1098660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742950" y="1524000"/>
            <a:ext cx="4133850" cy="4572000"/>
          </a:xfrm>
        </p:spPr>
        <p:txBody>
          <a:bodyPr/>
          <a:lstStyle>
            <a:lvl1pPr>
              <a:defRPr sz="2800">
                <a:solidFill>
                  <a:srgbClr val="000066"/>
                </a:solidFill>
              </a:defRPr>
            </a:lvl1pPr>
            <a:lvl2pPr>
              <a:defRPr sz="2400">
                <a:solidFill>
                  <a:srgbClr val="000066"/>
                </a:solidFill>
              </a:defRPr>
            </a:lvl2pPr>
            <a:lvl3pPr>
              <a:defRPr sz="2000">
                <a:solidFill>
                  <a:srgbClr val="000066"/>
                </a:solidFill>
              </a:defRPr>
            </a:lvl3pPr>
            <a:lvl4pPr>
              <a:defRPr sz="1800">
                <a:solidFill>
                  <a:srgbClr val="000066"/>
                </a:solidFill>
              </a:defRPr>
            </a:lvl4pPr>
            <a:lvl5pPr>
              <a:defRPr sz="1800">
                <a:solidFill>
                  <a:srgbClr val="000066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029200" y="1524000"/>
            <a:ext cx="4133850" cy="4572000"/>
          </a:xfrm>
        </p:spPr>
        <p:txBody>
          <a:bodyPr/>
          <a:lstStyle>
            <a:lvl1pPr>
              <a:defRPr sz="2800">
                <a:solidFill>
                  <a:srgbClr val="000066"/>
                </a:solidFill>
              </a:defRPr>
            </a:lvl1pPr>
            <a:lvl2pPr>
              <a:defRPr sz="2400">
                <a:solidFill>
                  <a:srgbClr val="000066"/>
                </a:solidFill>
              </a:defRPr>
            </a:lvl2pPr>
            <a:lvl3pPr>
              <a:defRPr sz="2000">
                <a:solidFill>
                  <a:srgbClr val="000066"/>
                </a:solidFill>
              </a:defRPr>
            </a:lvl3pPr>
            <a:lvl4pPr>
              <a:defRPr sz="1800">
                <a:solidFill>
                  <a:srgbClr val="000066"/>
                </a:solidFill>
              </a:defRPr>
            </a:lvl4pPr>
            <a:lvl5pPr>
              <a:defRPr sz="1800">
                <a:solidFill>
                  <a:srgbClr val="000066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550428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1967086" y="1524000"/>
            <a:ext cx="3417962" cy="4572000"/>
          </a:xfrm>
        </p:spPr>
        <p:txBody>
          <a:bodyPr/>
          <a:lstStyle>
            <a:lvl1pPr>
              <a:defRPr sz="2800">
                <a:solidFill>
                  <a:srgbClr val="000066"/>
                </a:solidFill>
              </a:defRPr>
            </a:lvl1pPr>
            <a:lvl2pPr>
              <a:defRPr sz="2400">
                <a:solidFill>
                  <a:srgbClr val="000066"/>
                </a:solidFill>
              </a:defRPr>
            </a:lvl2pPr>
            <a:lvl3pPr>
              <a:defRPr sz="2000">
                <a:solidFill>
                  <a:srgbClr val="000066"/>
                </a:solidFill>
              </a:defRPr>
            </a:lvl3pPr>
            <a:lvl4pPr>
              <a:defRPr sz="1800">
                <a:solidFill>
                  <a:srgbClr val="000066"/>
                </a:solidFill>
              </a:defRPr>
            </a:lvl4pPr>
            <a:lvl5pPr>
              <a:defRPr sz="1800">
                <a:solidFill>
                  <a:srgbClr val="000066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495478" y="1524000"/>
            <a:ext cx="3417962" cy="4572000"/>
          </a:xfrm>
        </p:spPr>
        <p:txBody>
          <a:bodyPr/>
          <a:lstStyle>
            <a:lvl1pPr>
              <a:defRPr sz="2800">
                <a:solidFill>
                  <a:srgbClr val="000066"/>
                </a:solidFill>
              </a:defRPr>
            </a:lvl1pPr>
            <a:lvl2pPr>
              <a:defRPr sz="2400">
                <a:solidFill>
                  <a:srgbClr val="000066"/>
                </a:solidFill>
              </a:defRPr>
            </a:lvl2pPr>
            <a:lvl3pPr>
              <a:defRPr sz="2000">
                <a:solidFill>
                  <a:srgbClr val="000066"/>
                </a:solidFill>
              </a:defRPr>
            </a:lvl3pPr>
            <a:lvl4pPr>
              <a:defRPr sz="1800">
                <a:solidFill>
                  <a:srgbClr val="000066"/>
                </a:solidFill>
              </a:defRPr>
            </a:lvl4pPr>
            <a:lvl5pPr>
              <a:defRPr sz="1800">
                <a:solidFill>
                  <a:srgbClr val="000066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431467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006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>
                <a:solidFill>
                  <a:srgbClr val="000066"/>
                </a:solidFill>
              </a:defRPr>
            </a:lvl1pPr>
            <a:lvl2pPr>
              <a:defRPr sz="2000">
                <a:solidFill>
                  <a:srgbClr val="000066"/>
                </a:solidFill>
              </a:defRPr>
            </a:lvl2pPr>
            <a:lvl3pPr>
              <a:defRPr sz="1800">
                <a:solidFill>
                  <a:srgbClr val="000066"/>
                </a:solidFill>
              </a:defRPr>
            </a:lvl3pPr>
            <a:lvl4pPr>
              <a:defRPr sz="1600">
                <a:solidFill>
                  <a:srgbClr val="000066"/>
                </a:solidFill>
              </a:defRPr>
            </a:lvl4pPr>
            <a:lvl5pPr>
              <a:defRPr sz="1600">
                <a:solidFill>
                  <a:srgbClr val="000066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006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>
                <a:solidFill>
                  <a:srgbClr val="000066"/>
                </a:solidFill>
              </a:defRPr>
            </a:lvl1pPr>
            <a:lvl2pPr>
              <a:defRPr sz="2000">
                <a:solidFill>
                  <a:srgbClr val="000066"/>
                </a:solidFill>
              </a:defRPr>
            </a:lvl2pPr>
            <a:lvl3pPr>
              <a:defRPr sz="1800">
                <a:solidFill>
                  <a:srgbClr val="000066"/>
                </a:solidFill>
              </a:defRPr>
            </a:lvl3pPr>
            <a:lvl4pPr>
              <a:defRPr sz="1600">
                <a:solidFill>
                  <a:srgbClr val="000066"/>
                </a:solidFill>
              </a:defRPr>
            </a:lvl4pPr>
            <a:lvl5pPr>
              <a:defRPr sz="1600">
                <a:solidFill>
                  <a:srgbClr val="000066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901996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2361496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736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>
                <a:solidFill>
                  <a:srgbClr val="000066"/>
                </a:solidFill>
              </a:defRPr>
            </a:lvl1pPr>
            <a:lvl2pPr>
              <a:defRPr sz="2800">
                <a:solidFill>
                  <a:srgbClr val="000066"/>
                </a:solidFill>
              </a:defRPr>
            </a:lvl2pPr>
            <a:lvl3pPr>
              <a:defRPr sz="2400">
                <a:solidFill>
                  <a:srgbClr val="000066"/>
                </a:solidFill>
              </a:defRPr>
            </a:lvl3pPr>
            <a:lvl4pPr>
              <a:defRPr sz="2000">
                <a:solidFill>
                  <a:srgbClr val="000066"/>
                </a:solidFill>
              </a:defRPr>
            </a:lvl4pPr>
            <a:lvl5pPr>
              <a:defRPr sz="2000">
                <a:solidFill>
                  <a:srgbClr val="000066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>
                <a:solidFill>
                  <a:srgbClr val="00006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027007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162800" y="6324600"/>
            <a:ext cx="2057400" cy="533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7FB9F0-C7E1-4EB3-ABFA-DF281AB3227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776288" y="6381750"/>
            <a:ext cx="6192837" cy="3603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it-IT"/>
              <a:t>2009-10-Gianmario Motta</a:t>
            </a:r>
          </a:p>
        </p:txBody>
      </p:sp>
    </p:spTree>
    <p:extLst>
      <p:ext uri="{BB962C8B-B14F-4D97-AF65-F5344CB8AC3E}">
        <p14:creationId xmlns:p14="http://schemas.microsoft.com/office/powerpoint/2010/main" val="1791642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162800" y="6324600"/>
            <a:ext cx="2057400" cy="533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504C78-4664-4215-8D7B-DEEDB8940D13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776288" y="6381750"/>
            <a:ext cx="6192837" cy="3603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it-IT"/>
              <a:t>2009-10-Gianmario Motta</a:t>
            </a:r>
          </a:p>
        </p:txBody>
      </p:sp>
    </p:spTree>
    <p:extLst>
      <p:ext uri="{BB962C8B-B14F-4D97-AF65-F5344CB8AC3E}">
        <p14:creationId xmlns:p14="http://schemas.microsoft.com/office/powerpoint/2010/main" val="13085150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7058025" y="304800"/>
            <a:ext cx="2105025" cy="57912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742950" y="304800"/>
            <a:ext cx="6162675" cy="57912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162800" y="6324600"/>
            <a:ext cx="2057400" cy="533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7E56F8-79AE-47A4-8A20-D6B7E8F9F0D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776288" y="6381750"/>
            <a:ext cx="6192837" cy="3603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it-IT"/>
              <a:t>2009-10-Gianmario Motta</a:t>
            </a:r>
          </a:p>
        </p:txBody>
      </p:sp>
    </p:spTree>
    <p:extLst>
      <p:ext uri="{BB962C8B-B14F-4D97-AF65-F5344CB8AC3E}">
        <p14:creationId xmlns:p14="http://schemas.microsoft.com/office/powerpoint/2010/main" val="12786412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olo e 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abella 2"/>
          <p:cNvSpPr>
            <a:spLocks noGrp="1"/>
          </p:cNvSpPr>
          <p:nvPr>
            <p:ph type="tbl" idx="1"/>
          </p:nvPr>
        </p:nvSpPr>
        <p:spPr>
          <a:xfrm>
            <a:off x="742950" y="1524000"/>
            <a:ext cx="842010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pPr lvl="0"/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5286321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olo e contenuto sopra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2360712" y="1524000"/>
            <a:ext cx="6802338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60712" y="3886200"/>
            <a:ext cx="6802338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5243688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2_Titolo e contenuto sopra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742950" y="1524000"/>
            <a:ext cx="842010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742950" y="3886200"/>
            <a:ext cx="842010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9385284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1_Titolo e contenuto sopra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2119494" y="4437112"/>
            <a:ext cx="6802338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119494" y="1884175"/>
            <a:ext cx="6802338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3175947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olo e contenuto sopra tes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1856656" y="1524000"/>
            <a:ext cx="360040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5673080" y="1524000"/>
            <a:ext cx="348997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half" idx="3"/>
          </p:nvPr>
        </p:nvSpPr>
        <p:spPr>
          <a:xfrm>
            <a:off x="1838054" y="3886200"/>
            <a:ext cx="7324995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9443435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2_Titolo e contenuto sopra tes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742951" y="1524000"/>
            <a:ext cx="4066033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5025008" y="1524000"/>
            <a:ext cx="4138042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half" idx="3"/>
          </p:nvPr>
        </p:nvSpPr>
        <p:spPr>
          <a:xfrm>
            <a:off x="742950" y="3886200"/>
            <a:ext cx="8420099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7465388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1_Titolo e contenuto sopra tes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1856656" y="1524000"/>
            <a:ext cx="360040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5673080" y="1524000"/>
            <a:ext cx="348997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half" idx="3"/>
          </p:nvPr>
        </p:nvSpPr>
        <p:spPr>
          <a:xfrm>
            <a:off x="5673080" y="3886200"/>
            <a:ext cx="3489969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contenuto 2"/>
          <p:cNvSpPr>
            <a:spLocks noGrp="1"/>
          </p:cNvSpPr>
          <p:nvPr>
            <p:ph sz="quarter" idx="10"/>
          </p:nvPr>
        </p:nvSpPr>
        <p:spPr>
          <a:xfrm>
            <a:off x="1866054" y="3886200"/>
            <a:ext cx="360040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41768212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olo, contenuto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742950" y="1524000"/>
            <a:ext cx="413385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5029200" y="1524000"/>
            <a:ext cx="413385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4370698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742950" y="1524000"/>
            <a:ext cx="413385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029200" y="1524000"/>
            <a:ext cx="413385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2176886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olo, contenuto 2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1856656" y="1524000"/>
            <a:ext cx="3384376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1856656" y="3886200"/>
            <a:ext cx="3384376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half" idx="3"/>
          </p:nvPr>
        </p:nvSpPr>
        <p:spPr>
          <a:xfrm>
            <a:off x="5385048" y="1524000"/>
            <a:ext cx="3778002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9029352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2_Titolo, contenuto 2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742950" y="1340768"/>
            <a:ext cx="3384376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742950" y="3779371"/>
            <a:ext cx="3384376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half" idx="3"/>
          </p:nvPr>
        </p:nvSpPr>
        <p:spPr>
          <a:xfrm>
            <a:off x="4304928" y="1340767"/>
            <a:ext cx="4858122" cy="4648403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41127611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1_Titolo, contenuto 2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1640632" y="1524000"/>
            <a:ext cx="7522418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1640632" y="3886200"/>
            <a:ext cx="3236168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half" idx="3"/>
          </p:nvPr>
        </p:nvSpPr>
        <p:spPr>
          <a:xfrm>
            <a:off x="5029200" y="3886200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0274269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77241-BE22-429D-8AAB-DC2A4A569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304800"/>
            <a:ext cx="7450138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6FBCA-7B4A-4C50-8C61-5F82FDFBF79B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742950" y="1524000"/>
            <a:ext cx="413385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22F30E88-5A73-47F4-BB18-CADCE7BE7E2F}"/>
              </a:ext>
            </a:extLst>
          </p:cNvPr>
          <p:cNvSpPr>
            <a:spLocks noGrp="1"/>
          </p:cNvSpPr>
          <p:nvPr>
            <p:ph type="clipArt" sz="half" idx="2"/>
          </p:nvPr>
        </p:nvSpPr>
        <p:spPr>
          <a:xfrm>
            <a:off x="5029200" y="1524000"/>
            <a:ext cx="4133850" cy="4572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AF98BA-5B37-411D-8353-576864B545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62800" y="6324600"/>
            <a:ext cx="2057400" cy="533400"/>
          </a:xfrm>
        </p:spPr>
        <p:txBody>
          <a:bodyPr/>
          <a:lstStyle>
            <a:lvl1pPr>
              <a:defRPr/>
            </a:lvl1pPr>
          </a:lstStyle>
          <a:p>
            <a:fld id="{A75344CB-9430-488B-A074-B914BF5AD8DB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746754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42950" y="304800"/>
            <a:ext cx="8170863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000672" y="1524000"/>
            <a:ext cx="7162378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Click to edit Master text styles</a:t>
            </a:r>
          </a:p>
          <a:p>
            <a:pPr lvl="1"/>
            <a:r>
              <a:rPr lang="it-IT" altLang="it-IT"/>
              <a:t>Second level</a:t>
            </a:r>
          </a:p>
          <a:p>
            <a:pPr lvl="2"/>
            <a:r>
              <a:rPr lang="it-IT" altLang="it-IT"/>
              <a:t>Third level</a:t>
            </a:r>
          </a:p>
          <a:p>
            <a:pPr lvl="3"/>
            <a:r>
              <a:rPr lang="it-IT" altLang="it-IT"/>
              <a:t>Fourth level</a:t>
            </a:r>
          </a:p>
          <a:p>
            <a:pPr lvl="4"/>
            <a:r>
              <a:rPr lang="it-IT" altLang="it-IT"/>
              <a:t>Fifth level</a:t>
            </a:r>
          </a:p>
        </p:txBody>
      </p:sp>
      <p:graphicFrame>
        <p:nvGraphicFramePr>
          <p:cNvPr id="7174" name="Object 17"/>
          <p:cNvGraphicFramePr>
            <a:graphicFrameLocks noChangeAspect="1"/>
          </p:cNvGraphicFramePr>
          <p:nvPr userDrawn="1"/>
        </p:nvGraphicFramePr>
        <p:xfrm>
          <a:off x="8915400" y="333375"/>
          <a:ext cx="93503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ia di Photo Editor" r:id="rId29" imgW="5028571" imgH="4866667" progId="MSPhotoEd.3">
                  <p:embed/>
                </p:oleObj>
              </mc:Choice>
              <mc:Fallback>
                <p:oleObj name="Fotografia di Photo Editor" r:id="rId29" imgW="5028571" imgH="4866667" progId="MSPhotoEd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0" y="333375"/>
                        <a:ext cx="935038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699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10" r:id="rId3"/>
    <p:sldLayoutId id="2147483704" r:id="rId4"/>
    <p:sldLayoutId id="2147483687" r:id="rId5"/>
    <p:sldLayoutId id="2147483688" r:id="rId6"/>
    <p:sldLayoutId id="2147483705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713" r:id="rId17"/>
    <p:sldLayoutId id="2147483706" r:id="rId18"/>
    <p:sldLayoutId id="2147483698" r:id="rId19"/>
    <p:sldLayoutId id="2147483712" r:id="rId20"/>
    <p:sldLayoutId id="2147483707" r:id="rId21"/>
    <p:sldLayoutId id="2147483699" r:id="rId22"/>
    <p:sldLayoutId id="2147483700" r:id="rId23"/>
    <p:sldLayoutId id="2147483701" r:id="rId24"/>
    <p:sldLayoutId id="2147483714" r:id="rId25"/>
    <p:sldLayoutId id="2147483708" r:id="rId26"/>
    <p:sldLayoutId id="2147483709" r:id="rId27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>
          <a:solidFill>
            <a:srgbClr val="000066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rgbClr val="000066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>
          <a:solidFill>
            <a:srgbClr val="000066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1600">
          <a:solidFill>
            <a:srgbClr val="000066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>
          <a:solidFill>
            <a:srgbClr val="000066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>
          <a:solidFill>
            <a:schemeClr val="accent2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>
          <a:solidFill>
            <a:schemeClr val="accent2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>
          <a:solidFill>
            <a:schemeClr val="accent2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>
          <a:solidFill>
            <a:schemeClr val="accent2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87BD2-1EAC-A071-C292-D199B0BFB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A869A22-2C27-E961-F9D9-9D1FE3B4FCA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pPr lvl="0"/>
            <a:r>
              <a:rPr lang="en-US" sz="4400" b="1" i="1" noProof="0" dirty="0"/>
              <a:t>IT MANAGEMENT PROCESSES</a:t>
            </a:r>
            <a:br>
              <a:rPr lang="en-US" sz="4400" b="1" i="1" noProof="0" dirty="0"/>
            </a:br>
            <a:r>
              <a:rPr lang="en-US" sz="2400" b="1" i="1" noProof="0" dirty="0"/>
              <a:t>R 250918</a:t>
            </a:r>
            <a:endParaRPr lang="en-US" sz="4400" b="1" i="1" noProof="0" dirty="0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EB94974-F0E8-7280-5F31-A062291E4A9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solidFill>
            <a:schemeClr val="bg1"/>
          </a:solidFill>
        </p:spPr>
        <p:txBody>
          <a:bodyPr anchor="ctr">
            <a:normAutofit fontScale="70000" lnSpcReduction="20000"/>
          </a:bodyPr>
          <a:lstStyle/>
          <a:p>
            <a:pPr lvl="0"/>
            <a:r>
              <a:rPr lang="en-US" sz="2400" i="1" noProof="0" dirty="0"/>
              <a:t>Architecture Planning</a:t>
            </a:r>
          </a:p>
          <a:p>
            <a:pPr lvl="0"/>
            <a:r>
              <a:rPr lang="en-US" i="1" noProof="0" dirty="0"/>
              <a:t>Portfolio Management </a:t>
            </a:r>
          </a:p>
          <a:p>
            <a:pPr lvl="0"/>
            <a:r>
              <a:rPr lang="en-US" sz="2400" i="1" noProof="0" dirty="0"/>
              <a:t>Resources Planning </a:t>
            </a:r>
          </a:p>
          <a:p>
            <a:pPr lvl="0"/>
            <a:r>
              <a:rPr lang="en-US" i="1" noProof="0" dirty="0"/>
              <a:t>Project Management</a:t>
            </a:r>
          </a:p>
          <a:p>
            <a:pPr lvl="0"/>
            <a:r>
              <a:rPr lang="en-US" i="1" noProof="0" dirty="0"/>
              <a:t>Operations Planning</a:t>
            </a:r>
          </a:p>
          <a:p>
            <a:pPr lvl="0"/>
            <a:r>
              <a:rPr lang="en-US" i="1" noProof="0" dirty="0"/>
              <a:t>Demand  Management </a:t>
            </a:r>
          </a:p>
        </p:txBody>
      </p:sp>
    </p:spTree>
    <p:extLst>
      <p:ext uri="{BB962C8B-B14F-4D97-AF65-F5344CB8AC3E}">
        <p14:creationId xmlns:p14="http://schemas.microsoft.com/office/powerpoint/2010/main" val="3574184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50DAA488-061F-E88E-990B-D3490AFEAC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2950" y="304800"/>
            <a:ext cx="8170863" cy="1095886"/>
          </a:xfrm>
          <a:noFill/>
          <a:ln/>
        </p:spPr>
        <p:txBody>
          <a:bodyPr>
            <a:noAutofit/>
          </a:bodyPr>
          <a:lstStyle/>
          <a:p>
            <a:r>
              <a:rPr lang="en-US" sz="1800" noProof="0" dirty="0">
                <a:latin typeface="Helvetica" panose="020B0604020202020204" pitchFamily="34" charset="0"/>
              </a:rPr>
              <a:t>FOREWORD</a:t>
            </a:r>
            <a:r>
              <a:rPr lang="en-US" sz="2000" noProof="0" dirty="0">
                <a:latin typeface="Helvetica" panose="020B0604020202020204" pitchFamily="34" charset="0"/>
              </a:rPr>
              <a:t>: IT FOR COMPETITIVE ADVANTAGE </a:t>
            </a:r>
            <a:br>
              <a:rPr lang="en-US" sz="2000" noProof="0" dirty="0">
                <a:latin typeface="Helvetica" panose="020B0604020202020204" pitchFamily="34" charset="0"/>
              </a:rPr>
            </a:br>
            <a:r>
              <a:rPr lang="en-US" sz="2000" dirty="0"/>
              <a:t>From: Porter &amp; Millar </a:t>
            </a:r>
            <a:br>
              <a:rPr lang="en-US" sz="2000" dirty="0"/>
            </a:br>
            <a:r>
              <a:rPr lang="en-US" sz="2000" dirty="0"/>
              <a:t>“How  Information  gives  you competitive advantage” (1985)</a:t>
            </a:r>
            <a:endParaRPr lang="en-US" sz="2000" noProof="0" dirty="0">
              <a:latin typeface="Helvetica" panose="020B0604020202020204" pitchFamily="34" charset="0"/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03EE2115-D4AC-0A8A-E91E-41EB935EC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795" y="6109360"/>
            <a:ext cx="465730" cy="5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noProof="0" dirty="0">
                <a:latin typeface="Helvetica" panose="020B0604020202020204" pitchFamily="34" charset="0"/>
              </a:rPr>
              <a:t>L</a:t>
            </a:r>
          </a:p>
        </p:txBody>
      </p:sp>
      <p:grpSp>
        <p:nvGrpSpPr>
          <p:cNvPr id="12296" name="Group 8">
            <a:extLst>
              <a:ext uri="{FF2B5EF4-FFF2-40B4-BE49-F238E27FC236}">
                <a16:creationId xmlns:a16="http://schemas.microsoft.com/office/drawing/2014/main" id="{7524E471-6A8D-30E4-6B87-F2541FC2FBFB}"/>
              </a:ext>
            </a:extLst>
          </p:cNvPr>
          <p:cNvGrpSpPr>
            <a:grpSpLocks/>
          </p:cNvGrpSpPr>
          <p:nvPr/>
        </p:nvGrpSpPr>
        <p:grpSpPr bwMode="auto">
          <a:xfrm>
            <a:off x="5093050" y="2059554"/>
            <a:ext cx="4540470" cy="3911159"/>
            <a:chOff x="1989" y="1248"/>
            <a:chExt cx="2087" cy="1749"/>
          </a:xfrm>
        </p:grpSpPr>
        <p:sp>
          <p:nvSpPr>
            <p:cNvPr id="12292" name="Rectangle 4">
              <a:extLst>
                <a:ext uri="{FF2B5EF4-FFF2-40B4-BE49-F238E27FC236}">
                  <a16:creationId xmlns:a16="http://schemas.microsoft.com/office/drawing/2014/main" id="{BA6454FE-6A5E-8357-9CA7-CD7C6ADD90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9" y="1248"/>
              <a:ext cx="1022" cy="85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 anchor="ctr"/>
            <a:lstStyle/>
            <a:p>
              <a:pPr algn="ctr"/>
              <a:r>
                <a:rPr lang="en-US" sz="1600" i="1" noProof="0" dirty="0">
                  <a:latin typeface="Helvetica" panose="020B0604020202020204" pitchFamily="34" charset="0"/>
                </a:rPr>
                <a:t>Retail</a:t>
              </a:r>
            </a:p>
            <a:p>
              <a:pPr algn="ctr"/>
              <a:r>
                <a:rPr lang="en-US" sz="1600" i="1" dirty="0">
                  <a:latin typeface="Helvetica" panose="020B0604020202020204" pitchFamily="34" charset="0"/>
                </a:rPr>
                <a:t>Automative</a:t>
              </a:r>
            </a:p>
            <a:p>
              <a:pPr algn="ctr"/>
              <a:r>
                <a:rPr lang="en-US" sz="1600" i="1" noProof="0" dirty="0">
                  <a:latin typeface="Helvetica" panose="020B0604020202020204" pitchFamily="34" charset="0"/>
                </a:rPr>
                <a:t>Aerospace</a:t>
              </a:r>
            </a:p>
          </p:txBody>
        </p:sp>
        <p:sp>
          <p:nvSpPr>
            <p:cNvPr id="12293" name="Rectangle 5">
              <a:extLst>
                <a:ext uri="{FF2B5EF4-FFF2-40B4-BE49-F238E27FC236}">
                  <a16:creationId xmlns:a16="http://schemas.microsoft.com/office/drawing/2014/main" id="{9916FD63-B06B-BD87-3247-75371ED3B9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5" y="1248"/>
              <a:ext cx="1021" cy="85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 anchor="ctr"/>
            <a:lstStyle/>
            <a:p>
              <a:pPr algn="ctr"/>
              <a:r>
                <a:rPr lang="en-US" sz="1600" i="1" noProof="0" dirty="0">
                  <a:solidFill>
                    <a:schemeClr val="bg1"/>
                  </a:solidFill>
                  <a:latin typeface="Helvetica" panose="020B0604020202020204" pitchFamily="34" charset="0"/>
                </a:rPr>
                <a:t>Banking</a:t>
              </a:r>
            </a:p>
            <a:p>
              <a:pPr algn="ctr"/>
              <a:r>
                <a:rPr lang="en-US" sz="1600" i="1" noProof="0" dirty="0">
                  <a:solidFill>
                    <a:schemeClr val="bg1"/>
                  </a:solidFill>
                  <a:latin typeface="Helvetica" panose="020B0604020202020204" pitchFamily="34" charset="0"/>
                </a:rPr>
                <a:t>Online education</a:t>
              </a:r>
            </a:p>
            <a:p>
              <a:pPr algn="ctr"/>
              <a:r>
                <a:rPr lang="en-US" sz="1600" i="1" dirty="0">
                  <a:solidFill>
                    <a:schemeClr val="bg1"/>
                  </a:solidFill>
                  <a:latin typeface="Helvetica" panose="020B0604020202020204" pitchFamily="34" charset="0"/>
                </a:rPr>
                <a:t>Telecom</a:t>
              </a:r>
            </a:p>
            <a:p>
              <a:pPr algn="ctr"/>
              <a:r>
                <a:rPr lang="en-US" sz="1600" i="1" noProof="0" dirty="0">
                  <a:solidFill>
                    <a:schemeClr val="bg1"/>
                  </a:solidFill>
                  <a:latin typeface="Helvetica" panose="020B0604020202020204" pitchFamily="34" charset="0"/>
                </a:rPr>
                <a:t>News</a:t>
              </a:r>
            </a:p>
            <a:p>
              <a:pPr algn="ctr"/>
              <a:r>
                <a:rPr lang="en-US" sz="1600" i="1" dirty="0">
                  <a:solidFill>
                    <a:schemeClr val="bg1"/>
                  </a:solidFill>
                  <a:latin typeface="Helvetica" panose="020B0604020202020204" pitchFamily="34" charset="0"/>
                </a:rPr>
                <a:t>Entertainment </a:t>
              </a:r>
              <a:endParaRPr lang="en-US" sz="1600" i="1" noProof="0" dirty="0">
                <a:solidFill>
                  <a:schemeClr val="bg1"/>
                </a:solidFill>
                <a:latin typeface="Helvetica" panose="020B0604020202020204" pitchFamily="34" charset="0"/>
              </a:endParaRPr>
            </a:p>
          </p:txBody>
        </p:sp>
        <p:sp>
          <p:nvSpPr>
            <p:cNvPr id="12294" name="Rectangle 6">
              <a:extLst>
                <a:ext uri="{FF2B5EF4-FFF2-40B4-BE49-F238E27FC236}">
                  <a16:creationId xmlns:a16="http://schemas.microsoft.com/office/drawing/2014/main" id="{6EDA41E1-66B6-8A82-9BDD-B0EC906B67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9" y="2144"/>
              <a:ext cx="1022" cy="8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 anchor="ctr"/>
            <a:lstStyle/>
            <a:p>
              <a:pPr algn="ctr"/>
              <a:r>
                <a:rPr lang="en-US" sz="1600" i="1" noProof="0" dirty="0">
                  <a:latin typeface="Helvetica" panose="020B0604020202020204" pitchFamily="34" charset="0"/>
                </a:rPr>
                <a:t>Tobacco</a:t>
              </a:r>
            </a:p>
            <a:p>
              <a:pPr algn="ctr"/>
              <a:r>
                <a:rPr lang="en-US" sz="1600" i="1" dirty="0">
                  <a:latin typeface="Helvetica" panose="020B0604020202020204" pitchFamily="34" charset="0"/>
                </a:rPr>
                <a:t>Mining</a:t>
              </a:r>
              <a:endParaRPr lang="en-US" sz="1600" i="1" noProof="0" dirty="0">
                <a:latin typeface="Helvetica" panose="020B0604020202020204" pitchFamily="34" charset="0"/>
              </a:endParaRPr>
            </a:p>
          </p:txBody>
        </p:sp>
        <p:sp>
          <p:nvSpPr>
            <p:cNvPr id="12295" name="Rectangle 7">
              <a:extLst>
                <a:ext uri="{FF2B5EF4-FFF2-40B4-BE49-F238E27FC236}">
                  <a16:creationId xmlns:a16="http://schemas.microsoft.com/office/drawing/2014/main" id="{72CD4F9E-61B1-ADBB-B786-22252FF79D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5" y="2144"/>
              <a:ext cx="1021" cy="85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 </a:t>
              </a:r>
              <a:r>
                <a:rPr lang="en-US" sz="1600" i="1" dirty="0">
                  <a:latin typeface="Helvetica" panose="020B0604020202020204" pitchFamily="34" charset="0"/>
                </a:rPr>
                <a:t>Iron &amp; Steel</a:t>
              </a:r>
            </a:p>
            <a:p>
              <a:pPr algn="ctr"/>
              <a:r>
                <a:rPr lang="en-US" sz="1600" i="1" dirty="0">
                  <a:latin typeface="Helvetica" panose="020B0604020202020204" pitchFamily="34" charset="0"/>
                </a:rPr>
                <a:t>Chemicals</a:t>
              </a:r>
            </a:p>
          </p:txBody>
        </p:sp>
      </p:grpSp>
      <p:sp>
        <p:nvSpPr>
          <p:cNvPr id="12297" name="Rectangle 9">
            <a:extLst>
              <a:ext uri="{FF2B5EF4-FFF2-40B4-BE49-F238E27FC236}">
                <a16:creationId xmlns:a16="http://schemas.microsoft.com/office/drawing/2014/main" id="{CC3763B8-6B90-29BB-F272-5B54B9489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8252" y="3283520"/>
            <a:ext cx="1264748" cy="1474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7" tIns="44450" rIns="90487" bIns="44450">
            <a:spAutoFit/>
          </a:bodyPr>
          <a:lstStyle/>
          <a:p>
            <a:r>
              <a:rPr lang="en-US" sz="1800" noProof="0" dirty="0">
                <a:latin typeface="Helvetica" panose="020B0604020202020204" pitchFamily="34" charset="0"/>
              </a:rPr>
              <a:t>Information intensity of the process</a:t>
            </a:r>
          </a:p>
        </p:txBody>
      </p:sp>
      <p:sp>
        <p:nvSpPr>
          <p:cNvPr id="12298" name="Rectangle 10">
            <a:extLst>
              <a:ext uri="{FF2B5EF4-FFF2-40B4-BE49-F238E27FC236}">
                <a16:creationId xmlns:a16="http://schemas.microsoft.com/office/drawing/2014/main" id="{D872AB7B-79A3-4177-E2AE-AC19C8421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3050" y="1543238"/>
            <a:ext cx="4540470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7" tIns="44450" rIns="90487" bIns="44450">
            <a:spAutoFit/>
          </a:bodyPr>
          <a:lstStyle/>
          <a:p>
            <a:pPr algn="ctr"/>
            <a:r>
              <a:rPr lang="en-US" sz="1800" noProof="0" dirty="0">
                <a:latin typeface="Helvetica" panose="020B0604020202020204" pitchFamily="34" charset="0"/>
              </a:rPr>
              <a:t>Information content of the product </a:t>
            </a:r>
          </a:p>
        </p:txBody>
      </p:sp>
      <p:sp>
        <p:nvSpPr>
          <p:cNvPr id="12299" name="Rectangle 11">
            <a:extLst>
              <a:ext uri="{FF2B5EF4-FFF2-40B4-BE49-F238E27FC236}">
                <a16:creationId xmlns:a16="http://schemas.microsoft.com/office/drawing/2014/main" id="{83C1A856-E8DC-C9DB-FDB5-8D27AF025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0030" y="2779620"/>
            <a:ext cx="465578" cy="487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1600" noProof="0" dirty="0">
                <a:latin typeface="Helvetica" panose="020B0604020202020204" pitchFamily="34" charset="0"/>
              </a:rPr>
              <a:t>H</a:t>
            </a:r>
          </a:p>
        </p:txBody>
      </p:sp>
      <p:sp>
        <p:nvSpPr>
          <p:cNvPr id="12300" name="Rectangle 12">
            <a:extLst>
              <a:ext uri="{FF2B5EF4-FFF2-40B4-BE49-F238E27FC236}">
                <a16:creationId xmlns:a16="http://schemas.microsoft.com/office/drawing/2014/main" id="{9802ED07-45E7-7113-3F82-F8AC0B38D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6975" y="4888381"/>
            <a:ext cx="419891" cy="487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1600" noProof="0" dirty="0">
                <a:latin typeface="Helvetica" panose="020B0604020202020204" pitchFamily="34" charset="0"/>
              </a:rPr>
              <a:t>L</a:t>
            </a:r>
          </a:p>
        </p:txBody>
      </p:sp>
      <p:sp>
        <p:nvSpPr>
          <p:cNvPr id="12301" name="Rectangle 13">
            <a:extLst>
              <a:ext uri="{FF2B5EF4-FFF2-40B4-BE49-F238E27FC236}">
                <a16:creationId xmlns:a16="http://schemas.microsoft.com/office/drawing/2014/main" id="{ECF992F0-A6E6-8EF2-DDD8-FDC779611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6834" y="6131722"/>
            <a:ext cx="465578" cy="487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1600" noProof="0" dirty="0">
                <a:latin typeface="Helvetica" panose="020B0604020202020204" pitchFamily="34" charset="0"/>
              </a:rPr>
              <a:t>H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60FF3C9-01E3-F473-CBC0-725F9FAE670C}"/>
              </a:ext>
            </a:extLst>
          </p:cNvPr>
          <p:cNvSpPr txBox="1"/>
          <p:nvPr/>
        </p:nvSpPr>
        <p:spPr>
          <a:xfrm>
            <a:off x="486221" y="1758934"/>
            <a:ext cx="2952328" cy="48936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IT management reflects the business role of 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With a high information intensity in product </a:t>
            </a:r>
            <a:r>
              <a:rPr lang="en-US" sz="2400" b="0"/>
              <a:t>and process, </a:t>
            </a:r>
            <a:r>
              <a:rPr lang="en-US" sz="2400" b="0" dirty="0"/>
              <a:t>IT is a competitive advantage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In that case IT planning largely coincides with business planning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1AC3FE11-ABAF-4AEA-A830-3113FA074361}"/>
              </a:ext>
            </a:extLst>
          </p:cNvPr>
          <p:cNvSpPr/>
          <p:nvPr/>
        </p:nvSpPr>
        <p:spPr bwMode="auto">
          <a:xfrm>
            <a:off x="633216" y="1245890"/>
            <a:ext cx="3381592" cy="2622883"/>
          </a:xfrm>
          <a:prstGeom prst="rect">
            <a:avLst/>
          </a:prstGeom>
          <a:noFill/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0" dirty="0">
                <a:solidFill>
                  <a:schemeClr val="accent2">
                    <a:lumMod val="50000"/>
                  </a:schemeClr>
                </a:solidFill>
              </a:rPr>
              <a:t>Architecture Planning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accent2">
                    <a:lumMod val="50000"/>
                  </a:schemeClr>
                </a:solidFill>
              </a:rPr>
              <a:t>IT MANAGEMENT: OVERVIEW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511DA9-DEA6-4FF1-A8DE-D58EBC6B3CAF}"/>
              </a:ext>
            </a:extLst>
          </p:cNvPr>
          <p:cNvSpPr/>
          <p:nvPr/>
        </p:nvSpPr>
        <p:spPr bwMode="auto">
          <a:xfrm>
            <a:off x="1875386" y="2561050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50" noProof="0" dirty="0">
                <a:solidFill>
                  <a:schemeClr val="accent2">
                    <a:lumMod val="50000"/>
                  </a:schemeClr>
                </a:solidFill>
              </a:rPr>
              <a:t>Digital  Architecture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B36F2F-4048-4692-9E0E-1311CCBB1A2D}"/>
              </a:ext>
            </a:extLst>
          </p:cNvPr>
          <p:cNvSpPr/>
          <p:nvPr/>
        </p:nvSpPr>
        <p:spPr bwMode="auto">
          <a:xfrm>
            <a:off x="2963890" y="2557196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50" noProof="0" dirty="0">
                <a:solidFill>
                  <a:schemeClr val="accent2">
                    <a:lumMod val="50000"/>
                  </a:schemeClr>
                </a:solidFill>
              </a:rPr>
              <a:t>Initiative Proposals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44EAFE-3917-4CB9-AD62-A1D8618B8D35}"/>
              </a:ext>
            </a:extLst>
          </p:cNvPr>
          <p:cNvSpPr/>
          <p:nvPr/>
        </p:nvSpPr>
        <p:spPr bwMode="auto">
          <a:xfrm>
            <a:off x="4780052" y="2482452"/>
            <a:ext cx="1057731" cy="772531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noProof="0" dirty="0">
                <a:solidFill>
                  <a:schemeClr val="accent2">
                    <a:lumMod val="50000"/>
                  </a:schemeClr>
                </a:solidFill>
              </a:rPr>
              <a:t>Portfolio Management and Project Launch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7DB772-FE8D-4101-9B09-80B8C55986A2}"/>
              </a:ext>
            </a:extLst>
          </p:cNvPr>
          <p:cNvSpPr/>
          <p:nvPr/>
        </p:nvSpPr>
        <p:spPr bwMode="auto">
          <a:xfrm>
            <a:off x="6332376" y="2552328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noProof="0" dirty="0">
                <a:solidFill>
                  <a:schemeClr val="accent2">
                    <a:lumMod val="50000"/>
                  </a:schemeClr>
                </a:solidFill>
              </a:rPr>
              <a:t>Human Resources Planning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C4CCB7-F701-49CE-ABAE-E25CCBC2B69E}"/>
              </a:ext>
            </a:extLst>
          </p:cNvPr>
          <p:cNvSpPr/>
          <p:nvPr/>
        </p:nvSpPr>
        <p:spPr bwMode="auto">
          <a:xfrm>
            <a:off x="7446100" y="2547460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noProof="0" dirty="0" err="1">
                <a:solidFill>
                  <a:schemeClr val="accent2">
                    <a:lumMod val="50000"/>
                  </a:schemeClr>
                </a:solidFill>
              </a:rPr>
              <a:t>Infrastr</a:t>
            </a:r>
            <a:r>
              <a:rPr lang="en-US" sz="1200" noProof="0" dirty="0">
                <a:solidFill>
                  <a:schemeClr val="accent2">
                    <a:lumMod val="50000"/>
                  </a:schemeClr>
                </a:solidFill>
              </a:rPr>
              <a:t>. Resources Planning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55EC4F-36CC-49F6-A4FE-D3E43C2D9E00}"/>
              </a:ext>
            </a:extLst>
          </p:cNvPr>
          <p:cNvSpPr/>
          <p:nvPr/>
        </p:nvSpPr>
        <p:spPr bwMode="auto">
          <a:xfrm>
            <a:off x="8508438" y="2547460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noProof="0" dirty="0">
                <a:solidFill>
                  <a:schemeClr val="accent2">
                    <a:lumMod val="50000"/>
                  </a:schemeClr>
                </a:solidFill>
              </a:rPr>
              <a:t>Financial </a:t>
            </a:r>
            <a:r>
              <a:rPr lang="en-US" sz="1200" noProof="0" dirty="0" err="1">
                <a:solidFill>
                  <a:schemeClr val="accent2">
                    <a:lumMod val="50000"/>
                  </a:schemeClr>
                </a:solidFill>
              </a:rPr>
              <a:t>Palanning</a:t>
            </a:r>
            <a:r>
              <a:rPr lang="en-US" sz="1200" noProof="0" dirty="0">
                <a:solidFill>
                  <a:schemeClr val="accent2">
                    <a:lumMod val="50000"/>
                  </a:schemeClr>
                </a:solidFill>
              </a:rPr>
              <a:t> (Budget)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73CEA8-028F-4BF1-915D-8F535619341E}"/>
              </a:ext>
            </a:extLst>
          </p:cNvPr>
          <p:cNvSpPr/>
          <p:nvPr/>
        </p:nvSpPr>
        <p:spPr bwMode="auto">
          <a:xfrm>
            <a:off x="3075974" y="5978816"/>
            <a:ext cx="4464496" cy="409469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0" dirty="0">
                <a:solidFill>
                  <a:schemeClr val="accent2">
                    <a:lumMod val="50000"/>
                  </a:schemeClr>
                </a:solidFill>
              </a:rPr>
              <a:t>Demand  Management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1758F7-8F4C-4A19-B7DF-FC61B88AA3E5}"/>
              </a:ext>
            </a:extLst>
          </p:cNvPr>
          <p:cNvSpPr/>
          <p:nvPr/>
        </p:nvSpPr>
        <p:spPr bwMode="auto">
          <a:xfrm>
            <a:off x="3075974" y="4370681"/>
            <a:ext cx="4464496" cy="409469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0" dirty="0">
                <a:solidFill>
                  <a:schemeClr val="accent2">
                    <a:lumMod val="50000"/>
                  </a:schemeClr>
                </a:solidFill>
              </a:rPr>
              <a:t>Project Management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1E9172-8C4A-45FD-AF7F-F7019D032D02}"/>
              </a:ext>
            </a:extLst>
          </p:cNvPr>
          <p:cNvSpPr txBox="1"/>
          <p:nvPr/>
        </p:nvSpPr>
        <p:spPr>
          <a:xfrm>
            <a:off x="3901336" y="2923066"/>
            <a:ext cx="1000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1" noProof="0" dirty="0">
                <a:solidFill>
                  <a:schemeClr val="accent2">
                    <a:lumMod val="50000"/>
                  </a:schemeClr>
                </a:solidFill>
              </a:rPr>
              <a:t>Top-down requests </a:t>
            </a: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B1C6BE23-71E7-44E4-9A4F-F57C5F06B85B}"/>
              </a:ext>
            </a:extLst>
          </p:cNvPr>
          <p:cNvCxnSpPr>
            <a:cxnSpLocks/>
            <a:endCxn id="8" idx="0"/>
          </p:cNvCxnSpPr>
          <p:nvPr/>
        </p:nvCxnSpPr>
        <p:spPr bwMode="auto">
          <a:xfrm rot="10800000">
            <a:off x="5308919" y="2482453"/>
            <a:ext cx="2235673" cy="3594309"/>
          </a:xfrm>
          <a:prstGeom prst="bentConnector4">
            <a:avLst>
              <a:gd name="adj1" fmla="val -96757"/>
              <a:gd name="adj2" fmla="val 106360"/>
            </a:avLst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D883037-F5AD-4192-8BE7-5B93453ADC48}"/>
              </a:ext>
            </a:extLst>
          </p:cNvPr>
          <p:cNvCxnSpPr>
            <a:stCxn id="6" idx="3"/>
            <a:endCxn id="7" idx="1"/>
          </p:cNvCxnSpPr>
          <p:nvPr/>
        </p:nvCxnSpPr>
        <p:spPr bwMode="auto">
          <a:xfrm flipV="1">
            <a:off x="2811490" y="2881232"/>
            <a:ext cx="152400" cy="3854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232C5A5-B497-4160-AB25-6C1A8C68DC60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 bwMode="auto">
          <a:xfrm flipV="1">
            <a:off x="3899994" y="2868718"/>
            <a:ext cx="880058" cy="12514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98DE3B7-CD57-4492-99C3-4ACB69AD6104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 bwMode="auto">
          <a:xfrm>
            <a:off x="5837783" y="2868718"/>
            <a:ext cx="494593" cy="7646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94371F5-5696-4884-BB32-E0E3DEE85402}"/>
              </a:ext>
            </a:extLst>
          </p:cNvPr>
          <p:cNvCxnSpPr>
            <a:stCxn id="9" idx="3"/>
            <a:endCxn id="10" idx="1"/>
          </p:cNvCxnSpPr>
          <p:nvPr/>
        </p:nvCxnSpPr>
        <p:spPr bwMode="auto">
          <a:xfrm flipV="1">
            <a:off x="7268480" y="2871496"/>
            <a:ext cx="177620" cy="4868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8F15B61-AB78-4980-80C9-92C35AD79237}"/>
              </a:ext>
            </a:extLst>
          </p:cNvPr>
          <p:cNvCxnSpPr>
            <a:stCxn id="10" idx="3"/>
            <a:endCxn id="11" idx="1"/>
          </p:cNvCxnSpPr>
          <p:nvPr/>
        </p:nvCxnSpPr>
        <p:spPr bwMode="auto">
          <a:xfrm>
            <a:off x="8382204" y="2871496"/>
            <a:ext cx="126234" cy="0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CFC48B2E-4CCD-4D59-9012-A7880A05D27A}"/>
              </a:ext>
            </a:extLst>
          </p:cNvPr>
          <p:cNvSpPr/>
          <p:nvPr/>
        </p:nvSpPr>
        <p:spPr bwMode="auto">
          <a:xfrm>
            <a:off x="3075975" y="5192900"/>
            <a:ext cx="4464495" cy="409469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0" dirty="0">
                <a:solidFill>
                  <a:schemeClr val="accent2">
                    <a:lumMod val="50000"/>
                  </a:schemeClr>
                </a:solidFill>
              </a:rPr>
              <a:t>Operations planning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9A94EDD4-94A9-4E0A-83EC-545791808C74}"/>
              </a:ext>
            </a:extLst>
          </p:cNvPr>
          <p:cNvCxnSpPr>
            <a:cxnSpLocks/>
            <a:stCxn id="8" idx="2"/>
            <a:endCxn id="21" idx="0"/>
          </p:cNvCxnSpPr>
          <p:nvPr/>
        </p:nvCxnSpPr>
        <p:spPr bwMode="auto">
          <a:xfrm rot="5400000">
            <a:off x="4750721" y="3812484"/>
            <a:ext cx="1115698" cy="696"/>
          </a:xfrm>
          <a:prstGeom prst="bentConnector3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21144677-376D-45D7-B6AC-D4EDCE8366D2}"/>
              </a:ext>
            </a:extLst>
          </p:cNvPr>
          <p:cNvSpPr/>
          <p:nvPr/>
        </p:nvSpPr>
        <p:spPr bwMode="auto">
          <a:xfrm>
            <a:off x="786882" y="2564904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50" noProof="0" dirty="0">
                <a:solidFill>
                  <a:schemeClr val="accent2">
                    <a:lumMod val="50000"/>
                  </a:schemeClr>
                </a:solidFill>
              </a:rPr>
              <a:t>Business  Architecture 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55674D7-AF1F-4646-BA1D-9153405680AB}"/>
              </a:ext>
            </a:extLst>
          </p:cNvPr>
          <p:cNvCxnSpPr>
            <a:stCxn id="32" idx="3"/>
            <a:endCxn id="6" idx="1"/>
          </p:cNvCxnSpPr>
          <p:nvPr/>
        </p:nvCxnSpPr>
        <p:spPr bwMode="auto">
          <a:xfrm flipV="1">
            <a:off x="1722986" y="2885086"/>
            <a:ext cx="152400" cy="3854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822C8E11-1607-416F-90C2-B406AF475B42}"/>
              </a:ext>
            </a:extLst>
          </p:cNvPr>
          <p:cNvCxnSpPr>
            <a:cxnSpLocks/>
            <a:endCxn id="32" idx="0"/>
          </p:cNvCxnSpPr>
          <p:nvPr/>
        </p:nvCxnSpPr>
        <p:spPr bwMode="auto">
          <a:xfrm rot="10800000" flipV="1">
            <a:off x="1254935" y="1810952"/>
            <a:ext cx="832939" cy="753952"/>
          </a:xfrm>
          <a:prstGeom prst="bentConnector2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B8A29F35-05D6-4DAE-A135-10AE910004BB}"/>
              </a:ext>
            </a:extLst>
          </p:cNvPr>
          <p:cNvSpPr txBox="1"/>
          <p:nvPr/>
        </p:nvSpPr>
        <p:spPr>
          <a:xfrm>
            <a:off x="2050238" y="1668516"/>
            <a:ext cx="152250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0" i="1" noProof="0" dirty="0">
                <a:solidFill>
                  <a:schemeClr val="accent2">
                    <a:lumMod val="50000"/>
                  </a:schemeClr>
                </a:solidFill>
              </a:rPr>
              <a:t>Enterprise  Strategy</a:t>
            </a:r>
          </a:p>
        </p:txBody>
      </p: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535836EC-30D6-40A2-B04C-856362C04123}"/>
              </a:ext>
            </a:extLst>
          </p:cNvPr>
          <p:cNvCxnSpPr>
            <a:endCxn id="6" idx="0"/>
          </p:cNvCxnSpPr>
          <p:nvPr/>
        </p:nvCxnSpPr>
        <p:spPr bwMode="auto">
          <a:xfrm rot="10800000" flipV="1">
            <a:off x="2343438" y="2213616"/>
            <a:ext cx="503482" cy="347434"/>
          </a:xfrm>
          <a:prstGeom prst="bentConnector2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DA374592-F896-429E-AEA4-831A85552A2C}"/>
              </a:ext>
            </a:extLst>
          </p:cNvPr>
          <p:cNvSpPr txBox="1"/>
          <p:nvPr/>
        </p:nvSpPr>
        <p:spPr>
          <a:xfrm>
            <a:off x="2936776" y="2091327"/>
            <a:ext cx="193936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0" i="1" noProof="0" dirty="0">
                <a:solidFill>
                  <a:schemeClr val="accent2">
                    <a:lumMod val="50000"/>
                  </a:schemeClr>
                </a:solidFill>
              </a:rPr>
              <a:t>Technology Opportunities</a:t>
            </a:r>
          </a:p>
        </p:txBody>
      </p: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1D82744A-D7F0-40F7-8382-970E01B92E5E}"/>
              </a:ext>
            </a:extLst>
          </p:cNvPr>
          <p:cNvCxnSpPr>
            <a:cxnSpLocks/>
            <a:stCxn id="21" idx="2"/>
            <a:endCxn id="39" idx="0"/>
          </p:cNvCxnSpPr>
          <p:nvPr/>
        </p:nvCxnSpPr>
        <p:spPr bwMode="auto">
          <a:xfrm rot="16200000" flipH="1">
            <a:off x="5101847" y="4986524"/>
            <a:ext cx="412750" cy="1"/>
          </a:xfrm>
          <a:prstGeom prst="bentConnector3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Box 22">
            <a:extLst>
              <a:ext uri="{FF2B5EF4-FFF2-40B4-BE49-F238E27FC236}">
                <a16:creationId xmlns:a16="http://schemas.microsoft.com/office/drawing/2014/main" id="{E3522674-9C97-40D3-925C-674E8BDC007B}"/>
              </a:ext>
            </a:extLst>
          </p:cNvPr>
          <p:cNvSpPr txBox="1"/>
          <p:nvPr/>
        </p:nvSpPr>
        <p:spPr>
          <a:xfrm>
            <a:off x="7620952" y="5914742"/>
            <a:ext cx="152250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0" i="1" noProof="0" dirty="0">
                <a:solidFill>
                  <a:schemeClr val="accent2">
                    <a:lumMod val="50000"/>
                  </a:schemeClr>
                </a:solidFill>
              </a:rPr>
              <a:t>Bottom-up requests </a:t>
            </a:r>
          </a:p>
        </p:txBody>
      </p:sp>
      <p:sp>
        <p:nvSpPr>
          <p:cNvPr id="46" name="Rectangle 35">
            <a:extLst>
              <a:ext uri="{FF2B5EF4-FFF2-40B4-BE49-F238E27FC236}">
                <a16:creationId xmlns:a16="http://schemas.microsoft.com/office/drawing/2014/main" id="{9009011E-4E6E-B1D7-CA05-F28D472F993A}"/>
              </a:ext>
            </a:extLst>
          </p:cNvPr>
          <p:cNvSpPr/>
          <p:nvPr/>
        </p:nvSpPr>
        <p:spPr bwMode="auto">
          <a:xfrm>
            <a:off x="6243316" y="1255632"/>
            <a:ext cx="3346101" cy="2556696"/>
          </a:xfrm>
          <a:prstGeom prst="rect">
            <a:avLst/>
          </a:prstGeom>
          <a:noFill/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0" dirty="0">
                <a:solidFill>
                  <a:schemeClr val="accent2">
                    <a:lumMod val="50000"/>
                  </a:schemeClr>
                </a:solidFill>
              </a:rPr>
              <a:t>Resources Planning </a:t>
            </a:r>
          </a:p>
        </p:txBody>
      </p:sp>
      <p:cxnSp>
        <p:nvCxnSpPr>
          <p:cNvPr id="75" name="Connector: Elbow 42">
            <a:extLst>
              <a:ext uri="{FF2B5EF4-FFF2-40B4-BE49-F238E27FC236}">
                <a16:creationId xmlns:a16="http://schemas.microsoft.com/office/drawing/2014/main" id="{18D34DCF-3383-7C94-9F3F-55423F65D6EE}"/>
              </a:ext>
            </a:extLst>
          </p:cNvPr>
          <p:cNvCxnSpPr>
            <a:cxnSpLocks/>
            <a:stCxn id="46" idx="2"/>
            <a:endCxn id="39" idx="3"/>
          </p:cNvCxnSpPr>
          <p:nvPr/>
        </p:nvCxnSpPr>
        <p:spPr bwMode="auto">
          <a:xfrm rot="5400000">
            <a:off x="6935766" y="4417033"/>
            <a:ext cx="1585307" cy="375897"/>
          </a:xfrm>
          <a:prstGeom prst="bentConnector2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3" name="Connector: Elbow 42">
            <a:extLst>
              <a:ext uri="{FF2B5EF4-FFF2-40B4-BE49-F238E27FC236}">
                <a16:creationId xmlns:a16="http://schemas.microsoft.com/office/drawing/2014/main" id="{B4BE08A0-9E44-03D8-BB0A-6D41C2F5A7C4}"/>
              </a:ext>
            </a:extLst>
          </p:cNvPr>
          <p:cNvCxnSpPr>
            <a:cxnSpLocks/>
            <a:stCxn id="46" idx="2"/>
            <a:endCxn id="21" idx="3"/>
          </p:cNvCxnSpPr>
          <p:nvPr/>
        </p:nvCxnSpPr>
        <p:spPr bwMode="auto">
          <a:xfrm rot="5400000">
            <a:off x="7346875" y="4005924"/>
            <a:ext cx="763088" cy="375897"/>
          </a:xfrm>
          <a:prstGeom prst="bentConnector2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163507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B46D0-AA8C-8B62-2EF6-88E8F76D1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FE2720-5E84-0011-98E5-5A3052742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 wrap="square" anchor="ctr">
            <a:normAutofit/>
          </a:bodyPr>
          <a:lstStyle/>
          <a:p>
            <a:r>
              <a:rPr lang="en-US" noProof="0" dirty="0"/>
              <a:t>IT MANAGEMENT: OVERVIEW</a:t>
            </a:r>
          </a:p>
        </p:txBody>
      </p:sp>
      <p:sp>
        <p:nvSpPr>
          <p:cNvPr id="13" name="Segnaposto testo 12">
            <a:extLst>
              <a:ext uri="{FF2B5EF4-FFF2-40B4-BE49-F238E27FC236}">
                <a16:creationId xmlns:a16="http://schemas.microsoft.com/office/drawing/2014/main" id="{C029E2D9-FF1F-6096-898A-BB1E8C6C9804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742950" y="1524000"/>
            <a:ext cx="4133850" cy="45720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900" noProof="0" dirty="0"/>
              <a:t>IT management is made of various processes which involve the IT corporate department, corporate managers, demand managers, and project managers.</a:t>
            </a:r>
          </a:p>
          <a:p>
            <a:pPr>
              <a:lnSpc>
                <a:spcPct val="90000"/>
              </a:lnSpc>
            </a:pPr>
            <a:r>
              <a:rPr lang="en-US" sz="1900" noProof="0" dirty="0"/>
              <a:t> Corporate managers lead corporate functions and divisions (E.G.  Sales, Production, Finance, etc.) and make decisions on IT projects</a:t>
            </a:r>
          </a:p>
          <a:p>
            <a:pPr>
              <a:lnSpc>
                <a:spcPct val="90000"/>
              </a:lnSpc>
            </a:pPr>
            <a:r>
              <a:rPr lang="en-US" sz="1900" noProof="0" dirty="0"/>
              <a:t>Demand Managers assist corporate functions and divisions (E.G.  Sales, Production, Finance. etc.) by collecting their requirements and supporting projects</a:t>
            </a:r>
          </a:p>
          <a:p>
            <a:pPr>
              <a:lnSpc>
                <a:spcPct val="90000"/>
              </a:lnSpc>
            </a:pPr>
            <a:r>
              <a:rPr lang="en-US" sz="1900" noProof="0" dirty="0"/>
              <a:t>Project managers lead ongoing projects </a:t>
            </a:r>
          </a:p>
        </p:txBody>
      </p:sp>
      <p:pic>
        <p:nvPicPr>
          <p:cNvPr id="66" name="Segnaposto contenuto 65">
            <a:extLst>
              <a:ext uri="{FF2B5EF4-FFF2-40B4-BE49-F238E27FC236}">
                <a16:creationId xmlns:a16="http://schemas.microsoft.com/office/drawing/2014/main" id="{886F56B2-342B-3C2C-FB73-02524B01FA9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029200" y="2610879"/>
            <a:ext cx="4133850" cy="2398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977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82FFD-D3C3-242F-D679-66C8CEA90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AE08383F-45B5-7CD4-ED72-AFA5109BC1BF}"/>
              </a:ext>
            </a:extLst>
          </p:cNvPr>
          <p:cNvSpPr/>
          <p:nvPr/>
        </p:nvSpPr>
        <p:spPr bwMode="auto">
          <a:xfrm>
            <a:off x="633216" y="1245890"/>
            <a:ext cx="3381592" cy="2622883"/>
          </a:xfrm>
          <a:prstGeom prst="rect">
            <a:avLst/>
          </a:prstGeom>
          <a:solidFill>
            <a:schemeClr val="bg1">
              <a:lumMod val="65000"/>
            </a:schemeClr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0" dirty="0">
                <a:solidFill>
                  <a:schemeClr val="accent2">
                    <a:lumMod val="50000"/>
                  </a:schemeClr>
                </a:solidFill>
              </a:rPr>
              <a:t>Architecture Planning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1012104-72C8-2C8F-DA31-98A22B760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accent2">
                    <a:lumMod val="50000"/>
                  </a:schemeClr>
                </a:solidFill>
              </a:rPr>
              <a:t>IT MANAGEMENT: OVERVIEW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A330B7-BA20-08FE-3304-C6D8FA126C8D}"/>
              </a:ext>
            </a:extLst>
          </p:cNvPr>
          <p:cNvSpPr/>
          <p:nvPr/>
        </p:nvSpPr>
        <p:spPr bwMode="auto">
          <a:xfrm>
            <a:off x="1875386" y="2561050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50" noProof="0" dirty="0">
                <a:solidFill>
                  <a:schemeClr val="accent2">
                    <a:lumMod val="50000"/>
                  </a:schemeClr>
                </a:solidFill>
              </a:rPr>
              <a:t>Digital  Architecture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409A54-DD66-5081-4ADE-9262F7D36DC7}"/>
              </a:ext>
            </a:extLst>
          </p:cNvPr>
          <p:cNvSpPr/>
          <p:nvPr/>
        </p:nvSpPr>
        <p:spPr bwMode="auto">
          <a:xfrm>
            <a:off x="2963890" y="2557196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50" noProof="0" dirty="0">
                <a:solidFill>
                  <a:schemeClr val="accent2">
                    <a:lumMod val="50000"/>
                  </a:schemeClr>
                </a:solidFill>
              </a:rPr>
              <a:t>Initiative Proposals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1C16EF-1010-A03C-D79E-159041C27454}"/>
              </a:ext>
            </a:extLst>
          </p:cNvPr>
          <p:cNvSpPr/>
          <p:nvPr/>
        </p:nvSpPr>
        <p:spPr bwMode="auto">
          <a:xfrm>
            <a:off x="4780052" y="2482452"/>
            <a:ext cx="1057731" cy="772531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noProof="0" dirty="0">
                <a:solidFill>
                  <a:schemeClr val="accent2">
                    <a:lumMod val="50000"/>
                  </a:schemeClr>
                </a:solidFill>
              </a:rPr>
              <a:t>Portfolio Management and Project Launch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DC3E47-00EE-6030-5CC0-C173D4B75EBF}"/>
              </a:ext>
            </a:extLst>
          </p:cNvPr>
          <p:cNvSpPr/>
          <p:nvPr/>
        </p:nvSpPr>
        <p:spPr bwMode="auto">
          <a:xfrm>
            <a:off x="6332376" y="2552328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noProof="0" dirty="0">
                <a:solidFill>
                  <a:schemeClr val="accent2">
                    <a:lumMod val="50000"/>
                  </a:schemeClr>
                </a:solidFill>
              </a:rPr>
              <a:t>Human Resources Planning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07DFB8-F457-4B49-A4C9-030E813F2E3F}"/>
              </a:ext>
            </a:extLst>
          </p:cNvPr>
          <p:cNvSpPr/>
          <p:nvPr/>
        </p:nvSpPr>
        <p:spPr bwMode="auto">
          <a:xfrm>
            <a:off x="7446100" y="2547460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noProof="0" dirty="0" err="1">
                <a:solidFill>
                  <a:schemeClr val="accent2">
                    <a:lumMod val="50000"/>
                  </a:schemeClr>
                </a:solidFill>
              </a:rPr>
              <a:t>Infrastr</a:t>
            </a:r>
            <a:r>
              <a:rPr lang="en-US" sz="1200" noProof="0" dirty="0">
                <a:solidFill>
                  <a:schemeClr val="accent2">
                    <a:lumMod val="50000"/>
                  </a:schemeClr>
                </a:solidFill>
              </a:rPr>
              <a:t>. Resources Planning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B30EB2-065E-2FF8-9877-271AF53FF0B3}"/>
              </a:ext>
            </a:extLst>
          </p:cNvPr>
          <p:cNvSpPr/>
          <p:nvPr/>
        </p:nvSpPr>
        <p:spPr bwMode="auto">
          <a:xfrm>
            <a:off x="8508438" y="2547460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noProof="0" dirty="0">
                <a:solidFill>
                  <a:schemeClr val="accent2">
                    <a:lumMod val="50000"/>
                  </a:schemeClr>
                </a:solidFill>
              </a:rPr>
              <a:t>Financial </a:t>
            </a:r>
            <a:r>
              <a:rPr lang="en-US" sz="1200" noProof="0" dirty="0" err="1">
                <a:solidFill>
                  <a:schemeClr val="accent2">
                    <a:lumMod val="50000"/>
                  </a:schemeClr>
                </a:solidFill>
              </a:rPr>
              <a:t>Palanning</a:t>
            </a:r>
            <a:r>
              <a:rPr lang="en-US" sz="1200" noProof="0" dirty="0">
                <a:solidFill>
                  <a:schemeClr val="accent2">
                    <a:lumMod val="50000"/>
                  </a:schemeClr>
                </a:solidFill>
              </a:rPr>
              <a:t> (Budget)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12CE38-FCCF-A95A-9254-8E4DD96F51D6}"/>
              </a:ext>
            </a:extLst>
          </p:cNvPr>
          <p:cNvSpPr/>
          <p:nvPr/>
        </p:nvSpPr>
        <p:spPr bwMode="auto">
          <a:xfrm>
            <a:off x="3075974" y="5978816"/>
            <a:ext cx="4464496" cy="409469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0" dirty="0">
                <a:solidFill>
                  <a:schemeClr val="accent2">
                    <a:lumMod val="50000"/>
                  </a:schemeClr>
                </a:solidFill>
              </a:rPr>
              <a:t>Demand Management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11665BF-2CC9-1A60-6B86-2CB84C594ED2}"/>
              </a:ext>
            </a:extLst>
          </p:cNvPr>
          <p:cNvSpPr/>
          <p:nvPr/>
        </p:nvSpPr>
        <p:spPr bwMode="auto">
          <a:xfrm>
            <a:off x="3075974" y="4370681"/>
            <a:ext cx="4464496" cy="409469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0" dirty="0">
                <a:solidFill>
                  <a:schemeClr val="accent2">
                    <a:lumMod val="50000"/>
                  </a:schemeClr>
                </a:solidFill>
              </a:rPr>
              <a:t>Project Management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B6509D-DD51-C26D-0FD5-8D3FBD2A0461}"/>
              </a:ext>
            </a:extLst>
          </p:cNvPr>
          <p:cNvSpPr txBox="1"/>
          <p:nvPr/>
        </p:nvSpPr>
        <p:spPr>
          <a:xfrm>
            <a:off x="3901336" y="2923066"/>
            <a:ext cx="1000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1" noProof="0" dirty="0">
                <a:solidFill>
                  <a:schemeClr val="accent2">
                    <a:lumMod val="50000"/>
                  </a:schemeClr>
                </a:solidFill>
              </a:rPr>
              <a:t>Top-down requests </a:t>
            </a: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44DA21EE-4004-1F03-BB4D-F997AE3C8C45}"/>
              </a:ext>
            </a:extLst>
          </p:cNvPr>
          <p:cNvCxnSpPr>
            <a:cxnSpLocks/>
            <a:endCxn id="8" idx="0"/>
          </p:cNvCxnSpPr>
          <p:nvPr/>
        </p:nvCxnSpPr>
        <p:spPr bwMode="auto">
          <a:xfrm rot="10800000">
            <a:off x="5308919" y="2482453"/>
            <a:ext cx="2235673" cy="3594309"/>
          </a:xfrm>
          <a:prstGeom prst="bentConnector4">
            <a:avLst>
              <a:gd name="adj1" fmla="val -96757"/>
              <a:gd name="adj2" fmla="val 106360"/>
            </a:avLst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02DB093-FA68-2BB6-5C19-D7B6A12F6C7A}"/>
              </a:ext>
            </a:extLst>
          </p:cNvPr>
          <p:cNvCxnSpPr>
            <a:stCxn id="6" idx="3"/>
            <a:endCxn id="7" idx="1"/>
          </p:cNvCxnSpPr>
          <p:nvPr/>
        </p:nvCxnSpPr>
        <p:spPr bwMode="auto">
          <a:xfrm flipV="1">
            <a:off x="2811490" y="2881232"/>
            <a:ext cx="152400" cy="3854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F62E8AD-D5E3-AAE9-2EA5-D8C7ED7F638E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 bwMode="auto">
          <a:xfrm flipV="1">
            <a:off x="3899994" y="2868718"/>
            <a:ext cx="880058" cy="12514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BD8EC84-3E0B-3C5F-4BCA-C272A7C72039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 bwMode="auto">
          <a:xfrm>
            <a:off x="5837783" y="2868718"/>
            <a:ext cx="494593" cy="7646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EC599AC-F5F7-9A79-A98E-D097DCC08F38}"/>
              </a:ext>
            </a:extLst>
          </p:cNvPr>
          <p:cNvCxnSpPr>
            <a:stCxn id="9" idx="3"/>
            <a:endCxn id="10" idx="1"/>
          </p:cNvCxnSpPr>
          <p:nvPr/>
        </p:nvCxnSpPr>
        <p:spPr bwMode="auto">
          <a:xfrm flipV="1">
            <a:off x="7268480" y="2871496"/>
            <a:ext cx="177620" cy="4868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34AA7B7B-0BC8-FDA5-0917-123370DC3191}"/>
              </a:ext>
            </a:extLst>
          </p:cNvPr>
          <p:cNvCxnSpPr>
            <a:stCxn id="10" idx="3"/>
            <a:endCxn id="11" idx="1"/>
          </p:cNvCxnSpPr>
          <p:nvPr/>
        </p:nvCxnSpPr>
        <p:spPr bwMode="auto">
          <a:xfrm>
            <a:off x="8382204" y="2871496"/>
            <a:ext cx="126234" cy="0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81CF0EE6-FFE2-FE1F-7EFB-E14D565AEDE9}"/>
              </a:ext>
            </a:extLst>
          </p:cNvPr>
          <p:cNvSpPr/>
          <p:nvPr/>
        </p:nvSpPr>
        <p:spPr bwMode="auto">
          <a:xfrm>
            <a:off x="3075975" y="5192900"/>
            <a:ext cx="4464495" cy="409469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0" dirty="0">
                <a:solidFill>
                  <a:schemeClr val="accent2">
                    <a:lumMod val="50000"/>
                  </a:schemeClr>
                </a:solidFill>
              </a:rPr>
              <a:t>Operations planning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1F6E1D5D-7A60-6302-F2EC-E1355C53EA93}"/>
              </a:ext>
            </a:extLst>
          </p:cNvPr>
          <p:cNvCxnSpPr>
            <a:cxnSpLocks/>
            <a:stCxn id="8" idx="2"/>
            <a:endCxn id="21" idx="0"/>
          </p:cNvCxnSpPr>
          <p:nvPr/>
        </p:nvCxnSpPr>
        <p:spPr bwMode="auto">
          <a:xfrm rot="5400000">
            <a:off x="4750721" y="3812484"/>
            <a:ext cx="1115698" cy="696"/>
          </a:xfrm>
          <a:prstGeom prst="bentConnector3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EDC3BCCF-0B52-0E70-D7C3-A7C335D662B9}"/>
              </a:ext>
            </a:extLst>
          </p:cNvPr>
          <p:cNvSpPr/>
          <p:nvPr/>
        </p:nvSpPr>
        <p:spPr bwMode="auto">
          <a:xfrm>
            <a:off x="786882" y="2564904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50" noProof="0" dirty="0">
                <a:solidFill>
                  <a:schemeClr val="accent2">
                    <a:lumMod val="50000"/>
                  </a:schemeClr>
                </a:solidFill>
              </a:rPr>
              <a:t>Business  Architecture 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BF5AEB8-625B-0EF9-3A36-C4FD98F9B15B}"/>
              </a:ext>
            </a:extLst>
          </p:cNvPr>
          <p:cNvCxnSpPr>
            <a:stCxn id="32" idx="3"/>
            <a:endCxn id="6" idx="1"/>
          </p:cNvCxnSpPr>
          <p:nvPr/>
        </p:nvCxnSpPr>
        <p:spPr bwMode="auto">
          <a:xfrm flipV="1">
            <a:off x="1722986" y="2885086"/>
            <a:ext cx="152400" cy="3854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041D7C00-3FF9-7254-972A-F00264336C7E}"/>
              </a:ext>
            </a:extLst>
          </p:cNvPr>
          <p:cNvCxnSpPr>
            <a:cxnSpLocks/>
            <a:endCxn id="32" idx="0"/>
          </p:cNvCxnSpPr>
          <p:nvPr/>
        </p:nvCxnSpPr>
        <p:spPr bwMode="auto">
          <a:xfrm rot="10800000" flipV="1">
            <a:off x="1254935" y="1810952"/>
            <a:ext cx="832939" cy="753952"/>
          </a:xfrm>
          <a:prstGeom prst="bentConnector2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8244C142-281F-6C85-BF52-2B06A61ADB94}"/>
              </a:ext>
            </a:extLst>
          </p:cNvPr>
          <p:cNvSpPr txBox="1"/>
          <p:nvPr/>
        </p:nvSpPr>
        <p:spPr>
          <a:xfrm>
            <a:off x="2050238" y="1668516"/>
            <a:ext cx="152250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0" i="1" noProof="0" dirty="0">
                <a:solidFill>
                  <a:schemeClr val="accent2">
                    <a:lumMod val="50000"/>
                  </a:schemeClr>
                </a:solidFill>
              </a:rPr>
              <a:t>Enterprise  Strategy</a:t>
            </a:r>
          </a:p>
        </p:txBody>
      </p: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468590FB-ECA0-6940-548C-1DEFD608CA9F}"/>
              </a:ext>
            </a:extLst>
          </p:cNvPr>
          <p:cNvCxnSpPr>
            <a:endCxn id="6" idx="0"/>
          </p:cNvCxnSpPr>
          <p:nvPr/>
        </p:nvCxnSpPr>
        <p:spPr bwMode="auto">
          <a:xfrm rot="10800000" flipV="1">
            <a:off x="2343438" y="2213616"/>
            <a:ext cx="503482" cy="347434"/>
          </a:xfrm>
          <a:prstGeom prst="bentConnector2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9FD61BDA-9226-19E7-B2D3-EDCF2ECA02EC}"/>
              </a:ext>
            </a:extLst>
          </p:cNvPr>
          <p:cNvSpPr txBox="1"/>
          <p:nvPr/>
        </p:nvSpPr>
        <p:spPr>
          <a:xfrm>
            <a:off x="2936776" y="2091327"/>
            <a:ext cx="193936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0" i="1" noProof="0" dirty="0">
                <a:solidFill>
                  <a:schemeClr val="accent2">
                    <a:lumMod val="50000"/>
                  </a:schemeClr>
                </a:solidFill>
              </a:rPr>
              <a:t>Technology Opportunities</a:t>
            </a:r>
          </a:p>
        </p:txBody>
      </p: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F297099F-2B1B-79EB-0B3C-EC20E99575CF}"/>
              </a:ext>
            </a:extLst>
          </p:cNvPr>
          <p:cNvCxnSpPr>
            <a:cxnSpLocks/>
            <a:stCxn id="21" idx="2"/>
            <a:endCxn id="39" idx="0"/>
          </p:cNvCxnSpPr>
          <p:nvPr/>
        </p:nvCxnSpPr>
        <p:spPr bwMode="auto">
          <a:xfrm rot="16200000" flipH="1">
            <a:off x="5101847" y="4986524"/>
            <a:ext cx="412750" cy="1"/>
          </a:xfrm>
          <a:prstGeom prst="bentConnector3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Box 22">
            <a:extLst>
              <a:ext uri="{FF2B5EF4-FFF2-40B4-BE49-F238E27FC236}">
                <a16:creationId xmlns:a16="http://schemas.microsoft.com/office/drawing/2014/main" id="{C57ADDA4-80F5-D1E1-FBD1-505B179E00D7}"/>
              </a:ext>
            </a:extLst>
          </p:cNvPr>
          <p:cNvSpPr txBox="1"/>
          <p:nvPr/>
        </p:nvSpPr>
        <p:spPr>
          <a:xfrm>
            <a:off x="7620952" y="5914742"/>
            <a:ext cx="152250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0" i="1" noProof="0" dirty="0">
                <a:solidFill>
                  <a:schemeClr val="accent2">
                    <a:lumMod val="50000"/>
                  </a:schemeClr>
                </a:solidFill>
              </a:rPr>
              <a:t>Bottom-up requests </a:t>
            </a:r>
          </a:p>
        </p:txBody>
      </p:sp>
      <p:sp>
        <p:nvSpPr>
          <p:cNvPr id="46" name="Rectangle 35">
            <a:extLst>
              <a:ext uri="{FF2B5EF4-FFF2-40B4-BE49-F238E27FC236}">
                <a16:creationId xmlns:a16="http://schemas.microsoft.com/office/drawing/2014/main" id="{03E65FCD-5B98-59BE-18FE-69EF8EDBB1F3}"/>
              </a:ext>
            </a:extLst>
          </p:cNvPr>
          <p:cNvSpPr/>
          <p:nvPr/>
        </p:nvSpPr>
        <p:spPr bwMode="auto">
          <a:xfrm>
            <a:off x="6243316" y="1255632"/>
            <a:ext cx="3346101" cy="2556696"/>
          </a:xfrm>
          <a:prstGeom prst="rect">
            <a:avLst/>
          </a:prstGeom>
          <a:noFill/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0" dirty="0">
                <a:solidFill>
                  <a:schemeClr val="accent2">
                    <a:lumMod val="50000"/>
                  </a:schemeClr>
                </a:solidFill>
              </a:rPr>
              <a:t>Resources Planning </a:t>
            </a:r>
          </a:p>
        </p:txBody>
      </p:sp>
      <p:cxnSp>
        <p:nvCxnSpPr>
          <p:cNvPr id="75" name="Connector: Elbow 42">
            <a:extLst>
              <a:ext uri="{FF2B5EF4-FFF2-40B4-BE49-F238E27FC236}">
                <a16:creationId xmlns:a16="http://schemas.microsoft.com/office/drawing/2014/main" id="{BFEAC5C0-D784-1F70-1A31-52A90647E6F9}"/>
              </a:ext>
            </a:extLst>
          </p:cNvPr>
          <p:cNvCxnSpPr>
            <a:cxnSpLocks/>
            <a:stCxn id="46" idx="2"/>
            <a:endCxn id="39" idx="3"/>
          </p:cNvCxnSpPr>
          <p:nvPr/>
        </p:nvCxnSpPr>
        <p:spPr bwMode="auto">
          <a:xfrm rot="5400000">
            <a:off x="6935766" y="4417033"/>
            <a:ext cx="1585307" cy="375897"/>
          </a:xfrm>
          <a:prstGeom prst="bentConnector2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3" name="Connector: Elbow 42">
            <a:extLst>
              <a:ext uri="{FF2B5EF4-FFF2-40B4-BE49-F238E27FC236}">
                <a16:creationId xmlns:a16="http://schemas.microsoft.com/office/drawing/2014/main" id="{1986FEAA-DD44-B051-EF07-B430BE418644}"/>
              </a:ext>
            </a:extLst>
          </p:cNvPr>
          <p:cNvCxnSpPr>
            <a:cxnSpLocks/>
            <a:stCxn id="46" idx="2"/>
            <a:endCxn id="21" idx="3"/>
          </p:cNvCxnSpPr>
          <p:nvPr/>
        </p:nvCxnSpPr>
        <p:spPr bwMode="auto">
          <a:xfrm rot="5400000">
            <a:off x="7346875" y="4005924"/>
            <a:ext cx="763088" cy="375897"/>
          </a:xfrm>
          <a:prstGeom prst="bentConnector2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788241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7B7D3-CD48-6FF2-6D12-9B468F648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0B6978-A139-55CE-31A4-6712069A8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noProof="0" dirty="0">
                <a:solidFill>
                  <a:schemeClr val="accent2">
                    <a:lumMod val="50000"/>
                  </a:schemeClr>
                </a:solidFill>
              </a:rPr>
              <a:t>IT MANAGEMENT: ARCHITECTURE PLANNING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66A85F7-AFE9-6ABC-BC28-12A8139537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967" y="3812244"/>
            <a:ext cx="2686006" cy="2639045"/>
          </a:xfrm>
        </p:spPr>
        <p:txBody>
          <a:bodyPr anchor="ctr">
            <a:normAutofit/>
          </a:bodyPr>
          <a:lstStyle/>
          <a:p>
            <a:r>
              <a:rPr lang="en-US" sz="1600" noProof="0" dirty="0"/>
              <a:t>Business processes</a:t>
            </a:r>
          </a:p>
          <a:p>
            <a:pPr lvl="1"/>
            <a:r>
              <a:rPr lang="en-US" sz="1400" noProof="0" dirty="0"/>
              <a:t>Map of Business  Processes and Products</a:t>
            </a:r>
          </a:p>
          <a:p>
            <a:pPr lvl="1"/>
            <a:r>
              <a:rPr lang="en-US" sz="1400" noProof="0" dirty="0"/>
              <a:t>Innovation and changes </a:t>
            </a:r>
          </a:p>
          <a:p>
            <a:r>
              <a:rPr lang="en-US" sz="1600" noProof="0" dirty="0"/>
              <a:t>Corporate structure</a:t>
            </a:r>
          </a:p>
          <a:p>
            <a:pPr lvl="1"/>
            <a:r>
              <a:rPr lang="en-US" sz="1400" noProof="0" dirty="0"/>
              <a:t>Innovation and changes </a:t>
            </a:r>
          </a:p>
          <a:p>
            <a:r>
              <a:rPr lang="en-US" sz="1600" noProof="0" dirty="0"/>
              <a:t>Market and business </a:t>
            </a:r>
          </a:p>
          <a:p>
            <a:pPr lvl="1"/>
            <a:r>
              <a:rPr lang="en-US" sz="1400" noProof="0" dirty="0"/>
              <a:t>Breakthrough and  changes  </a:t>
            </a:r>
          </a:p>
        </p:txBody>
      </p: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8EC9B9CA-8064-578B-76F6-838E0C45E6A7}"/>
              </a:ext>
            </a:extLst>
          </p:cNvPr>
          <p:cNvGrpSpPr/>
          <p:nvPr/>
        </p:nvGrpSpPr>
        <p:grpSpPr>
          <a:xfrm>
            <a:off x="632520" y="1340768"/>
            <a:ext cx="8857592" cy="2419586"/>
            <a:chOff x="5385048" y="2214277"/>
            <a:chExt cx="3113112" cy="1544460"/>
          </a:xfrm>
        </p:grpSpPr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00C45D16-D51B-1D91-FC9D-C83529F5A215}"/>
                </a:ext>
              </a:extLst>
            </p:cNvPr>
            <p:cNvSpPr/>
            <p:nvPr/>
          </p:nvSpPr>
          <p:spPr bwMode="auto">
            <a:xfrm>
              <a:off x="6473552" y="3106811"/>
              <a:ext cx="936104" cy="648072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noProof="0" dirty="0">
                  <a:solidFill>
                    <a:schemeClr val="accent2">
                      <a:lumMod val="50000"/>
                    </a:schemeClr>
                  </a:solidFill>
                </a:rPr>
                <a:t>Digital  Architecture </a:t>
              </a:r>
            </a:p>
          </p:txBody>
        </p:sp>
        <p:sp>
          <p:nvSpPr>
            <p:cNvPr id="12" name="Rectangle 6">
              <a:extLst>
                <a:ext uri="{FF2B5EF4-FFF2-40B4-BE49-F238E27FC236}">
                  <a16:creationId xmlns:a16="http://schemas.microsoft.com/office/drawing/2014/main" id="{4933D749-4E4D-FCE8-E8B5-B98C9DAAF4CE}"/>
                </a:ext>
              </a:extLst>
            </p:cNvPr>
            <p:cNvSpPr/>
            <p:nvPr/>
          </p:nvSpPr>
          <p:spPr bwMode="auto">
            <a:xfrm>
              <a:off x="7562056" y="3102957"/>
              <a:ext cx="936104" cy="648072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noProof="0" dirty="0">
                  <a:solidFill>
                    <a:schemeClr val="accent2">
                      <a:lumMod val="50000"/>
                    </a:schemeClr>
                  </a:solidFill>
                </a:rPr>
                <a:t>Initiative Proposals  </a:t>
              </a:r>
            </a:p>
          </p:txBody>
        </p:sp>
        <p:cxnSp>
          <p:nvCxnSpPr>
            <p:cNvPr id="13" name="Straight Arrow Connector 33">
              <a:extLst>
                <a:ext uri="{FF2B5EF4-FFF2-40B4-BE49-F238E27FC236}">
                  <a16:creationId xmlns:a16="http://schemas.microsoft.com/office/drawing/2014/main" id="{66872AA4-503F-4BDE-EFB4-AB6B0145DB19}"/>
                </a:ext>
              </a:extLst>
            </p:cNvPr>
            <p:cNvCxnSpPr>
              <a:stCxn id="5" idx="3"/>
              <a:endCxn id="12" idx="1"/>
            </p:cNvCxnSpPr>
            <p:nvPr/>
          </p:nvCxnSpPr>
          <p:spPr bwMode="auto">
            <a:xfrm flipV="1">
              <a:off x="7409656" y="3426993"/>
              <a:ext cx="152400" cy="3854"/>
            </a:xfrm>
            <a:prstGeom prst="straightConnector1">
              <a:avLst/>
            </a:prstGeom>
            <a:solidFill>
              <a:schemeClr val="accent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5" name="Rectangle 31">
              <a:extLst>
                <a:ext uri="{FF2B5EF4-FFF2-40B4-BE49-F238E27FC236}">
                  <a16:creationId xmlns:a16="http://schemas.microsoft.com/office/drawing/2014/main" id="{C8FB21E2-1E02-92C9-ED41-DAC7F782B989}"/>
                </a:ext>
              </a:extLst>
            </p:cNvPr>
            <p:cNvSpPr/>
            <p:nvPr/>
          </p:nvSpPr>
          <p:spPr bwMode="auto">
            <a:xfrm>
              <a:off x="5385048" y="3110665"/>
              <a:ext cx="936104" cy="648072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noProof="0" dirty="0">
                  <a:solidFill>
                    <a:schemeClr val="accent2">
                      <a:lumMod val="50000"/>
                    </a:schemeClr>
                  </a:solidFill>
                </a:rPr>
                <a:t>Business  Architecture </a:t>
              </a:r>
            </a:p>
          </p:txBody>
        </p:sp>
        <p:cxnSp>
          <p:nvCxnSpPr>
            <p:cNvPr id="16" name="Straight Arrow Connector 32">
              <a:extLst>
                <a:ext uri="{FF2B5EF4-FFF2-40B4-BE49-F238E27FC236}">
                  <a16:creationId xmlns:a16="http://schemas.microsoft.com/office/drawing/2014/main" id="{BE6C1EEA-A765-A37E-9480-7144D5F70EDE}"/>
                </a:ext>
              </a:extLst>
            </p:cNvPr>
            <p:cNvCxnSpPr>
              <a:stCxn id="15" idx="3"/>
              <a:endCxn id="5" idx="1"/>
            </p:cNvCxnSpPr>
            <p:nvPr/>
          </p:nvCxnSpPr>
          <p:spPr bwMode="auto">
            <a:xfrm flipV="1">
              <a:off x="6321152" y="3430847"/>
              <a:ext cx="152400" cy="3854"/>
            </a:xfrm>
            <a:prstGeom prst="straightConnector1">
              <a:avLst/>
            </a:prstGeom>
            <a:solidFill>
              <a:schemeClr val="accent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Connector: Elbow 62">
              <a:extLst>
                <a:ext uri="{FF2B5EF4-FFF2-40B4-BE49-F238E27FC236}">
                  <a16:creationId xmlns:a16="http://schemas.microsoft.com/office/drawing/2014/main" id="{A290FFAB-D970-C8E4-D4D6-300F0665A33E}"/>
                </a:ext>
              </a:extLst>
            </p:cNvPr>
            <p:cNvCxnSpPr>
              <a:cxnSpLocks/>
              <a:endCxn id="15" idx="0"/>
            </p:cNvCxnSpPr>
            <p:nvPr/>
          </p:nvCxnSpPr>
          <p:spPr bwMode="auto">
            <a:xfrm rot="10800000" flipV="1">
              <a:off x="5853101" y="2356713"/>
              <a:ext cx="832939" cy="753952"/>
            </a:xfrm>
            <a:prstGeom prst="bentConnector2">
              <a:avLst/>
            </a:prstGeom>
            <a:solidFill>
              <a:schemeClr val="accent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8" name="TextBox 68">
              <a:extLst>
                <a:ext uri="{FF2B5EF4-FFF2-40B4-BE49-F238E27FC236}">
                  <a16:creationId xmlns:a16="http://schemas.microsoft.com/office/drawing/2014/main" id="{B93DB65D-C8BB-3502-3B2A-804DD49105D2}"/>
                </a:ext>
              </a:extLst>
            </p:cNvPr>
            <p:cNvSpPr txBox="1"/>
            <p:nvPr/>
          </p:nvSpPr>
          <p:spPr>
            <a:xfrm>
              <a:off x="6648404" y="2214277"/>
              <a:ext cx="913652" cy="2553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0" i="1" noProof="0" dirty="0">
                  <a:solidFill>
                    <a:schemeClr val="accent2">
                      <a:lumMod val="50000"/>
                    </a:schemeClr>
                  </a:solidFill>
                </a:rPr>
                <a:t>Enterprise Strategy</a:t>
              </a:r>
            </a:p>
          </p:txBody>
        </p:sp>
        <p:cxnSp>
          <p:nvCxnSpPr>
            <p:cNvPr id="19" name="Connector: Elbow 75">
              <a:extLst>
                <a:ext uri="{FF2B5EF4-FFF2-40B4-BE49-F238E27FC236}">
                  <a16:creationId xmlns:a16="http://schemas.microsoft.com/office/drawing/2014/main" id="{0B071498-756B-BC69-9B4E-F2236D4D633E}"/>
                </a:ext>
              </a:extLst>
            </p:cNvPr>
            <p:cNvCxnSpPr>
              <a:endCxn id="5" idx="0"/>
            </p:cNvCxnSpPr>
            <p:nvPr/>
          </p:nvCxnSpPr>
          <p:spPr bwMode="auto">
            <a:xfrm rot="10800000" flipV="1">
              <a:off x="6941604" y="2759377"/>
              <a:ext cx="503482" cy="347434"/>
            </a:xfrm>
            <a:prstGeom prst="bentConnector2">
              <a:avLst/>
            </a:prstGeom>
            <a:solidFill>
              <a:schemeClr val="accent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" name="TextBox 77">
            <a:extLst>
              <a:ext uri="{FF2B5EF4-FFF2-40B4-BE49-F238E27FC236}">
                <a16:creationId xmlns:a16="http://schemas.microsoft.com/office/drawing/2014/main" id="{514DF5C8-3DE5-0EBD-1A9C-69619290080A}"/>
              </a:ext>
            </a:extLst>
          </p:cNvPr>
          <p:cNvSpPr txBox="1"/>
          <p:nvPr/>
        </p:nvSpPr>
        <p:spPr>
          <a:xfrm>
            <a:off x="6372825" y="1941529"/>
            <a:ext cx="29726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i="1" noProof="0" dirty="0">
                <a:solidFill>
                  <a:schemeClr val="accent2">
                    <a:lumMod val="50000"/>
                  </a:schemeClr>
                </a:solidFill>
              </a:rPr>
              <a:t>Technology Opportunities</a:t>
            </a:r>
          </a:p>
        </p:txBody>
      </p:sp>
      <p:sp>
        <p:nvSpPr>
          <p:cNvPr id="26" name="Segnaposto contenuto 2">
            <a:extLst>
              <a:ext uri="{FF2B5EF4-FFF2-40B4-BE49-F238E27FC236}">
                <a16:creationId xmlns:a16="http://schemas.microsoft.com/office/drawing/2014/main" id="{952159B8-0789-1975-B337-2AF9ED8F8192}"/>
              </a:ext>
            </a:extLst>
          </p:cNvPr>
          <p:cNvSpPr txBox="1">
            <a:spLocks/>
          </p:cNvSpPr>
          <p:nvPr/>
        </p:nvSpPr>
        <p:spPr bwMode="auto">
          <a:xfrm>
            <a:off x="3729591" y="3914153"/>
            <a:ext cx="2591561" cy="2537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8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4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8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8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8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8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8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8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sz="1600" b="0" kern="0" noProof="0" dirty="0"/>
              <a:t>Systems</a:t>
            </a:r>
          </a:p>
          <a:p>
            <a:pPr lvl="1"/>
            <a:r>
              <a:rPr lang="en-US" sz="1200" b="0" kern="0" noProof="0" dirty="0"/>
              <a:t>Systems Map as is / to be</a:t>
            </a:r>
          </a:p>
          <a:p>
            <a:r>
              <a:rPr lang="en-US" sz="1600" b="0" kern="0" noProof="0" dirty="0"/>
              <a:t>Data</a:t>
            </a:r>
          </a:p>
          <a:p>
            <a:pPr lvl="1"/>
            <a:r>
              <a:rPr lang="en-US" sz="1200" b="0" kern="0" noProof="0" dirty="0"/>
              <a:t>Data Map as is /to be</a:t>
            </a:r>
          </a:p>
          <a:p>
            <a:pPr lvl="1"/>
            <a:r>
              <a:rPr lang="en-US" sz="1200" b="0" kern="0" noProof="0" dirty="0"/>
              <a:t>Data Base &amp; Data Lake Map as is /to be</a:t>
            </a:r>
          </a:p>
          <a:p>
            <a:r>
              <a:rPr lang="en-US" sz="1600" b="0" kern="0" noProof="0" dirty="0"/>
              <a:t>Infrastructure</a:t>
            </a:r>
          </a:p>
          <a:p>
            <a:pPr lvl="1"/>
            <a:r>
              <a:rPr lang="en-US" sz="1200" b="0" kern="0" noProof="0" dirty="0"/>
              <a:t>Data  Center Maps as is /to be</a:t>
            </a:r>
          </a:p>
          <a:p>
            <a:pPr lvl="1"/>
            <a:r>
              <a:rPr lang="en-US" sz="1200" b="0" kern="0" noProof="0" dirty="0"/>
              <a:t>Network Map as is /to be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85CD347F-D7C1-C88A-E7B4-A03BBB1DF5A7}"/>
              </a:ext>
            </a:extLst>
          </p:cNvPr>
          <p:cNvSpPr txBox="1">
            <a:spLocks/>
          </p:cNvSpPr>
          <p:nvPr/>
        </p:nvSpPr>
        <p:spPr bwMode="auto">
          <a:xfrm>
            <a:off x="6897943" y="3914153"/>
            <a:ext cx="2591561" cy="2537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8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4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8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8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8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8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8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8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sz="2000" b="0" kern="0" noProof="0" dirty="0"/>
              <a:t>Bottom-up Initiatives from  Demand Managers</a:t>
            </a:r>
          </a:p>
          <a:p>
            <a:r>
              <a:rPr lang="en-US" sz="2000" b="0" kern="0" noProof="0" dirty="0"/>
              <a:t>Strategic initiatives</a:t>
            </a:r>
          </a:p>
          <a:p>
            <a:r>
              <a:rPr lang="en-US" sz="2000" b="0" kern="0" noProof="0" dirty="0"/>
              <a:t>Regulation compliance </a:t>
            </a:r>
            <a:endParaRPr lang="en-US" sz="1600" b="0" kern="0" noProof="0" dirty="0"/>
          </a:p>
        </p:txBody>
      </p:sp>
    </p:spTree>
    <p:extLst>
      <p:ext uri="{BB962C8B-B14F-4D97-AF65-F5344CB8AC3E}">
        <p14:creationId xmlns:p14="http://schemas.microsoft.com/office/powerpoint/2010/main" val="2518445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D402D-A90F-AADE-2C10-9294B3A79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4F0ADE-D030-1F9C-EA9B-DDD769866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noProof="0" dirty="0">
                <a:solidFill>
                  <a:schemeClr val="accent2">
                    <a:lumMod val="50000"/>
                  </a:schemeClr>
                </a:solidFill>
              </a:rPr>
              <a:t>IT MANAGEMENT: ARCHITECTURE PLANNING </a:t>
            </a:r>
          </a:p>
        </p:txBody>
      </p:sp>
      <p:sp>
        <p:nvSpPr>
          <p:cNvPr id="14" name="Segnaposto contenuto 13">
            <a:extLst>
              <a:ext uri="{FF2B5EF4-FFF2-40B4-BE49-F238E27FC236}">
                <a16:creationId xmlns:a16="http://schemas.microsoft.com/office/drawing/2014/main" id="{375329A0-D928-5007-522C-F04A09A1B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Large organizations typically maintain a map of their digital  architecture to ensure its consistency and its alignment with business and technology innovations</a:t>
            </a:r>
          </a:p>
          <a:p>
            <a:r>
              <a:rPr lang="en-US" noProof="0" dirty="0"/>
              <a:t>This task is carried out by a dedicated staff in the IT department which cooperates with demand managers and with the assistance of strategy consultants</a:t>
            </a:r>
          </a:p>
          <a:p>
            <a:r>
              <a:rPr lang="en-US" noProof="0" dirty="0"/>
              <a:t>Various methodologies were conceived for strategic planning </a:t>
            </a:r>
          </a:p>
          <a:p>
            <a:pPr lvl="1"/>
            <a:r>
              <a:rPr lang="en-US" noProof="0" dirty="0"/>
              <a:t>TOGAF-ADM, a guide for the </a:t>
            </a:r>
            <a:r>
              <a:rPr lang="en-US" noProof="0" dirty="0" err="1"/>
              <a:t>architcture</a:t>
            </a:r>
            <a:r>
              <a:rPr lang="en-US" noProof="0" dirty="0"/>
              <a:t> planning process</a:t>
            </a:r>
          </a:p>
          <a:p>
            <a:pPr lvl="1"/>
            <a:r>
              <a:rPr lang="en-US" noProof="0" dirty="0"/>
              <a:t>SCOR, a reference model of business processes in manufacturing</a:t>
            </a:r>
          </a:p>
          <a:p>
            <a:pPr lvl="1"/>
            <a:r>
              <a:rPr lang="en-US" noProof="0" dirty="0"/>
              <a:t>ETOM, a reference model of information architecture in  telecommunications</a:t>
            </a:r>
          </a:p>
          <a:p>
            <a:pPr lvl="1"/>
            <a:r>
              <a:rPr lang="en-US" noProof="0" dirty="0"/>
              <a:t>Etc. </a:t>
            </a:r>
          </a:p>
          <a:p>
            <a:pPr lvl="1"/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35374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C848E-7592-5C79-F27E-6C69F09DB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E7D175-FC0B-C385-3F53-10689001F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noProof="0" dirty="0">
                <a:solidFill>
                  <a:schemeClr val="accent2">
                    <a:lumMod val="50000"/>
                  </a:schemeClr>
                </a:solidFill>
              </a:rPr>
              <a:t>IT MANAGEMENT: PORTFOLIO MANAGEMENT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88C142-773C-CEEA-97E1-D3A2A5666941}"/>
              </a:ext>
            </a:extLst>
          </p:cNvPr>
          <p:cNvSpPr/>
          <p:nvPr/>
        </p:nvSpPr>
        <p:spPr bwMode="auto">
          <a:xfrm>
            <a:off x="1875386" y="2561050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50" noProof="0" dirty="0">
                <a:solidFill>
                  <a:schemeClr val="accent2">
                    <a:lumMod val="50000"/>
                  </a:schemeClr>
                </a:solidFill>
              </a:rPr>
              <a:t>Digital  Architecture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2C5527-E986-3C17-3298-2F3B4FBFBEA8}"/>
              </a:ext>
            </a:extLst>
          </p:cNvPr>
          <p:cNvSpPr/>
          <p:nvPr/>
        </p:nvSpPr>
        <p:spPr bwMode="auto">
          <a:xfrm>
            <a:off x="2963890" y="2557196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50" noProof="0" dirty="0">
                <a:solidFill>
                  <a:schemeClr val="accent2">
                    <a:lumMod val="50000"/>
                  </a:schemeClr>
                </a:solidFill>
              </a:rPr>
              <a:t>Initiatives Proposals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5AB32F-24F8-2180-850B-ABAA0FB4D973}"/>
              </a:ext>
            </a:extLst>
          </p:cNvPr>
          <p:cNvSpPr/>
          <p:nvPr/>
        </p:nvSpPr>
        <p:spPr bwMode="auto">
          <a:xfrm>
            <a:off x="4780052" y="2482452"/>
            <a:ext cx="1057731" cy="772531"/>
          </a:xfrm>
          <a:prstGeom prst="rect">
            <a:avLst/>
          </a:prstGeom>
          <a:solidFill>
            <a:schemeClr val="bg1">
              <a:lumMod val="50000"/>
            </a:schemeClr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noProof="0" dirty="0">
                <a:solidFill>
                  <a:schemeClr val="bg1"/>
                </a:solidFill>
              </a:rPr>
              <a:t>Portfolio Management and Project Launch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2C50CC-5E29-541B-0663-E9A8C747E100}"/>
              </a:ext>
            </a:extLst>
          </p:cNvPr>
          <p:cNvSpPr/>
          <p:nvPr/>
        </p:nvSpPr>
        <p:spPr bwMode="auto">
          <a:xfrm>
            <a:off x="6332376" y="2552328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noProof="0" dirty="0">
                <a:solidFill>
                  <a:schemeClr val="accent2">
                    <a:lumMod val="50000"/>
                  </a:schemeClr>
                </a:solidFill>
              </a:rPr>
              <a:t>Human Resources Planning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C7FB38-6D49-7760-F8CC-BA87B1174BCC}"/>
              </a:ext>
            </a:extLst>
          </p:cNvPr>
          <p:cNvSpPr/>
          <p:nvPr/>
        </p:nvSpPr>
        <p:spPr bwMode="auto">
          <a:xfrm>
            <a:off x="7446100" y="2547460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noProof="0" dirty="0" err="1">
                <a:solidFill>
                  <a:schemeClr val="accent2">
                    <a:lumMod val="50000"/>
                  </a:schemeClr>
                </a:solidFill>
              </a:rPr>
              <a:t>Infrastr</a:t>
            </a:r>
            <a:r>
              <a:rPr lang="en-US" sz="1200" noProof="0" dirty="0">
                <a:solidFill>
                  <a:schemeClr val="accent2">
                    <a:lumMod val="50000"/>
                  </a:schemeClr>
                </a:solidFill>
              </a:rPr>
              <a:t>. Resources Planning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5E6ED9-4498-3F71-2046-BC059B1C9170}"/>
              </a:ext>
            </a:extLst>
          </p:cNvPr>
          <p:cNvSpPr/>
          <p:nvPr/>
        </p:nvSpPr>
        <p:spPr bwMode="auto">
          <a:xfrm>
            <a:off x="8508438" y="2547460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noProof="0" dirty="0">
                <a:solidFill>
                  <a:schemeClr val="accent2">
                    <a:lumMod val="50000"/>
                  </a:schemeClr>
                </a:solidFill>
              </a:rPr>
              <a:t>Financial </a:t>
            </a:r>
            <a:r>
              <a:rPr lang="en-US" sz="1200" noProof="0" dirty="0" err="1">
                <a:solidFill>
                  <a:schemeClr val="accent2">
                    <a:lumMod val="50000"/>
                  </a:schemeClr>
                </a:solidFill>
              </a:rPr>
              <a:t>Palanning</a:t>
            </a:r>
            <a:r>
              <a:rPr lang="en-US" sz="1200" noProof="0" dirty="0">
                <a:solidFill>
                  <a:schemeClr val="accent2">
                    <a:lumMod val="50000"/>
                  </a:schemeClr>
                </a:solidFill>
              </a:rPr>
              <a:t> (Budget)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05C024-7689-F47D-5AF3-C7AED3212A21}"/>
              </a:ext>
            </a:extLst>
          </p:cNvPr>
          <p:cNvSpPr/>
          <p:nvPr/>
        </p:nvSpPr>
        <p:spPr bwMode="auto">
          <a:xfrm>
            <a:off x="3075974" y="5978816"/>
            <a:ext cx="4464496" cy="409469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0" dirty="0">
                <a:solidFill>
                  <a:schemeClr val="accent2">
                    <a:lumMod val="50000"/>
                  </a:schemeClr>
                </a:solidFill>
              </a:rPr>
              <a:t>Demand Management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77832C9-7A9C-9C17-7640-6457BA241A73}"/>
              </a:ext>
            </a:extLst>
          </p:cNvPr>
          <p:cNvSpPr/>
          <p:nvPr/>
        </p:nvSpPr>
        <p:spPr bwMode="auto">
          <a:xfrm>
            <a:off x="3075974" y="4370681"/>
            <a:ext cx="4464496" cy="409469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0" dirty="0">
                <a:solidFill>
                  <a:schemeClr val="accent2">
                    <a:lumMod val="50000"/>
                  </a:schemeClr>
                </a:solidFill>
              </a:rPr>
              <a:t>Project Management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24A6A8-CC3B-07F3-6604-A17B9475A46A}"/>
              </a:ext>
            </a:extLst>
          </p:cNvPr>
          <p:cNvSpPr txBox="1"/>
          <p:nvPr/>
        </p:nvSpPr>
        <p:spPr>
          <a:xfrm>
            <a:off x="3901336" y="2923066"/>
            <a:ext cx="1000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1" noProof="0" dirty="0">
                <a:solidFill>
                  <a:schemeClr val="accent2">
                    <a:lumMod val="50000"/>
                  </a:schemeClr>
                </a:solidFill>
              </a:rPr>
              <a:t>Top-down requests </a:t>
            </a: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0D500C31-854B-E5C1-59A8-4419F5F45AD1}"/>
              </a:ext>
            </a:extLst>
          </p:cNvPr>
          <p:cNvCxnSpPr>
            <a:cxnSpLocks/>
            <a:endCxn id="8" idx="0"/>
          </p:cNvCxnSpPr>
          <p:nvPr/>
        </p:nvCxnSpPr>
        <p:spPr bwMode="auto">
          <a:xfrm rot="10800000">
            <a:off x="5308919" y="2482453"/>
            <a:ext cx="2235673" cy="3594309"/>
          </a:xfrm>
          <a:prstGeom prst="bentConnector4">
            <a:avLst>
              <a:gd name="adj1" fmla="val -96757"/>
              <a:gd name="adj2" fmla="val 106360"/>
            </a:avLst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316DA98-3818-4A56-0F21-61F05A6BBD48}"/>
              </a:ext>
            </a:extLst>
          </p:cNvPr>
          <p:cNvCxnSpPr>
            <a:stCxn id="6" idx="3"/>
            <a:endCxn id="7" idx="1"/>
          </p:cNvCxnSpPr>
          <p:nvPr/>
        </p:nvCxnSpPr>
        <p:spPr bwMode="auto">
          <a:xfrm flipV="1">
            <a:off x="2811490" y="2881232"/>
            <a:ext cx="152400" cy="3854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146D33C-420D-D03C-BCEA-E4016C527538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 bwMode="auto">
          <a:xfrm flipV="1">
            <a:off x="3899994" y="2868718"/>
            <a:ext cx="880058" cy="12514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6BAF26F-A65B-4E9D-0626-25058944BBD6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 bwMode="auto">
          <a:xfrm>
            <a:off x="5837783" y="2868718"/>
            <a:ext cx="494593" cy="7646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E31094E-C146-C369-D7DE-4DA2129A82B5}"/>
              </a:ext>
            </a:extLst>
          </p:cNvPr>
          <p:cNvCxnSpPr>
            <a:stCxn id="9" idx="3"/>
            <a:endCxn id="10" idx="1"/>
          </p:cNvCxnSpPr>
          <p:nvPr/>
        </p:nvCxnSpPr>
        <p:spPr bwMode="auto">
          <a:xfrm flipV="1">
            <a:off x="7268480" y="2871496"/>
            <a:ext cx="177620" cy="4868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DA46827-EAE3-8C16-07D3-975687671ED2}"/>
              </a:ext>
            </a:extLst>
          </p:cNvPr>
          <p:cNvCxnSpPr>
            <a:stCxn id="10" idx="3"/>
            <a:endCxn id="11" idx="1"/>
          </p:cNvCxnSpPr>
          <p:nvPr/>
        </p:nvCxnSpPr>
        <p:spPr bwMode="auto">
          <a:xfrm>
            <a:off x="8382204" y="2871496"/>
            <a:ext cx="126234" cy="0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7131910-8623-507E-A44A-658FB6A4FDD8}"/>
              </a:ext>
            </a:extLst>
          </p:cNvPr>
          <p:cNvSpPr/>
          <p:nvPr/>
        </p:nvSpPr>
        <p:spPr bwMode="auto">
          <a:xfrm>
            <a:off x="633216" y="1245890"/>
            <a:ext cx="3381592" cy="2622883"/>
          </a:xfrm>
          <a:prstGeom prst="rect">
            <a:avLst/>
          </a:prstGeom>
          <a:noFill/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0" dirty="0">
                <a:solidFill>
                  <a:schemeClr val="accent2">
                    <a:lumMod val="50000"/>
                  </a:schemeClr>
                </a:solidFill>
              </a:rPr>
              <a:t>Architecture Planning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84848B8-885D-9713-D581-94E6B3AAADCA}"/>
              </a:ext>
            </a:extLst>
          </p:cNvPr>
          <p:cNvSpPr/>
          <p:nvPr/>
        </p:nvSpPr>
        <p:spPr bwMode="auto">
          <a:xfrm>
            <a:off x="3075975" y="5192900"/>
            <a:ext cx="4464495" cy="409469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0" dirty="0">
                <a:solidFill>
                  <a:schemeClr val="accent2">
                    <a:lumMod val="50000"/>
                  </a:schemeClr>
                </a:solidFill>
              </a:rPr>
              <a:t>Operations planning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067EA747-53C9-FEE8-D0E7-5BB73AC55898}"/>
              </a:ext>
            </a:extLst>
          </p:cNvPr>
          <p:cNvCxnSpPr>
            <a:cxnSpLocks/>
            <a:stCxn id="8" idx="2"/>
            <a:endCxn id="21" idx="0"/>
          </p:cNvCxnSpPr>
          <p:nvPr/>
        </p:nvCxnSpPr>
        <p:spPr bwMode="auto">
          <a:xfrm rot="5400000">
            <a:off x="4750721" y="3812484"/>
            <a:ext cx="1115698" cy="696"/>
          </a:xfrm>
          <a:prstGeom prst="bentConnector3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C9317088-DF03-307F-858D-203FD7F737F2}"/>
              </a:ext>
            </a:extLst>
          </p:cNvPr>
          <p:cNvSpPr/>
          <p:nvPr/>
        </p:nvSpPr>
        <p:spPr bwMode="auto">
          <a:xfrm>
            <a:off x="786882" y="2564904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50" noProof="0" dirty="0">
                <a:solidFill>
                  <a:schemeClr val="accent2">
                    <a:lumMod val="50000"/>
                  </a:schemeClr>
                </a:solidFill>
              </a:rPr>
              <a:t>Business  Architecture 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6CCDBE4-FA51-2230-7BEA-BB6B265B83BC}"/>
              </a:ext>
            </a:extLst>
          </p:cNvPr>
          <p:cNvCxnSpPr>
            <a:stCxn id="32" idx="3"/>
            <a:endCxn id="6" idx="1"/>
          </p:cNvCxnSpPr>
          <p:nvPr/>
        </p:nvCxnSpPr>
        <p:spPr bwMode="auto">
          <a:xfrm flipV="1">
            <a:off x="1722986" y="2885086"/>
            <a:ext cx="152400" cy="3854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5DE6B868-D135-C20A-60E2-824C279BCB15}"/>
              </a:ext>
            </a:extLst>
          </p:cNvPr>
          <p:cNvCxnSpPr>
            <a:cxnSpLocks/>
            <a:endCxn id="32" idx="0"/>
          </p:cNvCxnSpPr>
          <p:nvPr/>
        </p:nvCxnSpPr>
        <p:spPr bwMode="auto">
          <a:xfrm rot="10800000" flipV="1">
            <a:off x="1254935" y="1810952"/>
            <a:ext cx="832939" cy="753952"/>
          </a:xfrm>
          <a:prstGeom prst="bentConnector2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02ED85E3-02B1-3BC7-2FB4-80F305C15D5A}"/>
              </a:ext>
            </a:extLst>
          </p:cNvPr>
          <p:cNvSpPr txBox="1"/>
          <p:nvPr/>
        </p:nvSpPr>
        <p:spPr>
          <a:xfrm>
            <a:off x="2050238" y="1668516"/>
            <a:ext cx="15225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1" noProof="0" dirty="0">
                <a:solidFill>
                  <a:schemeClr val="accent2">
                    <a:lumMod val="50000"/>
                  </a:schemeClr>
                </a:solidFill>
              </a:rPr>
              <a:t>Enterprise  Strategy</a:t>
            </a:r>
          </a:p>
        </p:txBody>
      </p: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A3F7235B-F225-D34D-A6E0-90D0338193EA}"/>
              </a:ext>
            </a:extLst>
          </p:cNvPr>
          <p:cNvCxnSpPr>
            <a:endCxn id="6" idx="0"/>
          </p:cNvCxnSpPr>
          <p:nvPr/>
        </p:nvCxnSpPr>
        <p:spPr bwMode="auto">
          <a:xfrm rot="10800000" flipV="1">
            <a:off x="2343438" y="2213616"/>
            <a:ext cx="503482" cy="347434"/>
          </a:xfrm>
          <a:prstGeom prst="bentConnector2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7F1614A5-4C0E-0AA8-C6B4-02BF1E7A41EC}"/>
              </a:ext>
            </a:extLst>
          </p:cNvPr>
          <p:cNvSpPr txBox="1"/>
          <p:nvPr/>
        </p:nvSpPr>
        <p:spPr>
          <a:xfrm>
            <a:off x="2936776" y="2091327"/>
            <a:ext cx="193936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0" i="1" noProof="0" dirty="0">
                <a:solidFill>
                  <a:schemeClr val="accent2">
                    <a:lumMod val="50000"/>
                  </a:schemeClr>
                </a:solidFill>
              </a:rPr>
              <a:t>Technology Opportunities</a:t>
            </a:r>
          </a:p>
        </p:txBody>
      </p: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B4DB3E49-10B3-EA6A-0271-077CC190C62E}"/>
              </a:ext>
            </a:extLst>
          </p:cNvPr>
          <p:cNvCxnSpPr>
            <a:cxnSpLocks/>
            <a:stCxn id="21" idx="2"/>
            <a:endCxn id="39" idx="0"/>
          </p:cNvCxnSpPr>
          <p:nvPr/>
        </p:nvCxnSpPr>
        <p:spPr bwMode="auto">
          <a:xfrm rot="16200000" flipH="1">
            <a:off x="5101847" y="4986524"/>
            <a:ext cx="412750" cy="1"/>
          </a:xfrm>
          <a:prstGeom prst="bentConnector3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Box 22">
            <a:extLst>
              <a:ext uri="{FF2B5EF4-FFF2-40B4-BE49-F238E27FC236}">
                <a16:creationId xmlns:a16="http://schemas.microsoft.com/office/drawing/2014/main" id="{B5135944-6879-E5E7-1D89-69F3BB33107F}"/>
              </a:ext>
            </a:extLst>
          </p:cNvPr>
          <p:cNvSpPr txBox="1"/>
          <p:nvPr/>
        </p:nvSpPr>
        <p:spPr>
          <a:xfrm>
            <a:off x="7620952" y="5914742"/>
            <a:ext cx="152250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0" i="1" noProof="0" dirty="0">
                <a:solidFill>
                  <a:schemeClr val="accent2">
                    <a:lumMod val="50000"/>
                  </a:schemeClr>
                </a:solidFill>
              </a:rPr>
              <a:t>Bottom-up requests </a:t>
            </a:r>
          </a:p>
        </p:txBody>
      </p:sp>
      <p:sp>
        <p:nvSpPr>
          <p:cNvPr id="46" name="Rectangle 35">
            <a:extLst>
              <a:ext uri="{FF2B5EF4-FFF2-40B4-BE49-F238E27FC236}">
                <a16:creationId xmlns:a16="http://schemas.microsoft.com/office/drawing/2014/main" id="{A0A6F6B9-E6BB-FF33-BA4B-87FBF4912C6A}"/>
              </a:ext>
            </a:extLst>
          </p:cNvPr>
          <p:cNvSpPr/>
          <p:nvPr/>
        </p:nvSpPr>
        <p:spPr bwMode="auto">
          <a:xfrm>
            <a:off x="6243316" y="1255632"/>
            <a:ext cx="3346101" cy="2556696"/>
          </a:xfrm>
          <a:prstGeom prst="rect">
            <a:avLst/>
          </a:prstGeom>
          <a:noFill/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0" dirty="0">
                <a:solidFill>
                  <a:schemeClr val="accent2">
                    <a:lumMod val="50000"/>
                  </a:schemeClr>
                </a:solidFill>
              </a:rPr>
              <a:t>Resources Planning </a:t>
            </a:r>
          </a:p>
        </p:txBody>
      </p:sp>
      <p:cxnSp>
        <p:nvCxnSpPr>
          <p:cNvPr id="75" name="Connector: Elbow 42">
            <a:extLst>
              <a:ext uri="{FF2B5EF4-FFF2-40B4-BE49-F238E27FC236}">
                <a16:creationId xmlns:a16="http://schemas.microsoft.com/office/drawing/2014/main" id="{9496E46B-B32F-2717-343E-4BF630F318F9}"/>
              </a:ext>
            </a:extLst>
          </p:cNvPr>
          <p:cNvCxnSpPr>
            <a:cxnSpLocks/>
            <a:stCxn id="46" idx="2"/>
            <a:endCxn id="39" idx="3"/>
          </p:cNvCxnSpPr>
          <p:nvPr/>
        </p:nvCxnSpPr>
        <p:spPr bwMode="auto">
          <a:xfrm rot="5400000">
            <a:off x="6935766" y="4417033"/>
            <a:ext cx="1585307" cy="375897"/>
          </a:xfrm>
          <a:prstGeom prst="bentConnector2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3" name="Connector: Elbow 42">
            <a:extLst>
              <a:ext uri="{FF2B5EF4-FFF2-40B4-BE49-F238E27FC236}">
                <a16:creationId xmlns:a16="http://schemas.microsoft.com/office/drawing/2014/main" id="{513F2FBB-36B5-91DA-957E-1B9EECB44490}"/>
              </a:ext>
            </a:extLst>
          </p:cNvPr>
          <p:cNvCxnSpPr>
            <a:cxnSpLocks/>
            <a:stCxn id="46" idx="2"/>
            <a:endCxn id="21" idx="3"/>
          </p:cNvCxnSpPr>
          <p:nvPr/>
        </p:nvCxnSpPr>
        <p:spPr bwMode="auto">
          <a:xfrm rot="5400000">
            <a:off x="7346875" y="4005924"/>
            <a:ext cx="763088" cy="375897"/>
          </a:xfrm>
          <a:prstGeom prst="bentConnector2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308012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42346-4F05-D5BE-0226-F7B0B6CC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56E54D-1580-5853-5A8B-07FE1D02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noProof="0" dirty="0">
                <a:solidFill>
                  <a:schemeClr val="accent2">
                    <a:lumMod val="50000"/>
                  </a:schemeClr>
                </a:solidFill>
              </a:rPr>
              <a:t>IT MANAGEMENT: PORTFOLIO MANAGEMENT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AED178EB-6192-385A-521C-EB7E99340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fontScale="92500" lnSpcReduction="20000"/>
          </a:bodyPr>
          <a:lstStyle/>
          <a:p>
            <a:r>
              <a:rPr lang="en-US" noProof="0" dirty="0"/>
              <a:t>The portfolio includes project proposals originated from strategic planning or bottom-up requests from Demand Managers or other sources  </a:t>
            </a:r>
          </a:p>
          <a:p>
            <a:pPr lvl="1"/>
            <a:r>
              <a:rPr lang="en-US" noProof="0" dirty="0"/>
              <a:t>Top-down proposals reflect big budget initiatives that innovate the core of the corporate digital architecture, e.g., </a:t>
            </a:r>
            <a:r>
              <a:rPr lang="en-US" noProof="0" dirty="0" err="1"/>
              <a:t>Lakewarehouse</a:t>
            </a:r>
            <a:r>
              <a:rPr lang="en-US" noProof="0" dirty="0"/>
              <a:t> in Healthcare</a:t>
            </a:r>
          </a:p>
          <a:p>
            <a:pPr lvl="1"/>
            <a:r>
              <a:rPr lang="en-US" noProof="0" dirty="0"/>
              <a:t>Bottom-up requests address existing apps or infrastructures, and reflect improvements, additions, regulation compliance; generally, their budget is smaller</a:t>
            </a:r>
          </a:p>
          <a:p>
            <a:r>
              <a:rPr lang="en-US" noProof="0" dirty="0"/>
              <a:t>Portfolio management is intended to balance strategic innovation with the maintenance of existing applications within available resources </a:t>
            </a:r>
          </a:p>
          <a:p>
            <a:r>
              <a:rPr lang="en-US" noProof="0" dirty="0"/>
              <a:t>Portfolio management typically is a high-level management process, run by a committee at Vice-President level, e.g., Chief Information Officer, Chief Technology Officer, Chief Operations Officer, Chief Financial Officer</a:t>
            </a:r>
          </a:p>
          <a:p>
            <a:r>
              <a:rPr lang="en-US" noProof="0" dirty="0"/>
              <a:t>This committee, often called Systems or IT Committee, decides priorities - projects to launch, postpone or discard.</a:t>
            </a:r>
          </a:p>
        </p:txBody>
      </p:sp>
    </p:spTree>
    <p:extLst>
      <p:ext uri="{BB962C8B-B14F-4D97-AF65-F5344CB8AC3E}">
        <p14:creationId xmlns:p14="http://schemas.microsoft.com/office/powerpoint/2010/main" val="4197466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082" name="AutoShape 2">
            <a:extLst>
              <a:ext uri="{FF2B5EF4-FFF2-40B4-BE49-F238E27FC236}">
                <a16:creationId xmlns:a16="http://schemas.microsoft.com/office/drawing/2014/main" id="{41E4BB14-A356-E935-E931-9C415F288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3299" y="1268413"/>
            <a:ext cx="1008062" cy="5040312"/>
          </a:xfrm>
          <a:prstGeom prst="downArrow">
            <a:avLst>
              <a:gd name="adj1" fmla="val 45093"/>
              <a:gd name="adj2" fmla="val 43773"/>
            </a:avLst>
          </a:prstGeom>
          <a:solidFill>
            <a:srgbClr val="CFE1ED"/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DF4DC64A-F7EB-439D-992F-125D8CF42C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lang="en-US" sz="2400" noProof="0" dirty="0">
                <a:solidFill>
                  <a:schemeClr val="accent2">
                    <a:lumMod val="50000"/>
                  </a:schemeClr>
                </a:solidFill>
              </a:rPr>
              <a:t>IT MANAGEMENT: PORTFOLIO MANAGEMENT</a:t>
            </a:r>
            <a:endParaRPr lang="en-US" sz="2400" noProof="0" dirty="0"/>
          </a:p>
        </p:txBody>
      </p:sp>
      <p:sp>
        <p:nvSpPr>
          <p:cNvPr id="9" name="Segnaposto contenuto 8">
            <a:extLst>
              <a:ext uri="{FF2B5EF4-FFF2-40B4-BE49-F238E27FC236}">
                <a16:creationId xmlns:a16="http://schemas.microsoft.com/office/drawing/2014/main" id="{27B82E6C-D6FA-8681-C38D-0D0A074D1D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ctr">
            <a:normAutofit fontScale="92500" lnSpcReduction="20000"/>
          </a:bodyPr>
          <a:lstStyle/>
          <a:p>
            <a:pPr eaLnBrk="1" hangingPunct="1">
              <a:spcBef>
                <a:spcPts val="300"/>
              </a:spcBef>
            </a:pPr>
            <a:r>
              <a:rPr lang="en-US" noProof="0" dirty="0"/>
              <a:t>The Project Portfolio is created in a series of steps</a:t>
            </a:r>
          </a:p>
          <a:p>
            <a:pPr lvl="1" eaLnBrk="1" hangingPunct="1">
              <a:spcBef>
                <a:spcPts val="300"/>
              </a:spcBef>
            </a:pPr>
            <a:r>
              <a:rPr lang="en-US" sz="1400" noProof="0" dirty="0"/>
              <a:t>Consolidation of gathered initiative proposals </a:t>
            </a:r>
          </a:p>
          <a:p>
            <a:pPr lvl="1" eaLnBrk="1" hangingPunct="1">
              <a:spcBef>
                <a:spcPts val="300"/>
              </a:spcBef>
            </a:pPr>
            <a:r>
              <a:rPr lang="en-US" sz="1400" noProof="0" dirty="0"/>
              <a:t>Assessment of proposals</a:t>
            </a:r>
          </a:p>
          <a:p>
            <a:pPr lvl="1" eaLnBrk="1" hangingPunct="1">
              <a:spcBef>
                <a:spcPts val="300"/>
              </a:spcBef>
            </a:pPr>
            <a:r>
              <a:rPr lang="en-US" sz="1400" noProof="0" dirty="0"/>
              <a:t>Selection of proposals</a:t>
            </a:r>
          </a:p>
          <a:p>
            <a:pPr eaLnBrk="1" hangingPunct="1">
              <a:spcBef>
                <a:spcPts val="300"/>
              </a:spcBef>
            </a:pPr>
            <a:r>
              <a:rPr lang="en-US" noProof="0" dirty="0"/>
              <a:t>Consolidation is an ad hoc process </a:t>
            </a:r>
          </a:p>
          <a:p>
            <a:pPr eaLnBrk="1" hangingPunct="1">
              <a:spcBef>
                <a:spcPts val="300"/>
              </a:spcBef>
            </a:pPr>
            <a:r>
              <a:rPr lang="en-US" noProof="0" dirty="0"/>
              <a:t>Assessment usually include the evaluation of: </a:t>
            </a:r>
          </a:p>
          <a:p>
            <a:pPr lvl="1" eaLnBrk="1" hangingPunct="1">
              <a:spcBef>
                <a:spcPts val="300"/>
              </a:spcBef>
            </a:pPr>
            <a:r>
              <a:rPr lang="en-US" sz="1400" noProof="0" dirty="0"/>
              <a:t>Cost/Benefit  (Business  Return);</a:t>
            </a:r>
          </a:p>
          <a:p>
            <a:pPr lvl="1" eaLnBrk="1" hangingPunct="1">
              <a:spcBef>
                <a:spcPts val="300"/>
              </a:spcBef>
            </a:pPr>
            <a:r>
              <a:rPr lang="en-US" sz="1400" noProof="0" dirty="0"/>
              <a:t>Risk (usually by score)</a:t>
            </a:r>
          </a:p>
          <a:p>
            <a:pPr lvl="1" eaLnBrk="1" hangingPunct="1">
              <a:spcBef>
                <a:spcPts val="300"/>
              </a:spcBef>
            </a:pPr>
            <a:r>
              <a:rPr lang="en-US" sz="1400" noProof="0" dirty="0"/>
              <a:t>IT/Business Alignment  (usually by score)</a:t>
            </a:r>
          </a:p>
          <a:p>
            <a:pPr eaLnBrk="1" hangingPunct="1">
              <a:spcBef>
                <a:spcPts val="300"/>
              </a:spcBef>
            </a:pPr>
            <a:r>
              <a:rPr lang="en-US" noProof="0" dirty="0"/>
              <a:t>Selection is iterative: approved initiatives make  the Project Portfolio</a:t>
            </a:r>
          </a:p>
        </p:txBody>
      </p:sp>
      <p:grpSp>
        <p:nvGrpSpPr>
          <p:cNvPr id="18440" name="Group 7">
            <a:extLst>
              <a:ext uri="{FF2B5EF4-FFF2-40B4-BE49-F238E27FC236}">
                <a16:creationId xmlns:a16="http://schemas.microsoft.com/office/drawing/2014/main" id="{08FBBEB1-1CE7-8111-DC48-E85C99A0295B}"/>
              </a:ext>
            </a:extLst>
          </p:cNvPr>
          <p:cNvGrpSpPr>
            <a:grpSpLocks/>
          </p:cNvGrpSpPr>
          <p:nvPr/>
        </p:nvGrpSpPr>
        <p:grpSpPr bwMode="auto">
          <a:xfrm>
            <a:off x="5961136" y="4289425"/>
            <a:ext cx="2376488" cy="1420813"/>
            <a:chOff x="2893" y="3294"/>
            <a:chExt cx="1497" cy="680"/>
          </a:xfrm>
          <a:solidFill>
            <a:schemeClr val="bg1">
              <a:lumMod val="50000"/>
            </a:schemeClr>
          </a:solidFill>
        </p:grpSpPr>
        <p:sp>
          <p:nvSpPr>
            <p:cNvPr id="2478088" name="Freeform 8">
              <a:extLst>
                <a:ext uri="{FF2B5EF4-FFF2-40B4-BE49-F238E27FC236}">
                  <a16:creationId xmlns:a16="http://schemas.microsoft.com/office/drawing/2014/main" id="{6F7759C6-838F-E629-D4E7-0D069CD9EF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3" y="3384"/>
              <a:ext cx="1497" cy="59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90" y="409"/>
                </a:cxn>
                <a:cxn ang="0">
                  <a:pos x="590" y="590"/>
                </a:cxn>
                <a:cxn ang="0">
                  <a:pos x="998" y="590"/>
                </a:cxn>
                <a:cxn ang="0">
                  <a:pos x="998" y="409"/>
                </a:cxn>
                <a:cxn ang="0">
                  <a:pos x="1497" y="0"/>
                </a:cxn>
                <a:cxn ang="0">
                  <a:pos x="0" y="0"/>
                </a:cxn>
              </a:cxnLst>
              <a:rect l="0" t="0" r="r" b="b"/>
              <a:pathLst>
                <a:path w="1497" h="590">
                  <a:moveTo>
                    <a:pt x="0" y="0"/>
                  </a:moveTo>
                  <a:lnTo>
                    <a:pt x="590" y="409"/>
                  </a:lnTo>
                  <a:lnTo>
                    <a:pt x="590" y="590"/>
                  </a:lnTo>
                  <a:lnTo>
                    <a:pt x="998" y="590"/>
                  </a:lnTo>
                  <a:lnTo>
                    <a:pt x="998" y="409"/>
                  </a:lnTo>
                  <a:lnTo>
                    <a:pt x="149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2700" cap="flat" cmpd="sng">
              <a:solidFill>
                <a:schemeClr val="bg2"/>
              </a:solidFill>
              <a:prstDash val="solid"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en-US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478089" name="Oval 9">
              <a:extLst>
                <a:ext uri="{FF2B5EF4-FFF2-40B4-BE49-F238E27FC236}">
                  <a16:creationId xmlns:a16="http://schemas.microsoft.com/office/drawing/2014/main" id="{B0A897F2-2D98-6B16-6957-7D043F0080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3" y="3294"/>
              <a:ext cx="1497" cy="181"/>
            </a:xfrm>
            <a:prstGeom prst="ellipse">
              <a:avLst/>
            </a:prstGeom>
            <a:grpFill/>
            <a:ln w="12700" algn="ctr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en-US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sp>
        <p:nvSpPr>
          <p:cNvPr id="18441" name="Text Box 10">
            <a:extLst>
              <a:ext uri="{FF2B5EF4-FFF2-40B4-BE49-F238E27FC236}">
                <a16:creationId xmlns:a16="http://schemas.microsoft.com/office/drawing/2014/main" id="{C6BF4ECD-B8B8-1C0A-141B-CD2F7B78A3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5586" y="5949950"/>
            <a:ext cx="2692400" cy="630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 b="1" i="0" noProof="0" dirty="0">
                <a:solidFill>
                  <a:schemeClr val="bg2"/>
                </a:solidFill>
                <a:latin typeface="Tahoma" panose="020B0604030504040204" pitchFamily="34" charset="0"/>
              </a:rPr>
              <a:t>Approved Initiatives </a:t>
            </a:r>
          </a:p>
          <a:p>
            <a:pPr algn="ctr">
              <a:spcBef>
                <a:spcPct val="50000"/>
              </a:spcBef>
            </a:pPr>
            <a:r>
              <a:rPr lang="en-US" sz="1400" b="1" i="0" noProof="0" dirty="0">
                <a:solidFill>
                  <a:schemeClr val="bg2"/>
                </a:solidFill>
                <a:latin typeface="Tahoma" panose="020B0604030504040204" pitchFamily="34" charset="0"/>
              </a:rPr>
              <a:t>(Status: approved)</a:t>
            </a:r>
          </a:p>
        </p:txBody>
      </p:sp>
      <p:sp>
        <p:nvSpPr>
          <p:cNvPr id="18442" name="Text Box 11">
            <a:extLst>
              <a:ext uri="{FF2B5EF4-FFF2-40B4-BE49-F238E27FC236}">
                <a16:creationId xmlns:a16="http://schemas.microsoft.com/office/drawing/2014/main" id="{BEE897F1-5DC1-185B-2549-66617698B2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2936" y="4702175"/>
            <a:ext cx="17557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600" b="1" i="0" noProof="0" dirty="0">
                <a:solidFill>
                  <a:schemeClr val="bg1"/>
                </a:solidFill>
                <a:latin typeface="Tahoma" panose="020B0604030504040204" pitchFamily="34" charset="0"/>
              </a:rPr>
              <a:t>Selection</a:t>
            </a:r>
          </a:p>
        </p:txBody>
      </p:sp>
      <p:grpSp>
        <p:nvGrpSpPr>
          <p:cNvPr id="18443" name="Group 12">
            <a:extLst>
              <a:ext uri="{FF2B5EF4-FFF2-40B4-BE49-F238E27FC236}">
                <a16:creationId xmlns:a16="http://schemas.microsoft.com/office/drawing/2014/main" id="{A9F96E56-7CF0-4836-A42C-D8532C625581}"/>
              </a:ext>
            </a:extLst>
          </p:cNvPr>
          <p:cNvGrpSpPr>
            <a:grpSpLocks/>
          </p:cNvGrpSpPr>
          <p:nvPr/>
        </p:nvGrpSpPr>
        <p:grpSpPr bwMode="auto">
          <a:xfrm>
            <a:off x="5168974" y="3981450"/>
            <a:ext cx="1327150" cy="938213"/>
            <a:chOff x="580" y="1752"/>
            <a:chExt cx="1080" cy="863"/>
          </a:xfrm>
        </p:grpSpPr>
        <p:sp>
          <p:nvSpPr>
            <p:cNvPr id="2478093" name="Line 13">
              <a:extLst>
                <a:ext uri="{FF2B5EF4-FFF2-40B4-BE49-F238E27FC236}">
                  <a16:creationId xmlns:a16="http://schemas.microsoft.com/office/drawing/2014/main" id="{CB9B7DFA-E2AC-83F6-EE15-78662456A2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0" y="1752"/>
              <a:ext cx="862" cy="0"/>
            </a:xfrm>
            <a:prstGeom prst="line">
              <a:avLst/>
            </a:prstGeom>
            <a:noFill/>
            <a:ln w="9525">
              <a:solidFill>
                <a:srgbClr val="70A4C8"/>
              </a:solidFill>
              <a:round/>
              <a:headEnd type="triangle" w="med" len="med"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en-US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478094" name="Line 14">
              <a:extLst>
                <a:ext uri="{FF2B5EF4-FFF2-40B4-BE49-F238E27FC236}">
                  <a16:creationId xmlns:a16="http://schemas.microsoft.com/office/drawing/2014/main" id="{176DBF4E-610E-6593-8E6D-8EEEA3D9A3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80" y="1752"/>
              <a:ext cx="0" cy="863"/>
            </a:xfrm>
            <a:prstGeom prst="line">
              <a:avLst/>
            </a:prstGeom>
            <a:noFill/>
            <a:ln w="9525">
              <a:solidFill>
                <a:srgbClr val="70A4C8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en-US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478095" name="Line 15">
              <a:extLst>
                <a:ext uri="{FF2B5EF4-FFF2-40B4-BE49-F238E27FC236}">
                  <a16:creationId xmlns:a16="http://schemas.microsoft.com/office/drawing/2014/main" id="{555A0EA6-2B2A-3CFA-5539-E6FDB7F39C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0" y="2615"/>
              <a:ext cx="1080" cy="0"/>
            </a:xfrm>
            <a:prstGeom prst="line">
              <a:avLst/>
            </a:prstGeom>
            <a:noFill/>
            <a:ln w="9525">
              <a:solidFill>
                <a:srgbClr val="70A4C8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en-US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sp>
        <p:nvSpPr>
          <p:cNvPr id="2478096" name="Line 16">
            <a:extLst>
              <a:ext uri="{FF2B5EF4-FFF2-40B4-BE49-F238E27FC236}">
                <a16:creationId xmlns:a16="http://schemas.microsoft.com/office/drawing/2014/main" id="{8A84F59E-DACD-216B-D1F3-5DC09D5B1DF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68974" y="5029200"/>
            <a:ext cx="1327150" cy="0"/>
          </a:xfrm>
          <a:prstGeom prst="line">
            <a:avLst/>
          </a:prstGeom>
          <a:noFill/>
          <a:ln w="9525">
            <a:solidFill>
              <a:srgbClr val="70A4C8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2478097" name="Line 17">
            <a:extLst>
              <a:ext uri="{FF2B5EF4-FFF2-40B4-BE49-F238E27FC236}">
                <a16:creationId xmlns:a16="http://schemas.microsoft.com/office/drawing/2014/main" id="{6550067C-6797-8A6A-0BD3-71E84C2124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68974" y="5060950"/>
            <a:ext cx="0" cy="647700"/>
          </a:xfrm>
          <a:prstGeom prst="line">
            <a:avLst/>
          </a:prstGeom>
          <a:noFill/>
          <a:ln w="9525">
            <a:solidFill>
              <a:srgbClr val="70A4C8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18446" name="Text Box 18">
            <a:extLst>
              <a:ext uri="{FF2B5EF4-FFF2-40B4-BE49-F238E27FC236}">
                <a16:creationId xmlns:a16="http://schemas.microsoft.com/office/drawing/2014/main" id="{9223144C-16F8-3085-0ADA-CCDFD4466F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4774" y="5013325"/>
            <a:ext cx="2816225" cy="566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sz="1400" i="0" noProof="0" dirty="0">
                <a:solidFill>
                  <a:schemeClr val="bg1">
                    <a:lumMod val="50000"/>
                  </a:schemeClr>
                </a:solidFill>
              </a:rPr>
              <a:t>Discarded</a:t>
            </a:r>
          </a:p>
          <a:p>
            <a:pPr algn="ctr">
              <a:spcBef>
                <a:spcPct val="20000"/>
              </a:spcBef>
            </a:pPr>
            <a:r>
              <a:rPr lang="en-US" sz="1400" i="0" noProof="0" dirty="0">
                <a:solidFill>
                  <a:schemeClr val="bg1">
                    <a:lumMod val="50000"/>
                  </a:schemeClr>
                </a:solidFill>
              </a:rPr>
              <a:t>(Status: Rejected)</a:t>
            </a:r>
          </a:p>
        </p:txBody>
      </p:sp>
      <p:sp>
        <p:nvSpPr>
          <p:cNvPr id="18448" name="Text Box 20">
            <a:extLst>
              <a:ext uri="{FF2B5EF4-FFF2-40B4-BE49-F238E27FC236}">
                <a16:creationId xmlns:a16="http://schemas.microsoft.com/office/drawing/2014/main" id="{21A56908-5987-258A-9EC0-1DC02B7D0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9699" y="3578225"/>
            <a:ext cx="2879725" cy="630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 b="1" i="0" noProof="0" dirty="0">
                <a:solidFill>
                  <a:schemeClr val="bg2"/>
                </a:solidFill>
                <a:latin typeface="Tahoma" panose="020B0604030504040204" pitchFamily="34" charset="0"/>
              </a:rPr>
              <a:t>Assessed Initiatives </a:t>
            </a:r>
          </a:p>
          <a:p>
            <a:pPr algn="ctr">
              <a:spcBef>
                <a:spcPct val="50000"/>
              </a:spcBef>
            </a:pPr>
            <a:r>
              <a:rPr lang="en-US" sz="1400" b="1" i="0" noProof="0" dirty="0">
                <a:solidFill>
                  <a:schemeClr val="bg2"/>
                </a:solidFill>
                <a:latin typeface="Tahoma" panose="020B0604030504040204" pitchFamily="34" charset="0"/>
              </a:rPr>
              <a:t>(Status: </a:t>
            </a:r>
            <a:r>
              <a:rPr lang="en-US" sz="1400" i="0" noProof="0" dirty="0">
                <a:solidFill>
                  <a:schemeClr val="bg2"/>
                </a:solidFill>
                <a:latin typeface="Tahoma" panose="020B0604030504040204" pitchFamily="34" charset="0"/>
              </a:rPr>
              <a:t>to approve</a:t>
            </a:r>
            <a:r>
              <a:rPr lang="en-US" sz="1400" b="1" i="0" noProof="0" dirty="0">
                <a:solidFill>
                  <a:schemeClr val="bg2"/>
                </a:solidFill>
                <a:latin typeface="Tahoma" panose="020B0604030504040204" pitchFamily="34" charset="0"/>
              </a:rPr>
              <a:t>)</a:t>
            </a:r>
          </a:p>
        </p:txBody>
      </p:sp>
      <p:sp>
        <p:nvSpPr>
          <p:cNvPr id="18449" name="Text Box 21">
            <a:extLst>
              <a:ext uri="{FF2B5EF4-FFF2-40B4-BE49-F238E27FC236}">
                <a16:creationId xmlns:a16="http://schemas.microsoft.com/office/drawing/2014/main" id="{DEC0447A-739A-0B09-F095-56C4A5C6E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5236" y="1268413"/>
            <a:ext cx="28797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 b="1" i="0" noProof="0" dirty="0">
                <a:solidFill>
                  <a:schemeClr val="bg2"/>
                </a:solidFill>
                <a:latin typeface="Tahoma" panose="020B0604030504040204" pitchFamily="34" charset="0"/>
              </a:rPr>
              <a:t>Initiatives</a:t>
            </a:r>
          </a:p>
        </p:txBody>
      </p:sp>
      <p:sp>
        <p:nvSpPr>
          <p:cNvPr id="18450" name="Text Box 22">
            <a:extLst>
              <a:ext uri="{FF2B5EF4-FFF2-40B4-BE49-F238E27FC236}">
                <a16:creationId xmlns:a16="http://schemas.microsoft.com/office/drawing/2014/main" id="{093D7F46-7D12-8C51-37A2-7FA5DF2812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6674" y="2420938"/>
            <a:ext cx="28797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 b="1" i="0" noProof="0" dirty="0">
                <a:solidFill>
                  <a:schemeClr val="bg2"/>
                </a:solidFill>
                <a:latin typeface="Tahoma" panose="020B0604030504040204" pitchFamily="34" charset="0"/>
              </a:rPr>
              <a:t>Consolidated Initiatives</a:t>
            </a:r>
          </a:p>
        </p:txBody>
      </p:sp>
      <p:sp>
        <p:nvSpPr>
          <p:cNvPr id="2478103" name="Rectangle 23">
            <a:extLst>
              <a:ext uri="{FF2B5EF4-FFF2-40B4-BE49-F238E27FC236}">
                <a16:creationId xmlns:a16="http://schemas.microsoft.com/office/drawing/2014/main" id="{7134E256-F3D4-8B0C-B706-CF7B7ED20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5961" y="1747838"/>
            <a:ext cx="215900" cy="144462"/>
          </a:xfrm>
          <a:prstGeom prst="rect">
            <a:avLst/>
          </a:prstGeom>
          <a:solidFill>
            <a:srgbClr val="70A4C8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2478104" name="Rectangle 24">
            <a:extLst>
              <a:ext uri="{FF2B5EF4-FFF2-40B4-BE49-F238E27FC236}">
                <a16:creationId xmlns:a16="http://schemas.microsoft.com/office/drawing/2014/main" id="{A8162E35-C453-2026-776A-3A0EF887F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3299" y="1747838"/>
            <a:ext cx="215900" cy="144462"/>
          </a:xfrm>
          <a:prstGeom prst="rect">
            <a:avLst/>
          </a:prstGeom>
          <a:solidFill>
            <a:srgbClr val="70A4C8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2478105" name="Rectangle 25">
            <a:extLst>
              <a:ext uri="{FF2B5EF4-FFF2-40B4-BE49-F238E27FC236}">
                <a16:creationId xmlns:a16="http://schemas.microsoft.com/office/drawing/2014/main" id="{AADECAD4-8E87-527E-B58A-2C08CA3DA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2224" y="1747838"/>
            <a:ext cx="215900" cy="144462"/>
          </a:xfrm>
          <a:prstGeom prst="rect">
            <a:avLst/>
          </a:prstGeom>
          <a:solidFill>
            <a:srgbClr val="70A4C8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2478106" name="Rectangle 26">
            <a:extLst>
              <a:ext uri="{FF2B5EF4-FFF2-40B4-BE49-F238E27FC236}">
                <a16:creationId xmlns:a16="http://schemas.microsoft.com/office/drawing/2014/main" id="{87CD466B-3753-6AB5-1EA4-FB4B70EF4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5461" y="1747838"/>
            <a:ext cx="215900" cy="144462"/>
          </a:xfrm>
          <a:prstGeom prst="rect">
            <a:avLst/>
          </a:prstGeom>
          <a:solidFill>
            <a:srgbClr val="70A4C8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2478107" name="Rectangle 27">
            <a:extLst>
              <a:ext uri="{FF2B5EF4-FFF2-40B4-BE49-F238E27FC236}">
                <a16:creationId xmlns:a16="http://schemas.microsoft.com/office/drawing/2014/main" id="{134A8B2A-C542-973B-3BC6-23D6512A1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1499" y="2852738"/>
            <a:ext cx="1727200" cy="57626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algn="ctr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18456" name="Text Box 28">
            <a:extLst>
              <a:ext uri="{FF2B5EF4-FFF2-40B4-BE49-F238E27FC236}">
                <a16:creationId xmlns:a16="http://schemas.microsoft.com/office/drawing/2014/main" id="{DAFDCAA0-9F74-31FF-4035-8A7ABB8A74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1499" y="2947988"/>
            <a:ext cx="17557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600" b="1" i="0" noProof="0" dirty="0">
                <a:solidFill>
                  <a:schemeClr val="bg1"/>
                </a:solidFill>
                <a:latin typeface="Tahoma" panose="020B0604030504040204" pitchFamily="34" charset="0"/>
              </a:rPr>
              <a:t>Assessment</a:t>
            </a:r>
          </a:p>
        </p:txBody>
      </p:sp>
      <p:sp>
        <p:nvSpPr>
          <p:cNvPr id="2478109" name="AutoShape 29">
            <a:extLst>
              <a:ext uri="{FF2B5EF4-FFF2-40B4-BE49-F238E27FC236}">
                <a16:creationId xmlns:a16="http://schemas.microsoft.com/office/drawing/2014/main" id="{E86F9416-1BEF-E98D-E4CB-06AA53CEF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5249" y="1604963"/>
            <a:ext cx="2822575" cy="674687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12700" algn="ctr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18458" name="Text Box 30">
            <a:extLst>
              <a:ext uri="{FF2B5EF4-FFF2-40B4-BE49-F238E27FC236}">
                <a16:creationId xmlns:a16="http://schemas.microsoft.com/office/drawing/2014/main" id="{74052D39-0DB3-E64D-19C5-BF609FE67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0061" y="1771650"/>
            <a:ext cx="1971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600" b="1" i="0" noProof="0" dirty="0">
                <a:solidFill>
                  <a:schemeClr val="bg1"/>
                </a:solidFill>
                <a:latin typeface="Tahoma" panose="020B0604030504040204" pitchFamily="34" charset="0"/>
              </a:rPr>
              <a:t>Consolidation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6" name="Rectangle 5">
            <a:extLst>
              <a:ext uri="{FF2B5EF4-FFF2-40B4-BE49-F238E27FC236}">
                <a16:creationId xmlns:a16="http://schemas.microsoft.com/office/drawing/2014/main" id="{E0D88FD2-1F69-70AE-C1B4-5CFE7A0608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lang="en-US" sz="2400" noProof="0" dirty="0">
                <a:solidFill>
                  <a:schemeClr val="accent2">
                    <a:lumMod val="50000"/>
                  </a:schemeClr>
                </a:solidFill>
              </a:rPr>
              <a:t>IT MANAGEMENT: PORTFOLIO MANAGEMENT</a:t>
            </a:r>
            <a:endParaRPr lang="en-US" sz="2400" noProof="0" dirty="0"/>
          </a:p>
        </p:txBody>
      </p:sp>
      <p:pic>
        <p:nvPicPr>
          <p:cNvPr id="25612" name="Picture 46" descr="tempistica">
            <a:extLst>
              <a:ext uri="{FF2B5EF4-FFF2-40B4-BE49-F238E27FC236}">
                <a16:creationId xmlns:a16="http://schemas.microsoft.com/office/drawing/2014/main" id="{928640BB-CFD4-B625-57F9-075D7F0CAC59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75" y="3771113"/>
            <a:ext cx="4346575" cy="1279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8" name="Picture 12" descr="Picture2">
            <a:extLst>
              <a:ext uri="{FF2B5EF4-FFF2-40B4-BE49-F238E27FC236}">
                <a16:creationId xmlns:a16="http://schemas.microsoft.com/office/drawing/2014/main" id="{46781DE4-99B2-2350-139F-88199AE20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050" y="1655887"/>
            <a:ext cx="3516313" cy="198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609" name="Group 13">
            <a:extLst>
              <a:ext uri="{FF2B5EF4-FFF2-40B4-BE49-F238E27FC236}">
                <a16:creationId xmlns:a16="http://schemas.microsoft.com/office/drawing/2014/main" id="{82C31D35-3233-804A-A7A9-1D4724BB9F71}"/>
              </a:ext>
            </a:extLst>
          </p:cNvPr>
          <p:cNvGrpSpPr>
            <a:grpSpLocks/>
          </p:cNvGrpSpPr>
          <p:nvPr/>
        </p:nvGrpSpPr>
        <p:grpSpPr bwMode="auto">
          <a:xfrm>
            <a:off x="5248260" y="1888306"/>
            <a:ext cx="3953212" cy="3052862"/>
            <a:chOff x="444" y="2118"/>
            <a:chExt cx="2530" cy="1848"/>
          </a:xfrm>
        </p:grpSpPr>
        <p:sp>
          <p:nvSpPr>
            <p:cNvPr id="25614" name="Text Box 14">
              <a:extLst>
                <a:ext uri="{FF2B5EF4-FFF2-40B4-BE49-F238E27FC236}">
                  <a16:creationId xmlns:a16="http://schemas.microsoft.com/office/drawing/2014/main" id="{C28A96F1-11B5-8D48-D18A-BDEABFD805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7" y="3859"/>
              <a:ext cx="623" cy="107"/>
            </a:xfrm>
            <a:prstGeom prst="rect">
              <a:avLst/>
            </a:prstGeom>
            <a:noFill/>
            <a:ln w="3175" algn="ctr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2715" tIns="26358" rIns="52715" bIns="26358"/>
            <a:lstStyle>
              <a:lvl1pPr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800" b="1" i="0" noProof="0" dirty="0">
                  <a:solidFill>
                    <a:srgbClr val="000000"/>
                  </a:solidFill>
                </a:rPr>
                <a:t>Non-strategic</a:t>
              </a:r>
              <a:endParaRPr lang="en-US" sz="800" b="1" i="0" noProof="0" dirty="0"/>
            </a:p>
          </p:txBody>
        </p:sp>
        <p:sp>
          <p:nvSpPr>
            <p:cNvPr id="25615" name="Text Box 15">
              <a:extLst>
                <a:ext uri="{FF2B5EF4-FFF2-40B4-BE49-F238E27FC236}">
                  <a16:creationId xmlns:a16="http://schemas.microsoft.com/office/drawing/2014/main" id="{06C11F55-D2D8-760E-3AC0-197AA3C076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7" y="3859"/>
              <a:ext cx="623" cy="107"/>
            </a:xfrm>
            <a:prstGeom prst="rect">
              <a:avLst/>
            </a:prstGeom>
            <a:noFill/>
            <a:ln w="3175" algn="ctr">
              <a:solidFill>
                <a:srgbClr val="99CC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2715" tIns="26358" rIns="52715" bIns="26358"/>
            <a:lstStyle>
              <a:lvl1pPr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800" b="1" i="0" noProof="0" dirty="0">
                  <a:solidFill>
                    <a:srgbClr val="000000"/>
                  </a:solidFill>
                </a:rPr>
                <a:t>Mandatory</a:t>
              </a:r>
              <a:endParaRPr lang="en-US" sz="800" b="1" i="0" noProof="0" dirty="0"/>
            </a:p>
          </p:txBody>
        </p:sp>
        <p:sp>
          <p:nvSpPr>
            <p:cNvPr id="25616" name="Text Box 16">
              <a:extLst>
                <a:ext uri="{FF2B5EF4-FFF2-40B4-BE49-F238E27FC236}">
                  <a16:creationId xmlns:a16="http://schemas.microsoft.com/office/drawing/2014/main" id="{1651D456-6278-B6B8-BF81-EAE41E84DD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7" y="3859"/>
              <a:ext cx="623" cy="107"/>
            </a:xfrm>
            <a:prstGeom prst="rect">
              <a:avLst/>
            </a:prstGeom>
            <a:noFill/>
            <a:ln w="3175" algn="ctr">
              <a:solidFill>
                <a:srgbClr val="3333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2715" tIns="26358" rIns="52715" bIns="26358"/>
            <a:lstStyle>
              <a:lvl1pPr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800" b="1" i="0" noProof="0" dirty="0">
                  <a:solidFill>
                    <a:srgbClr val="000000"/>
                  </a:solidFill>
                </a:rPr>
                <a:t>Strategic</a:t>
              </a:r>
              <a:endParaRPr lang="en-US" sz="800" b="1" i="0" noProof="0" dirty="0"/>
            </a:p>
          </p:txBody>
        </p:sp>
        <p:sp>
          <p:nvSpPr>
            <p:cNvPr id="2494481" name="Rectangle 17">
              <a:extLst>
                <a:ext uri="{FF2B5EF4-FFF2-40B4-BE49-F238E27FC236}">
                  <a16:creationId xmlns:a16="http://schemas.microsoft.com/office/drawing/2014/main" id="{3D250D23-EC2E-91BE-17DA-4DCA2BE709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" y="2589"/>
              <a:ext cx="706" cy="538"/>
            </a:xfrm>
            <a:prstGeom prst="rect">
              <a:avLst/>
            </a:prstGeom>
            <a:solidFill>
              <a:srgbClr val="E9E9E9">
                <a:alpha val="73000"/>
              </a:srgbClr>
            </a:solidFill>
            <a:ln w="31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494482" name="Rectangle 18">
              <a:extLst>
                <a:ext uri="{FF2B5EF4-FFF2-40B4-BE49-F238E27FC236}">
                  <a16:creationId xmlns:a16="http://schemas.microsoft.com/office/drawing/2014/main" id="{A097171B-7777-7FE5-9840-1D847BB950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8" y="2589"/>
              <a:ext cx="666" cy="1111"/>
            </a:xfrm>
            <a:prstGeom prst="rect">
              <a:avLst/>
            </a:prstGeom>
            <a:solidFill>
              <a:srgbClr val="FFFFFF"/>
            </a:solidFill>
            <a:ln w="31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494483" name="Rectangle 19">
              <a:extLst>
                <a:ext uri="{FF2B5EF4-FFF2-40B4-BE49-F238E27FC236}">
                  <a16:creationId xmlns:a16="http://schemas.microsoft.com/office/drawing/2014/main" id="{AB212652-B0E0-3DE0-47CD-9CE484729B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3127"/>
              <a:ext cx="706" cy="574"/>
            </a:xfrm>
            <a:prstGeom prst="rect">
              <a:avLst/>
            </a:pr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shade val="83137"/>
                    <a:invGamma/>
                  </a:srgbClr>
                </a:gs>
              </a:gsLst>
              <a:lin ang="5400000" scaled="1"/>
            </a:gradFill>
            <a:ln w="31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494484" name="Rectangle 20">
              <a:extLst>
                <a:ext uri="{FF2B5EF4-FFF2-40B4-BE49-F238E27FC236}">
                  <a16:creationId xmlns:a16="http://schemas.microsoft.com/office/drawing/2014/main" id="{9A3273B9-25DB-62B4-B15A-02AFE8211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0" y="3127"/>
              <a:ext cx="647" cy="574"/>
            </a:xfrm>
            <a:prstGeom prst="rect">
              <a:avLst/>
            </a:prstGeom>
            <a:gradFill rotWithShape="1">
              <a:gsLst>
                <a:gs pos="0">
                  <a:srgbClr val="C83000">
                    <a:gamma/>
                    <a:shade val="86667"/>
                    <a:invGamma/>
                  </a:srgbClr>
                </a:gs>
                <a:gs pos="100000">
                  <a:srgbClr val="C83000"/>
                </a:gs>
              </a:gsLst>
              <a:lin ang="5400000" scaled="1"/>
            </a:gradFill>
            <a:ln w="31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494485" name="Rectangle 21">
              <a:extLst>
                <a:ext uri="{FF2B5EF4-FFF2-40B4-BE49-F238E27FC236}">
                  <a16:creationId xmlns:a16="http://schemas.microsoft.com/office/drawing/2014/main" id="{6AB7DF85-D507-2010-3F68-47B826083B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0" y="2589"/>
              <a:ext cx="648" cy="538"/>
            </a:xfrm>
            <a:prstGeom prst="rect">
              <a:avLst/>
            </a:prstGeom>
            <a:solidFill>
              <a:srgbClr val="993300"/>
            </a:solidFill>
            <a:ln w="31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5622" name="Text Box 22">
              <a:extLst>
                <a:ext uri="{FF2B5EF4-FFF2-40B4-BE49-F238E27FC236}">
                  <a16:creationId xmlns:a16="http://schemas.microsoft.com/office/drawing/2014/main" id="{F5BEF7B6-6285-4588-86E6-E3A71F8BB3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6" y="3270"/>
              <a:ext cx="560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4008" tIns="32004" rIns="64008" bIns="32004"/>
            <a:lstStyle>
              <a:lvl1pPr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100" b="1" i="0" noProof="0" dirty="0">
                  <a:solidFill>
                    <a:srgbClr val="FFFFFF"/>
                  </a:solidFill>
                </a:rPr>
                <a:t>Evaluate</a:t>
              </a:r>
              <a:endParaRPr lang="en-US" sz="1100" b="1" i="0" noProof="0" dirty="0"/>
            </a:p>
          </p:txBody>
        </p:sp>
        <p:sp>
          <p:nvSpPr>
            <p:cNvPr id="25623" name="Text Box 23">
              <a:extLst>
                <a:ext uri="{FF2B5EF4-FFF2-40B4-BE49-F238E27FC236}">
                  <a16:creationId xmlns:a16="http://schemas.microsoft.com/office/drawing/2014/main" id="{88FDBB3E-0EBD-5378-D204-77FD3F471D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8" y="2890"/>
              <a:ext cx="61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4008" tIns="32004" rIns="64008" bIns="32004"/>
            <a:lstStyle>
              <a:lvl1pPr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100" b="1" i="0" noProof="0" dirty="0">
                  <a:solidFill>
                    <a:srgbClr val="000000"/>
                  </a:solidFill>
                </a:rPr>
                <a:t>Must </a:t>
              </a:r>
            </a:p>
            <a:p>
              <a:pPr algn="ctr">
                <a:spcBef>
                  <a:spcPct val="50000"/>
                </a:spcBef>
              </a:pPr>
              <a:r>
                <a:rPr lang="en-US" sz="1100" b="1" i="0" noProof="0" dirty="0">
                  <a:solidFill>
                    <a:srgbClr val="000000"/>
                  </a:solidFill>
                </a:rPr>
                <a:t>Do!</a:t>
              </a:r>
              <a:endParaRPr lang="en-US" sz="1100" b="1" i="0" noProof="0" dirty="0"/>
            </a:p>
          </p:txBody>
        </p:sp>
        <p:sp>
          <p:nvSpPr>
            <p:cNvPr id="25624" name="Text Box 24">
              <a:extLst>
                <a:ext uri="{FF2B5EF4-FFF2-40B4-BE49-F238E27FC236}">
                  <a16:creationId xmlns:a16="http://schemas.microsoft.com/office/drawing/2014/main" id="{37B02523-C352-9EAD-C4A1-A943F450FF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7" y="3307"/>
              <a:ext cx="447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4008" tIns="32004" rIns="64008" bIns="32004"/>
            <a:lstStyle>
              <a:lvl1pPr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100" b="1" i="0" noProof="0" dirty="0">
                  <a:solidFill>
                    <a:srgbClr val="000000"/>
                  </a:solidFill>
                </a:rPr>
                <a:t>Wait</a:t>
              </a:r>
              <a:endParaRPr lang="en-US" sz="1100" b="1" i="0" noProof="0" dirty="0"/>
            </a:p>
          </p:txBody>
        </p:sp>
        <p:sp>
          <p:nvSpPr>
            <p:cNvPr id="25625" name="Text Box 25">
              <a:extLst>
                <a:ext uri="{FF2B5EF4-FFF2-40B4-BE49-F238E27FC236}">
                  <a16:creationId xmlns:a16="http://schemas.microsoft.com/office/drawing/2014/main" id="{FED8E448-7010-EA9C-6186-4F04F766DA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6" y="2691"/>
              <a:ext cx="555" cy="29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4008" tIns="32004" rIns="64008" bIns="32004" anchor="ctr"/>
            <a:lstStyle>
              <a:lvl1pPr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100" b="1" i="0" noProof="0" dirty="0">
                  <a:solidFill>
                    <a:srgbClr val="000000"/>
                  </a:solidFill>
                </a:rPr>
                <a:t>Consider</a:t>
              </a:r>
              <a:endParaRPr lang="en-US" sz="1100" b="1" i="0" noProof="0" dirty="0"/>
            </a:p>
          </p:txBody>
        </p:sp>
        <p:sp>
          <p:nvSpPr>
            <p:cNvPr id="25626" name="Text Box 26">
              <a:extLst>
                <a:ext uri="{FF2B5EF4-FFF2-40B4-BE49-F238E27FC236}">
                  <a16:creationId xmlns:a16="http://schemas.microsoft.com/office/drawing/2014/main" id="{D9CAA703-D962-C641-A732-993C9AEAC1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7" y="2769"/>
              <a:ext cx="438" cy="179"/>
            </a:xfrm>
            <a:prstGeom prst="rect">
              <a:avLst/>
            </a:prstGeom>
            <a:solidFill>
              <a:srgbClr val="99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4008" tIns="32004" rIns="64008" bIns="32004"/>
            <a:lstStyle>
              <a:lvl1pPr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100" b="1" i="0" noProof="0" dirty="0">
                  <a:solidFill>
                    <a:srgbClr val="FFFFFF"/>
                  </a:solidFill>
                </a:rPr>
                <a:t>Go for it</a:t>
              </a:r>
              <a:endParaRPr lang="en-US" sz="1100" b="1" i="0" noProof="0" dirty="0"/>
            </a:p>
          </p:txBody>
        </p:sp>
        <p:sp>
          <p:nvSpPr>
            <p:cNvPr id="25628" name="Text Box 28">
              <a:extLst>
                <a:ext uri="{FF2B5EF4-FFF2-40B4-BE49-F238E27FC236}">
                  <a16:creationId xmlns:a16="http://schemas.microsoft.com/office/drawing/2014/main" id="{D5B310AB-5693-6C4B-04EC-03ABC8ECA6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" y="2126"/>
              <a:ext cx="41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2715" tIns="26358" rIns="52715" bIns="26358"/>
            <a:lstStyle>
              <a:lvl1pPr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900" b="1" i="0" noProof="0" dirty="0">
                  <a:solidFill>
                    <a:srgbClr val="000000"/>
                  </a:solidFill>
                </a:rPr>
                <a:t>Cost-Benefit Ratio</a:t>
              </a:r>
              <a:endParaRPr lang="en-US" sz="1400" b="1" i="0" noProof="0" dirty="0"/>
            </a:p>
          </p:txBody>
        </p:sp>
        <p:sp>
          <p:nvSpPr>
            <p:cNvPr id="2494493" name="Line 29">
              <a:extLst>
                <a:ext uri="{FF2B5EF4-FFF2-40B4-BE49-F238E27FC236}">
                  <a16:creationId xmlns:a16="http://schemas.microsoft.com/office/drawing/2014/main" id="{4D5EAA6E-72FF-8047-D81C-B522B0C52C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118"/>
              <a:ext cx="0" cy="17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pPr>
                <a:defRPr/>
              </a:pPr>
              <a:endParaRPr lang="en-US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494494" name="Line 30">
              <a:extLst>
                <a:ext uri="{FF2B5EF4-FFF2-40B4-BE49-F238E27FC236}">
                  <a16:creationId xmlns:a16="http://schemas.microsoft.com/office/drawing/2014/main" id="{0E92D502-589E-79B1-44F5-F8F473E6AE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3818"/>
              <a:ext cx="215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>
                <a:defRPr/>
              </a:pPr>
              <a:endParaRPr lang="en-US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494495" name="Line 31">
              <a:extLst>
                <a:ext uri="{FF2B5EF4-FFF2-40B4-BE49-F238E27FC236}">
                  <a16:creationId xmlns:a16="http://schemas.microsoft.com/office/drawing/2014/main" id="{1D3D3100-9D67-FF03-BAEC-D202BAB2A4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0" y="3775"/>
              <a:ext cx="0" cy="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494496" name="Line 32">
              <a:extLst>
                <a:ext uri="{FF2B5EF4-FFF2-40B4-BE49-F238E27FC236}">
                  <a16:creationId xmlns:a16="http://schemas.microsoft.com/office/drawing/2014/main" id="{2643095E-529A-BB5C-E680-CCC271ABE3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4" y="3775"/>
              <a:ext cx="0" cy="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494497" name="Line 33">
              <a:extLst>
                <a:ext uri="{FF2B5EF4-FFF2-40B4-BE49-F238E27FC236}">
                  <a16:creationId xmlns:a16="http://schemas.microsoft.com/office/drawing/2014/main" id="{0C4DB6D7-35EE-22DE-E837-0D6D0C824B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8" y="3753"/>
              <a:ext cx="0" cy="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494498" name="Line 34">
              <a:extLst>
                <a:ext uri="{FF2B5EF4-FFF2-40B4-BE49-F238E27FC236}">
                  <a16:creationId xmlns:a16="http://schemas.microsoft.com/office/drawing/2014/main" id="{F914C5B5-D4BA-C32A-C8AD-E8D0DB8658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9" y="3163"/>
              <a:ext cx="8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494499" name="Line 35">
              <a:extLst>
                <a:ext uri="{FF2B5EF4-FFF2-40B4-BE49-F238E27FC236}">
                  <a16:creationId xmlns:a16="http://schemas.microsoft.com/office/drawing/2014/main" id="{F8FA5925-A827-B8C8-812B-9433EF8A91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9" y="2511"/>
              <a:ext cx="8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5636" name="Text Box 36">
              <a:extLst>
                <a:ext uri="{FF2B5EF4-FFF2-40B4-BE49-F238E27FC236}">
                  <a16:creationId xmlns:a16="http://schemas.microsoft.com/office/drawing/2014/main" id="{C49EDA3B-6DCE-51A7-56E8-686C179A03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" y="3732"/>
              <a:ext cx="240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2715" tIns="26358" rIns="52715" bIns="26358"/>
            <a:lstStyle>
              <a:lvl1pPr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Char char="•"/>
              </a:pPr>
              <a:r>
                <a:rPr lang="en-US" sz="1000" b="1" i="0" noProof="0" dirty="0">
                  <a:solidFill>
                    <a:srgbClr val="000000"/>
                  </a:solidFill>
                </a:rPr>
                <a:t>0</a:t>
              </a:r>
              <a:endParaRPr lang="en-US" sz="1400" b="1" i="0" noProof="0" dirty="0"/>
            </a:p>
          </p:txBody>
        </p:sp>
        <p:sp>
          <p:nvSpPr>
            <p:cNvPr id="25637" name="Text Box 37">
              <a:extLst>
                <a:ext uri="{FF2B5EF4-FFF2-40B4-BE49-F238E27FC236}">
                  <a16:creationId xmlns:a16="http://schemas.microsoft.com/office/drawing/2014/main" id="{927FCBA0-0CF9-AA08-6C2F-C9889500E5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" y="3075"/>
              <a:ext cx="240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2715" tIns="26358" rIns="52715" bIns="26358"/>
            <a:lstStyle>
              <a:lvl1pPr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Char char="•"/>
              </a:pPr>
              <a:r>
                <a:rPr lang="en-US" sz="1000" b="1" i="0" noProof="0" dirty="0">
                  <a:solidFill>
                    <a:srgbClr val="000000"/>
                  </a:solidFill>
                </a:rPr>
                <a:t>1</a:t>
              </a:r>
              <a:endParaRPr lang="en-US" sz="1400" b="1" i="0" noProof="0" dirty="0"/>
            </a:p>
          </p:txBody>
        </p:sp>
        <p:sp>
          <p:nvSpPr>
            <p:cNvPr id="25638" name="Text Box 38">
              <a:extLst>
                <a:ext uri="{FF2B5EF4-FFF2-40B4-BE49-F238E27FC236}">
                  <a16:creationId xmlns:a16="http://schemas.microsoft.com/office/drawing/2014/main" id="{0862338E-1046-C949-FD51-659F995EB8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" y="2421"/>
              <a:ext cx="240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2715" tIns="26358" rIns="52715" bIns="26358"/>
            <a:lstStyle>
              <a:lvl1pPr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Char char="•"/>
              </a:pPr>
              <a:r>
                <a:rPr lang="en-US" sz="1000" b="1" i="0" noProof="0" dirty="0">
                  <a:solidFill>
                    <a:srgbClr val="000000"/>
                  </a:solidFill>
                </a:rPr>
                <a:t>2</a:t>
              </a:r>
              <a:endParaRPr lang="en-US" sz="1400" b="1" i="0" noProof="0" dirty="0"/>
            </a:p>
          </p:txBody>
        </p:sp>
        <p:sp>
          <p:nvSpPr>
            <p:cNvPr id="2494503" name="Line 39">
              <a:extLst>
                <a:ext uri="{FF2B5EF4-FFF2-40B4-BE49-F238E27FC236}">
                  <a16:creationId xmlns:a16="http://schemas.microsoft.com/office/drawing/2014/main" id="{E2D0A552-1373-0329-0018-9ECC9904E4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511"/>
              <a:ext cx="1984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494504" name="Line 40">
              <a:extLst>
                <a:ext uri="{FF2B5EF4-FFF2-40B4-BE49-F238E27FC236}">
                  <a16:creationId xmlns:a16="http://schemas.microsoft.com/office/drawing/2014/main" id="{880E03C9-9CAF-58AA-0F2B-487463EE7D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3165"/>
              <a:ext cx="1984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494505" name="Line 41">
              <a:extLst>
                <a:ext uri="{FF2B5EF4-FFF2-40B4-BE49-F238E27FC236}">
                  <a16:creationId xmlns:a16="http://schemas.microsoft.com/office/drawing/2014/main" id="{DF617AC4-1F9A-3D9E-D91B-5202D66AEA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70" y="2249"/>
              <a:ext cx="0" cy="1547"/>
            </a:xfrm>
            <a:prstGeom prst="line">
              <a:avLst/>
            </a:prstGeom>
            <a:noFill/>
            <a:ln w="38100" cap="rnd" cmpd="dbl">
              <a:solidFill>
                <a:srgbClr val="80808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494506" name="Line 42">
              <a:extLst>
                <a:ext uri="{FF2B5EF4-FFF2-40B4-BE49-F238E27FC236}">
                  <a16:creationId xmlns:a16="http://schemas.microsoft.com/office/drawing/2014/main" id="{0402E85E-3333-2C79-96E5-5B7258733C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24" y="2249"/>
              <a:ext cx="0" cy="1547"/>
            </a:xfrm>
            <a:prstGeom prst="line">
              <a:avLst/>
            </a:prstGeom>
            <a:noFill/>
            <a:ln w="38100" cap="rnd" cmpd="dbl">
              <a:solidFill>
                <a:srgbClr val="80808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494507" name="Line 43">
              <a:extLst>
                <a:ext uri="{FF2B5EF4-FFF2-40B4-BE49-F238E27FC236}">
                  <a16:creationId xmlns:a16="http://schemas.microsoft.com/office/drawing/2014/main" id="{973B9F70-F0EA-212C-3E67-D859C5ACB5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78" y="2249"/>
              <a:ext cx="0" cy="1547"/>
            </a:xfrm>
            <a:prstGeom prst="line">
              <a:avLst/>
            </a:prstGeom>
            <a:noFill/>
            <a:ln w="38100" cap="rnd" cmpd="dbl">
              <a:solidFill>
                <a:srgbClr val="80808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sp>
        <p:nvSpPr>
          <p:cNvPr id="25610" name="Rectangle 44">
            <a:extLst>
              <a:ext uri="{FF2B5EF4-FFF2-40B4-BE49-F238E27FC236}">
                <a16:creationId xmlns:a16="http://schemas.microsoft.com/office/drawing/2014/main" id="{E2F2D38F-F10E-F316-03ED-952174B83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8716" y="1492548"/>
            <a:ext cx="2865636" cy="317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200" b="1" i="0" noProof="0" dirty="0"/>
              <a:t>Selection Grid </a:t>
            </a:r>
          </a:p>
        </p:txBody>
      </p:sp>
      <p:sp>
        <p:nvSpPr>
          <p:cNvPr id="25611" name="Rectangle 45">
            <a:extLst>
              <a:ext uri="{FF2B5EF4-FFF2-40B4-BE49-F238E27FC236}">
                <a16:creationId xmlns:a16="http://schemas.microsoft.com/office/drawing/2014/main" id="{2B35F5E2-2DA8-79AF-9B5F-4F60F4AB1A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1196975"/>
            <a:ext cx="295275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200" b="1" i="0" noProof="0" dirty="0"/>
              <a:t>Risk-Value Map</a:t>
            </a:r>
          </a:p>
        </p:txBody>
      </p:sp>
      <p:sp>
        <p:nvSpPr>
          <p:cNvPr id="25613" name="Rectangle 47">
            <a:extLst>
              <a:ext uri="{FF2B5EF4-FFF2-40B4-BE49-F238E27FC236}">
                <a16:creationId xmlns:a16="http://schemas.microsoft.com/office/drawing/2014/main" id="{E4F72DF9-7E0C-6E97-A7A4-2BE60D8DA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194" y="4690276"/>
            <a:ext cx="3600450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200" b="1" i="0" noProof="0" dirty="0"/>
              <a:t>Gantt-Diagram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E9B175C-CB49-E29C-DAEC-283F06A66DCB}"/>
              </a:ext>
            </a:extLst>
          </p:cNvPr>
          <p:cNvSpPr txBox="1"/>
          <p:nvPr/>
        </p:nvSpPr>
        <p:spPr>
          <a:xfrm>
            <a:off x="677341" y="5206150"/>
            <a:ext cx="93561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noProof="0" dirty="0"/>
              <a:t>Project selection can rely on a variety of visual tools: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noProof="0" dirty="0"/>
              <a:t>In Risk –Value Maps estimated risks are balanced against potential benefits: best projects are in the top right corner of the matrix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noProof="0" dirty="0"/>
              <a:t>In Selection Grid potential projects are  positioned according to their return and alignment; preferential projects are the mandatory projects (they may be bottom – up request) and the strategic projects with high return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noProof="0" dirty="0"/>
              <a:t>In Gantt diagrams the estimated duration of the projects and on ongoing projects are shown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BEB4D-4C10-4E70-DB55-39167239B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35">
            <a:extLst>
              <a:ext uri="{FF2B5EF4-FFF2-40B4-BE49-F238E27FC236}">
                <a16:creationId xmlns:a16="http://schemas.microsoft.com/office/drawing/2014/main" id="{AF774025-AC1E-293C-9BB4-10BB9DEFBBA6}"/>
              </a:ext>
            </a:extLst>
          </p:cNvPr>
          <p:cNvSpPr/>
          <p:nvPr/>
        </p:nvSpPr>
        <p:spPr bwMode="auto">
          <a:xfrm>
            <a:off x="6243316" y="1255632"/>
            <a:ext cx="3346101" cy="2556696"/>
          </a:xfrm>
          <a:prstGeom prst="rect">
            <a:avLst/>
          </a:prstGeom>
          <a:solidFill>
            <a:schemeClr val="bg1">
              <a:lumMod val="65000"/>
            </a:schemeClr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0" dirty="0">
                <a:solidFill>
                  <a:schemeClr val="accent2">
                    <a:lumMod val="50000"/>
                  </a:schemeClr>
                </a:solidFill>
              </a:rPr>
              <a:t>Resources Planning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CCBC0B6-08B2-19D4-7FF4-5F8E07DF430E}"/>
              </a:ext>
            </a:extLst>
          </p:cNvPr>
          <p:cNvSpPr/>
          <p:nvPr/>
        </p:nvSpPr>
        <p:spPr bwMode="auto">
          <a:xfrm>
            <a:off x="633216" y="1245890"/>
            <a:ext cx="3381592" cy="2622883"/>
          </a:xfrm>
          <a:prstGeom prst="rect">
            <a:avLst/>
          </a:prstGeom>
          <a:noFill/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0" dirty="0">
                <a:solidFill>
                  <a:schemeClr val="accent2">
                    <a:lumMod val="50000"/>
                  </a:schemeClr>
                </a:solidFill>
              </a:rPr>
              <a:t>Architecture Planning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B7A255A-0042-4FB5-A7F3-5EC618BA9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noProof="0" dirty="0">
                <a:solidFill>
                  <a:schemeClr val="accent2">
                    <a:lumMod val="50000"/>
                  </a:schemeClr>
                </a:solidFill>
              </a:rPr>
              <a:t>IT MANAGEMENT: RESOURCES PLANNING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F38523-5A15-41AE-EA9B-890149D96378}"/>
              </a:ext>
            </a:extLst>
          </p:cNvPr>
          <p:cNvSpPr/>
          <p:nvPr/>
        </p:nvSpPr>
        <p:spPr bwMode="auto">
          <a:xfrm>
            <a:off x="1875386" y="2561050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50" noProof="0" dirty="0">
                <a:solidFill>
                  <a:schemeClr val="accent2">
                    <a:lumMod val="50000"/>
                  </a:schemeClr>
                </a:solidFill>
              </a:rPr>
              <a:t>Digital  Architecture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DD60B0-EF9D-673C-8578-6A8EF874FC56}"/>
              </a:ext>
            </a:extLst>
          </p:cNvPr>
          <p:cNvSpPr/>
          <p:nvPr/>
        </p:nvSpPr>
        <p:spPr bwMode="auto">
          <a:xfrm>
            <a:off x="2963890" y="2557196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50" noProof="0" dirty="0">
                <a:solidFill>
                  <a:schemeClr val="accent2">
                    <a:lumMod val="50000"/>
                  </a:schemeClr>
                </a:solidFill>
              </a:rPr>
              <a:t>Initiative Proposals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997B53-42B8-90AF-C8C6-8B9E3FA0D2D5}"/>
              </a:ext>
            </a:extLst>
          </p:cNvPr>
          <p:cNvSpPr/>
          <p:nvPr/>
        </p:nvSpPr>
        <p:spPr bwMode="auto">
          <a:xfrm>
            <a:off x="4780052" y="2482452"/>
            <a:ext cx="1057731" cy="772531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noProof="0" dirty="0">
                <a:solidFill>
                  <a:schemeClr val="accent2">
                    <a:lumMod val="50000"/>
                  </a:schemeClr>
                </a:solidFill>
              </a:rPr>
              <a:t>Portfolio Management and Project Launch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C05221-C718-2949-8C1E-9DAF89E28BCC}"/>
              </a:ext>
            </a:extLst>
          </p:cNvPr>
          <p:cNvSpPr/>
          <p:nvPr/>
        </p:nvSpPr>
        <p:spPr bwMode="auto">
          <a:xfrm>
            <a:off x="6332376" y="2552328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noProof="0" dirty="0">
                <a:solidFill>
                  <a:schemeClr val="accent2">
                    <a:lumMod val="50000"/>
                  </a:schemeClr>
                </a:solidFill>
              </a:rPr>
              <a:t>Human Resources Planning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712E65-A8ED-7D2F-1DC9-4837B9113177}"/>
              </a:ext>
            </a:extLst>
          </p:cNvPr>
          <p:cNvSpPr/>
          <p:nvPr/>
        </p:nvSpPr>
        <p:spPr bwMode="auto">
          <a:xfrm>
            <a:off x="7446100" y="2547460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noProof="0" dirty="0" err="1">
                <a:solidFill>
                  <a:schemeClr val="accent2">
                    <a:lumMod val="50000"/>
                  </a:schemeClr>
                </a:solidFill>
              </a:rPr>
              <a:t>Infrastr</a:t>
            </a:r>
            <a:r>
              <a:rPr lang="en-US" sz="1200" noProof="0" dirty="0">
                <a:solidFill>
                  <a:schemeClr val="accent2">
                    <a:lumMod val="50000"/>
                  </a:schemeClr>
                </a:solidFill>
              </a:rPr>
              <a:t>. Resources Planning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18E150-C9EB-D5BF-F9B4-A0B3DAD71B6A}"/>
              </a:ext>
            </a:extLst>
          </p:cNvPr>
          <p:cNvSpPr/>
          <p:nvPr/>
        </p:nvSpPr>
        <p:spPr bwMode="auto">
          <a:xfrm>
            <a:off x="8508438" y="2547460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noProof="0" dirty="0">
                <a:solidFill>
                  <a:schemeClr val="accent2">
                    <a:lumMod val="50000"/>
                  </a:schemeClr>
                </a:solidFill>
              </a:rPr>
              <a:t>Financial </a:t>
            </a:r>
            <a:r>
              <a:rPr lang="en-US" sz="1200" noProof="0" dirty="0" err="1">
                <a:solidFill>
                  <a:schemeClr val="accent2">
                    <a:lumMod val="50000"/>
                  </a:schemeClr>
                </a:solidFill>
              </a:rPr>
              <a:t>Palanning</a:t>
            </a:r>
            <a:r>
              <a:rPr lang="en-US" sz="1200" noProof="0" dirty="0">
                <a:solidFill>
                  <a:schemeClr val="accent2">
                    <a:lumMod val="50000"/>
                  </a:schemeClr>
                </a:solidFill>
              </a:rPr>
              <a:t> (Budget)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4E285F9-95ED-550B-B586-3B51F3B03794}"/>
              </a:ext>
            </a:extLst>
          </p:cNvPr>
          <p:cNvSpPr/>
          <p:nvPr/>
        </p:nvSpPr>
        <p:spPr bwMode="auto">
          <a:xfrm>
            <a:off x="3075974" y="5978816"/>
            <a:ext cx="4464496" cy="409469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0" dirty="0">
                <a:solidFill>
                  <a:schemeClr val="accent2">
                    <a:lumMod val="50000"/>
                  </a:schemeClr>
                </a:solidFill>
              </a:rPr>
              <a:t>App Maintenance &amp; Operations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9D2CFB-A841-5F94-A787-B1C4397E9A8D}"/>
              </a:ext>
            </a:extLst>
          </p:cNvPr>
          <p:cNvSpPr/>
          <p:nvPr/>
        </p:nvSpPr>
        <p:spPr bwMode="auto">
          <a:xfrm>
            <a:off x="3075974" y="4370681"/>
            <a:ext cx="4464496" cy="409469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0" dirty="0">
                <a:solidFill>
                  <a:schemeClr val="accent2">
                    <a:lumMod val="50000"/>
                  </a:schemeClr>
                </a:solidFill>
              </a:rPr>
              <a:t>Project Management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6F6FB8-7CFD-BF94-43C8-CFC260DB33B2}"/>
              </a:ext>
            </a:extLst>
          </p:cNvPr>
          <p:cNvSpPr txBox="1"/>
          <p:nvPr/>
        </p:nvSpPr>
        <p:spPr>
          <a:xfrm>
            <a:off x="3901336" y="2923066"/>
            <a:ext cx="1000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1" noProof="0" dirty="0">
                <a:solidFill>
                  <a:schemeClr val="accent2">
                    <a:lumMod val="50000"/>
                  </a:schemeClr>
                </a:solidFill>
              </a:rPr>
              <a:t>Top-down requests </a:t>
            </a: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F156430A-AC80-7E31-C6A9-43AC7A83BECA}"/>
              </a:ext>
            </a:extLst>
          </p:cNvPr>
          <p:cNvCxnSpPr>
            <a:cxnSpLocks/>
            <a:endCxn id="8" idx="0"/>
          </p:cNvCxnSpPr>
          <p:nvPr/>
        </p:nvCxnSpPr>
        <p:spPr bwMode="auto">
          <a:xfrm rot="10800000">
            <a:off x="5308919" y="2482453"/>
            <a:ext cx="2235673" cy="3594309"/>
          </a:xfrm>
          <a:prstGeom prst="bentConnector4">
            <a:avLst>
              <a:gd name="adj1" fmla="val -96757"/>
              <a:gd name="adj2" fmla="val 106360"/>
            </a:avLst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02CC3D9-6986-D9D1-01DD-803E0FB8A8CA}"/>
              </a:ext>
            </a:extLst>
          </p:cNvPr>
          <p:cNvCxnSpPr>
            <a:stCxn id="6" idx="3"/>
            <a:endCxn id="7" idx="1"/>
          </p:cNvCxnSpPr>
          <p:nvPr/>
        </p:nvCxnSpPr>
        <p:spPr bwMode="auto">
          <a:xfrm flipV="1">
            <a:off x="2811490" y="2881232"/>
            <a:ext cx="152400" cy="3854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3C01B20-722A-208B-0F6E-D5625307A44B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 bwMode="auto">
          <a:xfrm flipV="1">
            <a:off x="3899994" y="2868718"/>
            <a:ext cx="880058" cy="12514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24B371F-A31B-DF69-C2BA-4A351050AC25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 bwMode="auto">
          <a:xfrm>
            <a:off x="5837783" y="2868718"/>
            <a:ext cx="494593" cy="7646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F9D5FA2-7720-1DE9-12A4-1ECF4AAB62B6}"/>
              </a:ext>
            </a:extLst>
          </p:cNvPr>
          <p:cNvCxnSpPr>
            <a:stCxn id="9" idx="3"/>
            <a:endCxn id="10" idx="1"/>
          </p:cNvCxnSpPr>
          <p:nvPr/>
        </p:nvCxnSpPr>
        <p:spPr bwMode="auto">
          <a:xfrm flipV="1">
            <a:off x="7268480" y="2871496"/>
            <a:ext cx="177620" cy="4868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652D0D3-4475-7508-9507-7EEF72F5E10E}"/>
              </a:ext>
            </a:extLst>
          </p:cNvPr>
          <p:cNvCxnSpPr>
            <a:stCxn id="10" idx="3"/>
            <a:endCxn id="11" idx="1"/>
          </p:cNvCxnSpPr>
          <p:nvPr/>
        </p:nvCxnSpPr>
        <p:spPr bwMode="auto">
          <a:xfrm>
            <a:off x="8382204" y="2871496"/>
            <a:ext cx="126234" cy="0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99870141-7F52-357C-8740-C8E6F5A4C8FC}"/>
              </a:ext>
            </a:extLst>
          </p:cNvPr>
          <p:cNvSpPr/>
          <p:nvPr/>
        </p:nvSpPr>
        <p:spPr bwMode="auto">
          <a:xfrm>
            <a:off x="3075975" y="5192900"/>
            <a:ext cx="4464495" cy="409469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0" dirty="0">
                <a:solidFill>
                  <a:schemeClr val="accent2">
                    <a:lumMod val="50000"/>
                  </a:schemeClr>
                </a:solidFill>
              </a:rPr>
              <a:t>Operations planning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5AD9C45A-430C-2405-1447-8D323C2FC2AC}"/>
              </a:ext>
            </a:extLst>
          </p:cNvPr>
          <p:cNvCxnSpPr>
            <a:cxnSpLocks/>
            <a:stCxn id="8" idx="2"/>
            <a:endCxn id="21" idx="0"/>
          </p:cNvCxnSpPr>
          <p:nvPr/>
        </p:nvCxnSpPr>
        <p:spPr bwMode="auto">
          <a:xfrm rot="5400000">
            <a:off x="4750721" y="3812484"/>
            <a:ext cx="1115698" cy="696"/>
          </a:xfrm>
          <a:prstGeom prst="bentConnector3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A02FA21E-25E5-3A0A-2A28-9FE0DBF97B30}"/>
              </a:ext>
            </a:extLst>
          </p:cNvPr>
          <p:cNvSpPr/>
          <p:nvPr/>
        </p:nvSpPr>
        <p:spPr bwMode="auto">
          <a:xfrm>
            <a:off x="786882" y="2564904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50" noProof="0" dirty="0">
                <a:solidFill>
                  <a:schemeClr val="accent2">
                    <a:lumMod val="50000"/>
                  </a:schemeClr>
                </a:solidFill>
              </a:rPr>
              <a:t>Business  Architecture 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F4CCE5F-F8E6-F5E6-0529-D9AE91EDF372}"/>
              </a:ext>
            </a:extLst>
          </p:cNvPr>
          <p:cNvCxnSpPr>
            <a:stCxn id="32" idx="3"/>
            <a:endCxn id="6" idx="1"/>
          </p:cNvCxnSpPr>
          <p:nvPr/>
        </p:nvCxnSpPr>
        <p:spPr bwMode="auto">
          <a:xfrm flipV="1">
            <a:off x="1722986" y="2885086"/>
            <a:ext cx="152400" cy="3854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D7814A72-01BC-7F65-FBC7-B9C6E9D97127}"/>
              </a:ext>
            </a:extLst>
          </p:cNvPr>
          <p:cNvCxnSpPr>
            <a:cxnSpLocks/>
            <a:endCxn id="32" idx="0"/>
          </p:cNvCxnSpPr>
          <p:nvPr/>
        </p:nvCxnSpPr>
        <p:spPr bwMode="auto">
          <a:xfrm rot="10800000" flipV="1">
            <a:off x="1254935" y="1810952"/>
            <a:ext cx="832939" cy="753952"/>
          </a:xfrm>
          <a:prstGeom prst="bentConnector2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6D113CBC-8933-1868-7011-36C70F19C91E}"/>
              </a:ext>
            </a:extLst>
          </p:cNvPr>
          <p:cNvSpPr txBox="1"/>
          <p:nvPr/>
        </p:nvSpPr>
        <p:spPr>
          <a:xfrm>
            <a:off x="2050238" y="1668516"/>
            <a:ext cx="152250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0" i="1" noProof="0" dirty="0">
                <a:solidFill>
                  <a:schemeClr val="accent2">
                    <a:lumMod val="50000"/>
                  </a:schemeClr>
                </a:solidFill>
              </a:rPr>
              <a:t>Enterprise  Strategy</a:t>
            </a:r>
          </a:p>
        </p:txBody>
      </p: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16D59F25-BFD5-4882-A778-4AD3B5CF9E60}"/>
              </a:ext>
            </a:extLst>
          </p:cNvPr>
          <p:cNvCxnSpPr>
            <a:endCxn id="6" idx="0"/>
          </p:cNvCxnSpPr>
          <p:nvPr/>
        </p:nvCxnSpPr>
        <p:spPr bwMode="auto">
          <a:xfrm rot="10800000" flipV="1">
            <a:off x="2343438" y="2213616"/>
            <a:ext cx="503482" cy="347434"/>
          </a:xfrm>
          <a:prstGeom prst="bentConnector2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19FC798D-8755-9E20-FE3F-15FC038FBE6F}"/>
              </a:ext>
            </a:extLst>
          </p:cNvPr>
          <p:cNvSpPr txBox="1"/>
          <p:nvPr/>
        </p:nvSpPr>
        <p:spPr>
          <a:xfrm>
            <a:off x="2936776" y="2091327"/>
            <a:ext cx="193936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0" i="1" noProof="0" dirty="0">
                <a:solidFill>
                  <a:schemeClr val="accent2">
                    <a:lumMod val="50000"/>
                  </a:schemeClr>
                </a:solidFill>
              </a:rPr>
              <a:t>Technology Opportunities</a:t>
            </a:r>
          </a:p>
        </p:txBody>
      </p: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315E0AAE-5143-FF27-E487-D79FDE4F496D}"/>
              </a:ext>
            </a:extLst>
          </p:cNvPr>
          <p:cNvCxnSpPr>
            <a:cxnSpLocks/>
            <a:stCxn id="21" idx="2"/>
            <a:endCxn id="39" idx="0"/>
          </p:cNvCxnSpPr>
          <p:nvPr/>
        </p:nvCxnSpPr>
        <p:spPr bwMode="auto">
          <a:xfrm rot="16200000" flipH="1">
            <a:off x="5101847" y="4986524"/>
            <a:ext cx="412750" cy="1"/>
          </a:xfrm>
          <a:prstGeom prst="bentConnector3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Box 22">
            <a:extLst>
              <a:ext uri="{FF2B5EF4-FFF2-40B4-BE49-F238E27FC236}">
                <a16:creationId xmlns:a16="http://schemas.microsoft.com/office/drawing/2014/main" id="{45B9FC86-30E9-C762-B348-F85477060EA0}"/>
              </a:ext>
            </a:extLst>
          </p:cNvPr>
          <p:cNvSpPr txBox="1"/>
          <p:nvPr/>
        </p:nvSpPr>
        <p:spPr>
          <a:xfrm>
            <a:off x="7620952" y="5914742"/>
            <a:ext cx="152250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0" i="1" noProof="0" dirty="0">
                <a:solidFill>
                  <a:schemeClr val="accent2">
                    <a:lumMod val="50000"/>
                  </a:schemeClr>
                </a:solidFill>
              </a:rPr>
              <a:t>Bottom-up requests </a:t>
            </a:r>
          </a:p>
        </p:txBody>
      </p:sp>
      <p:cxnSp>
        <p:nvCxnSpPr>
          <p:cNvPr id="41" name="Connector: Elbow 55">
            <a:extLst>
              <a:ext uri="{FF2B5EF4-FFF2-40B4-BE49-F238E27FC236}">
                <a16:creationId xmlns:a16="http://schemas.microsoft.com/office/drawing/2014/main" id="{5004A979-FB35-CE90-5CDD-0E8AC63ED025}"/>
              </a:ext>
            </a:extLst>
          </p:cNvPr>
          <p:cNvCxnSpPr>
            <a:cxnSpLocks/>
            <a:stCxn id="39" idx="2"/>
            <a:endCxn id="20" idx="0"/>
          </p:cNvCxnSpPr>
          <p:nvPr/>
        </p:nvCxnSpPr>
        <p:spPr bwMode="auto">
          <a:xfrm rot="5400000">
            <a:off x="5120000" y="5790592"/>
            <a:ext cx="376447" cy="1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" name="Connector: Elbow 42">
            <a:extLst>
              <a:ext uri="{FF2B5EF4-FFF2-40B4-BE49-F238E27FC236}">
                <a16:creationId xmlns:a16="http://schemas.microsoft.com/office/drawing/2014/main" id="{4DF9679B-DC84-705D-08AB-0247D756063A}"/>
              </a:ext>
            </a:extLst>
          </p:cNvPr>
          <p:cNvCxnSpPr>
            <a:cxnSpLocks/>
            <a:stCxn id="46" idx="2"/>
            <a:endCxn id="39" idx="3"/>
          </p:cNvCxnSpPr>
          <p:nvPr/>
        </p:nvCxnSpPr>
        <p:spPr bwMode="auto">
          <a:xfrm rot="5400000">
            <a:off x="6935766" y="4417033"/>
            <a:ext cx="1585307" cy="375897"/>
          </a:xfrm>
          <a:prstGeom prst="bentConnector2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3" name="Connector: Elbow 42">
            <a:extLst>
              <a:ext uri="{FF2B5EF4-FFF2-40B4-BE49-F238E27FC236}">
                <a16:creationId xmlns:a16="http://schemas.microsoft.com/office/drawing/2014/main" id="{825CB681-6CE0-FE31-B3CC-3B23D6E0D6C5}"/>
              </a:ext>
            </a:extLst>
          </p:cNvPr>
          <p:cNvCxnSpPr>
            <a:cxnSpLocks/>
            <a:stCxn id="46" idx="2"/>
            <a:endCxn id="21" idx="3"/>
          </p:cNvCxnSpPr>
          <p:nvPr/>
        </p:nvCxnSpPr>
        <p:spPr bwMode="auto">
          <a:xfrm rot="5400000">
            <a:off x="7346875" y="4005924"/>
            <a:ext cx="763088" cy="375897"/>
          </a:xfrm>
          <a:prstGeom prst="bentConnector2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928888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9D348-95E7-3143-1F07-361F94EF9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18B2D0-2153-EB34-6F05-49962D009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noProof="0" dirty="0">
                <a:solidFill>
                  <a:schemeClr val="accent2">
                    <a:lumMod val="50000"/>
                  </a:schemeClr>
                </a:solidFill>
              </a:rPr>
              <a:t>IT MANAGEMENT: RESOURCES PLANNING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E8232E4A-2F96-1D75-1F9C-EA09B6838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fontScale="92500" lnSpcReduction="20000"/>
          </a:bodyPr>
          <a:lstStyle/>
          <a:p>
            <a:r>
              <a:rPr lang="en-US" noProof="0" dirty="0"/>
              <a:t>Resource allocation is intended to size resources consistently with the strategy and the resource availability.</a:t>
            </a:r>
          </a:p>
          <a:p>
            <a:r>
              <a:rPr lang="en-US" noProof="0" dirty="0"/>
              <a:t>Resource allocation includes general planning processes typical to large corporations</a:t>
            </a:r>
          </a:p>
          <a:p>
            <a:pPr lvl="1"/>
            <a:r>
              <a:rPr lang="en-US" noProof="0" dirty="0"/>
              <a:t>In Human Resources Planning, the corporation defines recruitment, training and allocation of the IT staff based on the requirements emerging from the strategy for IT infrastructure, systems and technology (E.G.  </a:t>
            </a:r>
            <a:r>
              <a:rPr lang="en-US" noProof="0" dirty="0" err="1"/>
              <a:t>datalakehouse</a:t>
            </a:r>
            <a:r>
              <a:rPr lang="en-US" noProof="0" dirty="0"/>
              <a:t>, AI projects, new computer network, etc.) and regulation compliance (security, certification, etc.)</a:t>
            </a:r>
          </a:p>
          <a:p>
            <a:pPr lvl="1"/>
            <a:r>
              <a:rPr lang="en-US" noProof="0" dirty="0"/>
              <a:t>In Infrastructure Planning, the corporation plans capacity, e.g.  of data centers, cloud provision, and network, and the related schedule </a:t>
            </a:r>
          </a:p>
          <a:p>
            <a:pPr lvl="1"/>
            <a:r>
              <a:rPr lang="en-US" noProof="0" dirty="0"/>
              <a:t>In Financial Planning the corporation defines the IT budget and  its allocation among corporate functions, divisions and strategic projects  </a:t>
            </a:r>
          </a:p>
          <a:p>
            <a:r>
              <a:rPr lang="en-US" noProof="0" dirty="0"/>
              <a:t>Some processes are often run by other departments e.g.:</a:t>
            </a:r>
          </a:p>
          <a:p>
            <a:pPr lvl="1"/>
            <a:r>
              <a:rPr lang="en-US" noProof="0" dirty="0"/>
              <a:t>HR planning: HR department</a:t>
            </a:r>
          </a:p>
          <a:p>
            <a:pPr lvl="1"/>
            <a:r>
              <a:rPr lang="en-US" noProof="0" dirty="0"/>
              <a:t>Financial Planning: Financial Department </a:t>
            </a:r>
          </a:p>
        </p:txBody>
      </p:sp>
    </p:spTree>
    <p:extLst>
      <p:ext uri="{BB962C8B-B14F-4D97-AF65-F5344CB8AC3E}">
        <p14:creationId xmlns:p14="http://schemas.microsoft.com/office/powerpoint/2010/main" val="728775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8444A-F871-681D-C4DB-58AFD7C42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35">
            <a:extLst>
              <a:ext uri="{FF2B5EF4-FFF2-40B4-BE49-F238E27FC236}">
                <a16:creationId xmlns:a16="http://schemas.microsoft.com/office/drawing/2014/main" id="{2F41E435-D3DD-FD2A-C988-D8C6D65F0CCB}"/>
              </a:ext>
            </a:extLst>
          </p:cNvPr>
          <p:cNvSpPr/>
          <p:nvPr/>
        </p:nvSpPr>
        <p:spPr bwMode="auto">
          <a:xfrm>
            <a:off x="6243316" y="1255632"/>
            <a:ext cx="3346101" cy="2556696"/>
          </a:xfrm>
          <a:prstGeom prst="rect">
            <a:avLst/>
          </a:prstGeom>
          <a:noFill/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0" dirty="0">
                <a:solidFill>
                  <a:schemeClr val="accent2">
                    <a:lumMod val="50000"/>
                  </a:schemeClr>
                </a:solidFill>
              </a:rPr>
              <a:t>Resources Planning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40DC7E5-871C-6033-124D-010CB2C2CAF7}"/>
              </a:ext>
            </a:extLst>
          </p:cNvPr>
          <p:cNvSpPr/>
          <p:nvPr/>
        </p:nvSpPr>
        <p:spPr bwMode="auto">
          <a:xfrm>
            <a:off x="633216" y="1245890"/>
            <a:ext cx="3381592" cy="2622883"/>
          </a:xfrm>
          <a:prstGeom prst="rect">
            <a:avLst/>
          </a:prstGeom>
          <a:noFill/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0" dirty="0">
                <a:solidFill>
                  <a:schemeClr val="accent2">
                    <a:lumMod val="50000"/>
                  </a:schemeClr>
                </a:solidFill>
              </a:rPr>
              <a:t>Architecture Planning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70C32A9-0AF0-6E2A-DE75-9C5C5A3E9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noProof="0" dirty="0">
                <a:solidFill>
                  <a:schemeClr val="accent2">
                    <a:lumMod val="50000"/>
                  </a:schemeClr>
                </a:solidFill>
              </a:rPr>
              <a:t>IT MANAGEMENT: PROJECT MANAGEMENT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2F9827-CB32-15BF-8601-B0C78253ABE2}"/>
              </a:ext>
            </a:extLst>
          </p:cNvPr>
          <p:cNvSpPr/>
          <p:nvPr/>
        </p:nvSpPr>
        <p:spPr bwMode="auto">
          <a:xfrm>
            <a:off x="1875386" y="2561050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50" noProof="0" dirty="0">
                <a:solidFill>
                  <a:schemeClr val="accent2">
                    <a:lumMod val="50000"/>
                  </a:schemeClr>
                </a:solidFill>
              </a:rPr>
              <a:t>Digital  Architecture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9CF20B-1198-01B2-9787-C0B49847DC21}"/>
              </a:ext>
            </a:extLst>
          </p:cNvPr>
          <p:cNvSpPr/>
          <p:nvPr/>
        </p:nvSpPr>
        <p:spPr bwMode="auto">
          <a:xfrm>
            <a:off x="2963890" y="2557196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50" noProof="0" dirty="0">
                <a:solidFill>
                  <a:schemeClr val="accent2">
                    <a:lumMod val="50000"/>
                  </a:schemeClr>
                </a:solidFill>
              </a:rPr>
              <a:t>Initiative Proposals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CB87D1-F8CC-6854-FCC0-00D871EC0343}"/>
              </a:ext>
            </a:extLst>
          </p:cNvPr>
          <p:cNvSpPr/>
          <p:nvPr/>
        </p:nvSpPr>
        <p:spPr bwMode="auto">
          <a:xfrm>
            <a:off x="4780052" y="2482452"/>
            <a:ext cx="1057731" cy="772531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noProof="0" dirty="0">
                <a:solidFill>
                  <a:schemeClr val="accent2">
                    <a:lumMod val="50000"/>
                  </a:schemeClr>
                </a:solidFill>
              </a:rPr>
              <a:t>Portfolio Management and Project Launch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D58307-C841-44CC-EBC7-23AFC2C5C30E}"/>
              </a:ext>
            </a:extLst>
          </p:cNvPr>
          <p:cNvSpPr/>
          <p:nvPr/>
        </p:nvSpPr>
        <p:spPr bwMode="auto">
          <a:xfrm>
            <a:off x="6332376" y="2552328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noProof="0" dirty="0">
                <a:solidFill>
                  <a:schemeClr val="accent2">
                    <a:lumMod val="50000"/>
                  </a:schemeClr>
                </a:solidFill>
              </a:rPr>
              <a:t>Human Resources Planning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3DBC6E-E0EB-A8C5-0815-93EDE2504E94}"/>
              </a:ext>
            </a:extLst>
          </p:cNvPr>
          <p:cNvSpPr/>
          <p:nvPr/>
        </p:nvSpPr>
        <p:spPr bwMode="auto">
          <a:xfrm>
            <a:off x="7446100" y="2547460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noProof="0" dirty="0" err="1">
                <a:solidFill>
                  <a:schemeClr val="accent2">
                    <a:lumMod val="50000"/>
                  </a:schemeClr>
                </a:solidFill>
              </a:rPr>
              <a:t>Infrastr</a:t>
            </a:r>
            <a:r>
              <a:rPr lang="en-US" sz="1200" noProof="0" dirty="0">
                <a:solidFill>
                  <a:schemeClr val="accent2">
                    <a:lumMod val="50000"/>
                  </a:schemeClr>
                </a:solidFill>
              </a:rPr>
              <a:t>. Resources Planning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19BF53-5372-1B52-03AE-5F47ED0E146A}"/>
              </a:ext>
            </a:extLst>
          </p:cNvPr>
          <p:cNvSpPr/>
          <p:nvPr/>
        </p:nvSpPr>
        <p:spPr bwMode="auto">
          <a:xfrm>
            <a:off x="8508438" y="2547460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noProof="0" dirty="0">
                <a:solidFill>
                  <a:schemeClr val="accent2">
                    <a:lumMod val="50000"/>
                  </a:schemeClr>
                </a:solidFill>
              </a:rPr>
              <a:t>Financial </a:t>
            </a:r>
            <a:r>
              <a:rPr lang="en-US" sz="1200" noProof="0" dirty="0" err="1">
                <a:solidFill>
                  <a:schemeClr val="accent2">
                    <a:lumMod val="50000"/>
                  </a:schemeClr>
                </a:solidFill>
              </a:rPr>
              <a:t>Palanning</a:t>
            </a:r>
            <a:r>
              <a:rPr lang="en-US" sz="1200" noProof="0" dirty="0">
                <a:solidFill>
                  <a:schemeClr val="accent2">
                    <a:lumMod val="50000"/>
                  </a:schemeClr>
                </a:solidFill>
              </a:rPr>
              <a:t> (Budget)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8455DF-5CF5-4EF0-22CE-F64FF54B57DB}"/>
              </a:ext>
            </a:extLst>
          </p:cNvPr>
          <p:cNvSpPr/>
          <p:nvPr/>
        </p:nvSpPr>
        <p:spPr bwMode="auto">
          <a:xfrm>
            <a:off x="3075974" y="5978816"/>
            <a:ext cx="4464496" cy="409469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0" dirty="0">
                <a:solidFill>
                  <a:schemeClr val="accent2">
                    <a:lumMod val="50000"/>
                  </a:schemeClr>
                </a:solidFill>
              </a:rPr>
              <a:t>App Maintenance &amp; Operations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2DE84A0-5566-FE2B-34C4-24E37110537C}"/>
              </a:ext>
            </a:extLst>
          </p:cNvPr>
          <p:cNvSpPr/>
          <p:nvPr/>
        </p:nvSpPr>
        <p:spPr bwMode="auto">
          <a:xfrm>
            <a:off x="3075974" y="4370681"/>
            <a:ext cx="4464496" cy="409469"/>
          </a:xfrm>
          <a:prstGeom prst="rect">
            <a:avLst/>
          </a:prstGeom>
          <a:solidFill>
            <a:schemeClr val="bg1">
              <a:lumMod val="65000"/>
            </a:schemeClr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0" dirty="0">
                <a:solidFill>
                  <a:schemeClr val="accent2">
                    <a:lumMod val="50000"/>
                  </a:schemeClr>
                </a:solidFill>
              </a:rPr>
              <a:t>Project Management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327790-D0BE-E854-8761-145254F49FF6}"/>
              </a:ext>
            </a:extLst>
          </p:cNvPr>
          <p:cNvSpPr txBox="1"/>
          <p:nvPr/>
        </p:nvSpPr>
        <p:spPr>
          <a:xfrm>
            <a:off x="3901336" y="2923066"/>
            <a:ext cx="1000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1" noProof="0" dirty="0">
                <a:solidFill>
                  <a:schemeClr val="accent2">
                    <a:lumMod val="50000"/>
                  </a:schemeClr>
                </a:solidFill>
              </a:rPr>
              <a:t>Top-down requests </a:t>
            </a: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8FD44247-D31A-95D0-F5AB-F2B03F3C5773}"/>
              </a:ext>
            </a:extLst>
          </p:cNvPr>
          <p:cNvCxnSpPr>
            <a:cxnSpLocks/>
            <a:endCxn id="8" idx="0"/>
          </p:cNvCxnSpPr>
          <p:nvPr/>
        </p:nvCxnSpPr>
        <p:spPr bwMode="auto">
          <a:xfrm rot="10800000">
            <a:off x="5308919" y="2482453"/>
            <a:ext cx="2235673" cy="3594309"/>
          </a:xfrm>
          <a:prstGeom prst="bentConnector4">
            <a:avLst>
              <a:gd name="adj1" fmla="val -96757"/>
              <a:gd name="adj2" fmla="val 106360"/>
            </a:avLst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7B4FC4C-BAB9-2A53-A947-451E21D0E9AB}"/>
              </a:ext>
            </a:extLst>
          </p:cNvPr>
          <p:cNvCxnSpPr>
            <a:stCxn id="6" idx="3"/>
            <a:endCxn id="7" idx="1"/>
          </p:cNvCxnSpPr>
          <p:nvPr/>
        </p:nvCxnSpPr>
        <p:spPr bwMode="auto">
          <a:xfrm flipV="1">
            <a:off x="2811490" y="2881232"/>
            <a:ext cx="152400" cy="3854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6980B4E-1F3C-1EC1-F889-406C33584DCD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 bwMode="auto">
          <a:xfrm flipV="1">
            <a:off x="3899994" y="2868718"/>
            <a:ext cx="880058" cy="12514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42EC943-28A3-2CCD-C5D6-133439AAF1FD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 bwMode="auto">
          <a:xfrm>
            <a:off x="5837783" y="2868718"/>
            <a:ext cx="494593" cy="7646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2030541-22FA-43A4-B31D-18F251678762}"/>
              </a:ext>
            </a:extLst>
          </p:cNvPr>
          <p:cNvCxnSpPr>
            <a:stCxn id="9" idx="3"/>
            <a:endCxn id="10" idx="1"/>
          </p:cNvCxnSpPr>
          <p:nvPr/>
        </p:nvCxnSpPr>
        <p:spPr bwMode="auto">
          <a:xfrm flipV="1">
            <a:off x="7268480" y="2871496"/>
            <a:ext cx="177620" cy="4868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E72C4E8-BBCB-85C9-1BAD-446F984B7E96}"/>
              </a:ext>
            </a:extLst>
          </p:cNvPr>
          <p:cNvCxnSpPr>
            <a:stCxn id="10" idx="3"/>
            <a:endCxn id="11" idx="1"/>
          </p:cNvCxnSpPr>
          <p:nvPr/>
        </p:nvCxnSpPr>
        <p:spPr bwMode="auto">
          <a:xfrm>
            <a:off x="8382204" y="2871496"/>
            <a:ext cx="126234" cy="0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67636038-F107-0C65-F0EA-912331AF886F}"/>
              </a:ext>
            </a:extLst>
          </p:cNvPr>
          <p:cNvSpPr/>
          <p:nvPr/>
        </p:nvSpPr>
        <p:spPr bwMode="auto">
          <a:xfrm>
            <a:off x="3075975" y="5192900"/>
            <a:ext cx="4464495" cy="409469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0" dirty="0">
                <a:solidFill>
                  <a:schemeClr val="accent2">
                    <a:lumMod val="50000"/>
                  </a:schemeClr>
                </a:solidFill>
              </a:rPr>
              <a:t>Operations planning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742F45A2-A3BB-FC73-534B-DE25BDF9DAF7}"/>
              </a:ext>
            </a:extLst>
          </p:cNvPr>
          <p:cNvCxnSpPr>
            <a:cxnSpLocks/>
            <a:stCxn id="8" idx="2"/>
            <a:endCxn id="21" idx="0"/>
          </p:cNvCxnSpPr>
          <p:nvPr/>
        </p:nvCxnSpPr>
        <p:spPr bwMode="auto">
          <a:xfrm rot="5400000">
            <a:off x="4750721" y="3812484"/>
            <a:ext cx="1115698" cy="696"/>
          </a:xfrm>
          <a:prstGeom prst="bentConnector3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35878BBE-43A1-D9F9-573D-A72CF62981ED}"/>
              </a:ext>
            </a:extLst>
          </p:cNvPr>
          <p:cNvSpPr/>
          <p:nvPr/>
        </p:nvSpPr>
        <p:spPr bwMode="auto">
          <a:xfrm>
            <a:off x="786882" y="2564904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50" noProof="0" dirty="0">
                <a:solidFill>
                  <a:schemeClr val="accent2">
                    <a:lumMod val="50000"/>
                  </a:schemeClr>
                </a:solidFill>
              </a:rPr>
              <a:t>Business  Architecture 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46F4030-AC71-5FB4-2D52-D8B97ED43A05}"/>
              </a:ext>
            </a:extLst>
          </p:cNvPr>
          <p:cNvCxnSpPr>
            <a:stCxn id="32" idx="3"/>
            <a:endCxn id="6" idx="1"/>
          </p:cNvCxnSpPr>
          <p:nvPr/>
        </p:nvCxnSpPr>
        <p:spPr bwMode="auto">
          <a:xfrm flipV="1">
            <a:off x="1722986" y="2885086"/>
            <a:ext cx="152400" cy="3854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C356581C-3B04-2916-5B60-E056A9ED4241}"/>
              </a:ext>
            </a:extLst>
          </p:cNvPr>
          <p:cNvCxnSpPr>
            <a:cxnSpLocks/>
            <a:endCxn id="32" idx="0"/>
          </p:cNvCxnSpPr>
          <p:nvPr/>
        </p:nvCxnSpPr>
        <p:spPr bwMode="auto">
          <a:xfrm rot="10800000" flipV="1">
            <a:off x="1254935" y="1810952"/>
            <a:ext cx="832939" cy="753952"/>
          </a:xfrm>
          <a:prstGeom prst="bentConnector2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640B6928-7A8E-BC8F-8653-BDAEAC9468BC}"/>
              </a:ext>
            </a:extLst>
          </p:cNvPr>
          <p:cNvSpPr txBox="1"/>
          <p:nvPr/>
        </p:nvSpPr>
        <p:spPr>
          <a:xfrm>
            <a:off x="2050238" y="1668516"/>
            <a:ext cx="152250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0" i="1" noProof="0" dirty="0">
                <a:solidFill>
                  <a:schemeClr val="accent2">
                    <a:lumMod val="50000"/>
                  </a:schemeClr>
                </a:solidFill>
              </a:rPr>
              <a:t>Enterprise  Strategy</a:t>
            </a:r>
          </a:p>
        </p:txBody>
      </p: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D67E57BB-F767-AFDE-627D-F8E8532E0144}"/>
              </a:ext>
            </a:extLst>
          </p:cNvPr>
          <p:cNvCxnSpPr>
            <a:endCxn id="6" idx="0"/>
          </p:cNvCxnSpPr>
          <p:nvPr/>
        </p:nvCxnSpPr>
        <p:spPr bwMode="auto">
          <a:xfrm rot="10800000" flipV="1">
            <a:off x="2343438" y="2213616"/>
            <a:ext cx="503482" cy="347434"/>
          </a:xfrm>
          <a:prstGeom prst="bentConnector2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3DC585AE-59FE-A174-1677-CD9F891ADF61}"/>
              </a:ext>
            </a:extLst>
          </p:cNvPr>
          <p:cNvSpPr txBox="1"/>
          <p:nvPr/>
        </p:nvSpPr>
        <p:spPr>
          <a:xfrm>
            <a:off x="2936776" y="2091327"/>
            <a:ext cx="193936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0" i="1" noProof="0" dirty="0">
                <a:solidFill>
                  <a:schemeClr val="accent2">
                    <a:lumMod val="50000"/>
                  </a:schemeClr>
                </a:solidFill>
              </a:rPr>
              <a:t>Technology Opportunities</a:t>
            </a:r>
          </a:p>
        </p:txBody>
      </p: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13854D2F-D5F9-E5A0-A202-0ADF6F0A8A06}"/>
              </a:ext>
            </a:extLst>
          </p:cNvPr>
          <p:cNvCxnSpPr>
            <a:cxnSpLocks/>
            <a:stCxn id="21" idx="2"/>
            <a:endCxn id="39" idx="0"/>
          </p:cNvCxnSpPr>
          <p:nvPr/>
        </p:nvCxnSpPr>
        <p:spPr bwMode="auto">
          <a:xfrm rot="16200000" flipH="1">
            <a:off x="5101847" y="4986524"/>
            <a:ext cx="412750" cy="1"/>
          </a:xfrm>
          <a:prstGeom prst="bentConnector3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Box 22">
            <a:extLst>
              <a:ext uri="{FF2B5EF4-FFF2-40B4-BE49-F238E27FC236}">
                <a16:creationId xmlns:a16="http://schemas.microsoft.com/office/drawing/2014/main" id="{C113CCE8-F244-08D6-41D7-8F21E26ABF75}"/>
              </a:ext>
            </a:extLst>
          </p:cNvPr>
          <p:cNvSpPr txBox="1"/>
          <p:nvPr/>
        </p:nvSpPr>
        <p:spPr>
          <a:xfrm>
            <a:off x="7620952" y="5914742"/>
            <a:ext cx="152250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0" i="1" noProof="0" dirty="0">
                <a:solidFill>
                  <a:schemeClr val="accent2">
                    <a:lumMod val="50000"/>
                  </a:schemeClr>
                </a:solidFill>
              </a:rPr>
              <a:t>Bottom-up requests </a:t>
            </a:r>
          </a:p>
        </p:txBody>
      </p:sp>
      <p:cxnSp>
        <p:nvCxnSpPr>
          <p:cNvPr id="41" name="Connector: Elbow 55">
            <a:extLst>
              <a:ext uri="{FF2B5EF4-FFF2-40B4-BE49-F238E27FC236}">
                <a16:creationId xmlns:a16="http://schemas.microsoft.com/office/drawing/2014/main" id="{3A2019CA-51AA-3AEF-2646-98955D5C1121}"/>
              </a:ext>
            </a:extLst>
          </p:cNvPr>
          <p:cNvCxnSpPr>
            <a:cxnSpLocks/>
            <a:stCxn id="39" idx="2"/>
            <a:endCxn id="20" idx="0"/>
          </p:cNvCxnSpPr>
          <p:nvPr/>
        </p:nvCxnSpPr>
        <p:spPr bwMode="auto">
          <a:xfrm rot="5400000">
            <a:off x="5120000" y="5790592"/>
            <a:ext cx="376447" cy="1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" name="Connector: Elbow 42">
            <a:extLst>
              <a:ext uri="{FF2B5EF4-FFF2-40B4-BE49-F238E27FC236}">
                <a16:creationId xmlns:a16="http://schemas.microsoft.com/office/drawing/2014/main" id="{40ADD842-9CC5-6624-8C95-42A3886A9C7B}"/>
              </a:ext>
            </a:extLst>
          </p:cNvPr>
          <p:cNvCxnSpPr>
            <a:cxnSpLocks/>
            <a:stCxn id="46" idx="2"/>
            <a:endCxn id="39" idx="3"/>
          </p:cNvCxnSpPr>
          <p:nvPr/>
        </p:nvCxnSpPr>
        <p:spPr bwMode="auto">
          <a:xfrm rot="5400000">
            <a:off x="6935766" y="4417033"/>
            <a:ext cx="1585307" cy="375897"/>
          </a:xfrm>
          <a:prstGeom prst="bentConnector2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3" name="Connector: Elbow 42">
            <a:extLst>
              <a:ext uri="{FF2B5EF4-FFF2-40B4-BE49-F238E27FC236}">
                <a16:creationId xmlns:a16="http://schemas.microsoft.com/office/drawing/2014/main" id="{B01CB1D3-3367-B8DF-229E-3C51E5F9DBAB}"/>
              </a:ext>
            </a:extLst>
          </p:cNvPr>
          <p:cNvCxnSpPr>
            <a:cxnSpLocks/>
            <a:stCxn id="46" idx="2"/>
            <a:endCxn id="21" idx="3"/>
          </p:cNvCxnSpPr>
          <p:nvPr/>
        </p:nvCxnSpPr>
        <p:spPr bwMode="auto">
          <a:xfrm rot="5400000">
            <a:off x="7346875" y="4005924"/>
            <a:ext cx="763088" cy="375897"/>
          </a:xfrm>
          <a:prstGeom prst="bentConnector2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168182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EEC68-1E4F-F4A3-48BA-10D5CBECC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C9B734-2BFF-1A9E-768C-4B3CFF014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noProof="0" dirty="0">
                <a:solidFill>
                  <a:schemeClr val="accent2">
                    <a:lumMod val="50000"/>
                  </a:schemeClr>
                </a:solidFill>
              </a:rPr>
              <a:t>IT MANAGEMENT: PROJECT MANAGEMENT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B5167F2A-27FC-F659-A528-12E528A05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fontScale="92500" lnSpcReduction="20000"/>
          </a:bodyPr>
          <a:lstStyle/>
          <a:p>
            <a:r>
              <a:rPr lang="en-US" noProof="0" dirty="0"/>
              <a:t>Project management addresses the projects during their life cycle </a:t>
            </a:r>
          </a:p>
          <a:p>
            <a:r>
              <a:rPr lang="en-US" noProof="0" dirty="0"/>
              <a:t>A corporation typically runs several projects at the same time:</a:t>
            </a:r>
          </a:p>
          <a:p>
            <a:pPr lvl="1"/>
            <a:r>
              <a:rPr lang="en-US" noProof="0" dirty="0"/>
              <a:t>(A few) strategic projects are generally sponsored by the top management, because they impact the whole business of the corporation e.g., AI driven intelligence in FBI</a:t>
            </a:r>
          </a:p>
          <a:p>
            <a:pPr lvl="1"/>
            <a:r>
              <a:rPr lang="en-US" noProof="0" dirty="0"/>
              <a:t>Divisional and functional projects typically address requirements of </a:t>
            </a:r>
          </a:p>
          <a:p>
            <a:pPr lvl="2"/>
            <a:r>
              <a:rPr lang="en-US" noProof="0" dirty="0"/>
              <a:t>an individual division: e.g., spare parts management of an engine factory within an automotive company</a:t>
            </a:r>
          </a:p>
          <a:p>
            <a:pPr lvl="2"/>
            <a:r>
              <a:rPr lang="en-US" noProof="0" dirty="0"/>
              <a:t>an individual function: </a:t>
            </a:r>
            <a:r>
              <a:rPr lang="en-US" noProof="0" dirty="0" err="1"/>
              <a:t>e,g</a:t>
            </a:r>
            <a:r>
              <a:rPr lang="en-US" noProof="0" dirty="0"/>
              <a:t>., AI-driven recruiting system for the HR  department </a:t>
            </a:r>
          </a:p>
          <a:p>
            <a:pPr lvl="1"/>
            <a:r>
              <a:rPr lang="en-US" noProof="0" dirty="0"/>
              <a:t>Large maintenance projects, such as migration from on-premise data center to public cloud, often managed by the IT department itself </a:t>
            </a:r>
          </a:p>
          <a:p>
            <a:r>
              <a:rPr lang="en-US" noProof="0" dirty="0"/>
              <a:t>The progress of each project is reported to its respective Project Steering Committee   </a:t>
            </a:r>
          </a:p>
          <a:p>
            <a:r>
              <a:rPr lang="en-US" noProof="0" dirty="0"/>
              <a:t>A  typical project management methodology is PMI by Project Management Institute (illustrated it in a separate lecture) </a:t>
            </a:r>
          </a:p>
        </p:txBody>
      </p:sp>
    </p:spTree>
    <p:extLst>
      <p:ext uri="{BB962C8B-B14F-4D97-AF65-F5344CB8AC3E}">
        <p14:creationId xmlns:p14="http://schemas.microsoft.com/office/powerpoint/2010/main" val="3619040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63738-4122-9E88-9D7B-AC2B120CA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35">
            <a:extLst>
              <a:ext uri="{FF2B5EF4-FFF2-40B4-BE49-F238E27FC236}">
                <a16:creationId xmlns:a16="http://schemas.microsoft.com/office/drawing/2014/main" id="{1D4CA158-2090-F218-32F8-405707CA61D7}"/>
              </a:ext>
            </a:extLst>
          </p:cNvPr>
          <p:cNvSpPr/>
          <p:nvPr/>
        </p:nvSpPr>
        <p:spPr bwMode="auto">
          <a:xfrm>
            <a:off x="6243316" y="1255632"/>
            <a:ext cx="3346101" cy="2556696"/>
          </a:xfrm>
          <a:prstGeom prst="rect">
            <a:avLst/>
          </a:prstGeom>
          <a:noFill/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0" dirty="0">
                <a:solidFill>
                  <a:schemeClr val="accent2">
                    <a:lumMod val="50000"/>
                  </a:schemeClr>
                </a:solidFill>
              </a:rPr>
              <a:t>Resources Planning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9F47FB2-5E41-90CD-BFDF-4810A9CA3879}"/>
              </a:ext>
            </a:extLst>
          </p:cNvPr>
          <p:cNvSpPr/>
          <p:nvPr/>
        </p:nvSpPr>
        <p:spPr bwMode="auto">
          <a:xfrm>
            <a:off x="633216" y="1245890"/>
            <a:ext cx="3381592" cy="2622883"/>
          </a:xfrm>
          <a:prstGeom prst="rect">
            <a:avLst/>
          </a:prstGeom>
          <a:noFill/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0" dirty="0">
                <a:solidFill>
                  <a:schemeClr val="accent2">
                    <a:lumMod val="50000"/>
                  </a:schemeClr>
                </a:solidFill>
              </a:rPr>
              <a:t>Architecture Planning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27FE8EC-5A6A-C8A3-53E5-FB4241F98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noProof="0" dirty="0">
                <a:solidFill>
                  <a:schemeClr val="accent2">
                    <a:lumMod val="50000"/>
                  </a:schemeClr>
                </a:solidFill>
              </a:rPr>
              <a:t>IT MANAGEMENT: OPERATIONS PLANNING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81AF52-0B92-B3CA-FC36-155967CF5905}"/>
              </a:ext>
            </a:extLst>
          </p:cNvPr>
          <p:cNvSpPr/>
          <p:nvPr/>
        </p:nvSpPr>
        <p:spPr bwMode="auto">
          <a:xfrm>
            <a:off x="1875386" y="2561050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50" noProof="0" dirty="0">
                <a:solidFill>
                  <a:schemeClr val="accent2">
                    <a:lumMod val="50000"/>
                  </a:schemeClr>
                </a:solidFill>
              </a:rPr>
              <a:t>Digital  Architecture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4266D6-2F21-748A-E34D-BC988770DBDA}"/>
              </a:ext>
            </a:extLst>
          </p:cNvPr>
          <p:cNvSpPr/>
          <p:nvPr/>
        </p:nvSpPr>
        <p:spPr bwMode="auto">
          <a:xfrm>
            <a:off x="2963890" y="2557196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50" noProof="0" dirty="0">
                <a:solidFill>
                  <a:schemeClr val="accent2">
                    <a:lumMod val="50000"/>
                  </a:schemeClr>
                </a:solidFill>
              </a:rPr>
              <a:t>Initiative Proposals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FA7164-B17D-E4B7-7736-197251433365}"/>
              </a:ext>
            </a:extLst>
          </p:cNvPr>
          <p:cNvSpPr/>
          <p:nvPr/>
        </p:nvSpPr>
        <p:spPr bwMode="auto">
          <a:xfrm>
            <a:off x="4780052" y="2482452"/>
            <a:ext cx="1057731" cy="772531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noProof="0" dirty="0">
                <a:solidFill>
                  <a:schemeClr val="accent2">
                    <a:lumMod val="50000"/>
                  </a:schemeClr>
                </a:solidFill>
              </a:rPr>
              <a:t>Portfolio Management and Project Launch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A36688-0E72-F206-87CC-2C83781B046C}"/>
              </a:ext>
            </a:extLst>
          </p:cNvPr>
          <p:cNvSpPr/>
          <p:nvPr/>
        </p:nvSpPr>
        <p:spPr bwMode="auto">
          <a:xfrm>
            <a:off x="6332376" y="2552328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noProof="0" dirty="0">
                <a:solidFill>
                  <a:schemeClr val="accent2">
                    <a:lumMod val="50000"/>
                  </a:schemeClr>
                </a:solidFill>
              </a:rPr>
              <a:t>Human Resources Planning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D4E118-6CC8-D1B5-E4DE-CFA4D9F4FE30}"/>
              </a:ext>
            </a:extLst>
          </p:cNvPr>
          <p:cNvSpPr/>
          <p:nvPr/>
        </p:nvSpPr>
        <p:spPr bwMode="auto">
          <a:xfrm>
            <a:off x="7446100" y="2547460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noProof="0" dirty="0" err="1">
                <a:solidFill>
                  <a:schemeClr val="accent2">
                    <a:lumMod val="50000"/>
                  </a:schemeClr>
                </a:solidFill>
              </a:rPr>
              <a:t>Infrastr</a:t>
            </a:r>
            <a:r>
              <a:rPr lang="en-US" sz="1200" noProof="0" dirty="0">
                <a:solidFill>
                  <a:schemeClr val="accent2">
                    <a:lumMod val="50000"/>
                  </a:schemeClr>
                </a:solidFill>
              </a:rPr>
              <a:t>. Resources Planning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BCA77B-AD23-E2BF-775B-DE03772CE192}"/>
              </a:ext>
            </a:extLst>
          </p:cNvPr>
          <p:cNvSpPr/>
          <p:nvPr/>
        </p:nvSpPr>
        <p:spPr bwMode="auto">
          <a:xfrm>
            <a:off x="8508438" y="2547460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noProof="0" dirty="0">
                <a:solidFill>
                  <a:schemeClr val="accent2">
                    <a:lumMod val="50000"/>
                  </a:schemeClr>
                </a:solidFill>
              </a:rPr>
              <a:t>Financial </a:t>
            </a:r>
            <a:r>
              <a:rPr lang="en-US" sz="1200" noProof="0" dirty="0" err="1">
                <a:solidFill>
                  <a:schemeClr val="accent2">
                    <a:lumMod val="50000"/>
                  </a:schemeClr>
                </a:solidFill>
              </a:rPr>
              <a:t>Palanning</a:t>
            </a:r>
            <a:r>
              <a:rPr lang="en-US" sz="1200" noProof="0" dirty="0">
                <a:solidFill>
                  <a:schemeClr val="accent2">
                    <a:lumMod val="50000"/>
                  </a:schemeClr>
                </a:solidFill>
              </a:rPr>
              <a:t> (Budget)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CEE752-5016-9F51-8FC6-A2A903A75DD6}"/>
              </a:ext>
            </a:extLst>
          </p:cNvPr>
          <p:cNvSpPr/>
          <p:nvPr/>
        </p:nvSpPr>
        <p:spPr bwMode="auto">
          <a:xfrm>
            <a:off x="3075974" y="5978816"/>
            <a:ext cx="4464496" cy="409469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0" dirty="0">
                <a:solidFill>
                  <a:schemeClr val="accent2">
                    <a:lumMod val="50000"/>
                  </a:schemeClr>
                </a:solidFill>
              </a:rPr>
              <a:t>Demand Management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68C86C-803B-5DD4-DD53-D483439F9DE1}"/>
              </a:ext>
            </a:extLst>
          </p:cNvPr>
          <p:cNvSpPr/>
          <p:nvPr/>
        </p:nvSpPr>
        <p:spPr bwMode="auto">
          <a:xfrm>
            <a:off x="3075974" y="4370681"/>
            <a:ext cx="4464496" cy="409469"/>
          </a:xfrm>
          <a:prstGeom prst="rect">
            <a:avLst/>
          </a:prstGeom>
          <a:noFill/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0" dirty="0">
                <a:solidFill>
                  <a:schemeClr val="accent2">
                    <a:lumMod val="50000"/>
                  </a:schemeClr>
                </a:solidFill>
              </a:rPr>
              <a:t>Project Management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765E5E-827C-6CF6-68D1-5B4852672C74}"/>
              </a:ext>
            </a:extLst>
          </p:cNvPr>
          <p:cNvSpPr txBox="1"/>
          <p:nvPr/>
        </p:nvSpPr>
        <p:spPr>
          <a:xfrm>
            <a:off x="3901336" y="2923066"/>
            <a:ext cx="1000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1" noProof="0" dirty="0">
                <a:solidFill>
                  <a:schemeClr val="accent2">
                    <a:lumMod val="50000"/>
                  </a:schemeClr>
                </a:solidFill>
              </a:rPr>
              <a:t>Top-down requests </a:t>
            </a: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A8CB6B53-3037-87C4-A4A8-0169E4E956E5}"/>
              </a:ext>
            </a:extLst>
          </p:cNvPr>
          <p:cNvCxnSpPr>
            <a:cxnSpLocks/>
            <a:endCxn id="8" idx="0"/>
          </p:cNvCxnSpPr>
          <p:nvPr/>
        </p:nvCxnSpPr>
        <p:spPr bwMode="auto">
          <a:xfrm rot="10800000">
            <a:off x="5308919" y="2482453"/>
            <a:ext cx="2235673" cy="3594309"/>
          </a:xfrm>
          <a:prstGeom prst="bentConnector4">
            <a:avLst>
              <a:gd name="adj1" fmla="val -96757"/>
              <a:gd name="adj2" fmla="val 106360"/>
            </a:avLst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D051F64-95E8-AFB2-75E8-500FC3A9302E}"/>
              </a:ext>
            </a:extLst>
          </p:cNvPr>
          <p:cNvCxnSpPr>
            <a:stCxn id="6" idx="3"/>
            <a:endCxn id="7" idx="1"/>
          </p:cNvCxnSpPr>
          <p:nvPr/>
        </p:nvCxnSpPr>
        <p:spPr bwMode="auto">
          <a:xfrm flipV="1">
            <a:off x="2811490" y="2881232"/>
            <a:ext cx="152400" cy="3854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96E3B69-9B2E-F707-5F50-A459BF99F0EF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 bwMode="auto">
          <a:xfrm flipV="1">
            <a:off x="3899994" y="2868718"/>
            <a:ext cx="880058" cy="12514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89EA509-D5D3-D676-6B96-2D9175AF4B2B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 bwMode="auto">
          <a:xfrm>
            <a:off x="5837783" y="2868718"/>
            <a:ext cx="494593" cy="7646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C664758-632B-6410-2E7D-FD511485F446}"/>
              </a:ext>
            </a:extLst>
          </p:cNvPr>
          <p:cNvCxnSpPr>
            <a:stCxn id="9" idx="3"/>
            <a:endCxn id="10" idx="1"/>
          </p:cNvCxnSpPr>
          <p:nvPr/>
        </p:nvCxnSpPr>
        <p:spPr bwMode="auto">
          <a:xfrm flipV="1">
            <a:off x="7268480" y="2871496"/>
            <a:ext cx="177620" cy="4868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7E38208-40E8-2A7D-097C-B2323CC36019}"/>
              </a:ext>
            </a:extLst>
          </p:cNvPr>
          <p:cNvCxnSpPr>
            <a:stCxn id="10" idx="3"/>
            <a:endCxn id="11" idx="1"/>
          </p:cNvCxnSpPr>
          <p:nvPr/>
        </p:nvCxnSpPr>
        <p:spPr bwMode="auto">
          <a:xfrm>
            <a:off x="8382204" y="2871496"/>
            <a:ext cx="126234" cy="0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8191D501-5BCF-D1D8-FCF1-DED166A2035C}"/>
              </a:ext>
            </a:extLst>
          </p:cNvPr>
          <p:cNvSpPr/>
          <p:nvPr/>
        </p:nvSpPr>
        <p:spPr bwMode="auto">
          <a:xfrm>
            <a:off x="3075975" y="5192900"/>
            <a:ext cx="4464495" cy="409469"/>
          </a:xfrm>
          <a:prstGeom prst="rect">
            <a:avLst/>
          </a:prstGeom>
          <a:solidFill>
            <a:schemeClr val="bg1">
              <a:lumMod val="65000"/>
            </a:schemeClr>
          </a:solidFill>
          <a:ln w="12699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0" dirty="0">
                <a:solidFill>
                  <a:schemeClr val="accent2">
                    <a:lumMod val="50000"/>
                  </a:schemeClr>
                </a:solidFill>
              </a:rPr>
              <a:t>Operations planning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A8417168-FBAC-7812-3D88-FEBB227E36EC}"/>
              </a:ext>
            </a:extLst>
          </p:cNvPr>
          <p:cNvCxnSpPr>
            <a:cxnSpLocks/>
            <a:stCxn id="8" idx="2"/>
            <a:endCxn id="21" idx="0"/>
          </p:cNvCxnSpPr>
          <p:nvPr/>
        </p:nvCxnSpPr>
        <p:spPr bwMode="auto">
          <a:xfrm rot="5400000">
            <a:off x="4750721" y="3812484"/>
            <a:ext cx="1115698" cy="696"/>
          </a:xfrm>
          <a:prstGeom prst="bentConnector3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A0635321-DCC0-04F0-02AE-64A176DF3CBE}"/>
              </a:ext>
            </a:extLst>
          </p:cNvPr>
          <p:cNvSpPr/>
          <p:nvPr/>
        </p:nvSpPr>
        <p:spPr bwMode="auto">
          <a:xfrm>
            <a:off x="786882" y="2564904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50" noProof="0" dirty="0">
                <a:solidFill>
                  <a:schemeClr val="accent2">
                    <a:lumMod val="50000"/>
                  </a:schemeClr>
                </a:solidFill>
              </a:rPr>
              <a:t>Business  Architecture 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A65C034-0A4C-E0C1-2439-094F319961A7}"/>
              </a:ext>
            </a:extLst>
          </p:cNvPr>
          <p:cNvCxnSpPr>
            <a:stCxn id="32" idx="3"/>
            <a:endCxn id="6" idx="1"/>
          </p:cNvCxnSpPr>
          <p:nvPr/>
        </p:nvCxnSpPr>
        <p:spPr bwMode="auto">
          <a:xfrm flipV="1">
            <a:off x="1722986" y="2885086"/>
            <a:ext cx="152400" cy="3854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1C135378-A5A6-F89A-7C6A-9128280CED1A}"/>
              </a:ext>
            </a:extLst>
          </p:cNvPr>
          <p:cNvCxnSpPr>
            <a:cxnSpLocks/>
            <a:endCxn id="32" idx="0"/>
          </p:cNvCxnSpPr>
          <p:nvPr/>
        </p:nvCxnSpPr>
        <p:spPr bwMode="auto">
          <a:xfrm rot="10800000" flipV="1">
            <a:off x="1254935" y="1810952"/>
            <a:ext cx="832939" cy="753952"/>
          </a:xfrm>
          <a:prstGeom prst="bentConnector2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B11A333C-54D0-2961-F49C-09219A1FF6D1}"/>
              </a:ext>
            </a:extLst>
          </p:cNvPr>
          <p:cNvSpPr txBox="1"/>
          <p:nvPr/>
        </p:nvSpPr>
        <p:spPr>
          <a:xfrm>
            <a:off x="2050238" y="1668516"/>
            <a:ext cx="152250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0" i="1" noProof="0" dirty="0">
                <a:solidFill>
                  <a:schemeClr val="accent2">
                    <a:lumMod val="50000"/>
                  </a:schemeClr>
                </a:solidFill>
              </a:rPr>
              <a:t>Enterprise  Strategy</a:t>
            </a:r>
          </a:p>
        </p:txBody>
      </p: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1BFE999C-D9AD-549E-7AFE-FBB64CD99838}"/>
              </a:ext>
            </a:extLst>
          </p:cNvPr>
          <p:cNvCxnSpPr>
            <a:endCxn id="6" idx="0"/>
          </p:cNvCxnSpPr>
          <p:nvPr/>
        </p:nvCxnSpPr>
        <p:spPr bwMode="auto">
          <a:xfrm rot="10800000" flipV="1">
            <a:off x="2343438" y="2213616"/>
            <a:ext cx="503482" cy="347434"/>
          </a:xfrm>
          <a:prstGeom prst="bentConnector2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F9E3A6F6-20F2-804C-EE42-0903BB88CE68}"/>
              </a:ext>
            </a:extLst>
          </p:cNvPr>
          <p:cNvSpPr txBox="1"/>
          <p:nvPr/>
        </p:nvSpPr>
        <p:spPr>
          <a:xfrm>
            <a:off x="2936776" y="2091327"/>
            <a:ext cx="193936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0" i="1" noProof="0" dirty="0">
                <a:solidFill>
                  <a:schemeClr val="accent2">
                    <a:lumMod val="50000"/>
                  </a:schemeClr>
                </a:solidFill>
              </a:rPr>
              <a:t>Technology Opportunities</a:t>
            </a:r>
          </a:p>
        </p:txBody>
      </p: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BCCD83E1-EF9C-E993-A8E5-7757C2F14A55}"/>
              </a:ext>
            </a:extLst>
          </p:cNvPr>
          <p:cNvCxnSpPr>
            <a:cxnSpLocks/>
            <a:stCxn id="21" idx="2"/>
            <a:endCxn id="39" idx="0"/>
          </p:cNvCxnSpPr>
          <p:nvPr/>
        </p:nvCxnSpPr>
        <p:spPr bwMode="auto">
          <a:xfrm rot="16200000" flipH="1">
            <a:off x="5101847" y="4986524"/>
            <a:ext cx="412750" cy="1"/>
          </a:xfrm>
          <a:prstGeom prst="bentConnector3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Box 22">
            <a:extLst>
              <a:ext uri="{FF2B5EF4-FFF2-40B4-BE49-F238E27FC236}">
                <a16:creationId xmlns:a16="http://schemas.microsoft.com/office/drawing/2014/main" id="{FFF6DD47-13F4-B411-23F6-13BCE90A16F6}"/>
              </a:ext>
            </a:extLst>
          </p:cNvPr>
          <p:cNvSpPr txBox="1"/>
          <p:nvPr/>
        </p:nvSpPr>
        <p:spPr>
          <a:xfrm>
            <a:off x="7620952" y="5914742"/>
            <a:ext cx="152250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0" i="1" noProof="0" dirty="0">
                <a:solidFill>
                  <a:schemeClr val="accent2">
                    <a:lumMod val="50000"/>
                  </a:schemeClr>
                </a:solidFill>
              </a:rPr>
              <a:t>Bottom-up requests </a:t>
            </a:r>
          </a:p>
        </p:txBody>
      </p:sp>
      <p:cxnSp>
        <p:nvCxnSpPr>
          <p:cNvPr id="75" name="Connector: Elbow 42">
            <a:extLst>
              <a:ext uri="{FF2B5EF4-FFF2-40B4-BE49-F238E27FC236}">
                <a16:creationId xmlns:a16="http://schemas.microsoft.com/office/drawing/2014/main" id="{804D839B-D19A-8DD4-76CF-125233290A77}"/>
              </a:ext>
            </a:extLst>
          </p:cNvPr>
          <p:cNvCxnSpPr>
            <a:cxnSpLocks/>
            <a:stCxn id="46" idx="2"/>
            <a:endCxn id="39" idx="3"/>
          </p:cNvCxnSpPr>
          <p:nvPr/>
        </p:nvCxnSpPr>
        <p:spPr bwMode="auto">
          <a:xfrm rot="5400000">
            <a:off x="6935766" y="4417033"/>
            <a:ext cx="1585307" cy="375897"/>
          </a:xfrm>
          <a:prstGeom prst="bentConnector2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3" name="Connector: Elbow 42">
            <a:extLst>
              <a:ext uri="{FF2B5EF4-FFF2-40B4-BE49-F238E27FC236}">
                <a16:creationId xmlns:a16="http://schemas.microsoft.com/office/drawing/2014/main" id="{4F10F601-AB89-4901-55F1-0606450788BE}"/>
              </a:ext>
            </a:extLst>
          </p:cNvPr>
          <p:cNvCxnSpPr>
            <a:cxnSpLocks/>
            <a:stCxn id="46" idx="2"/>
            <a:endCxn id="21" idx="3"/>
          </p:cNvCxnSpPr>
          <p:nvPr/>
        </p:nvCxnSpPr>
        <p:spPr bwMode="auto">
          <a:xfrm rot="5400000">
            <a:off x="7346875" y="4005924"/>
            <a:ext cx="763088" cy="375897"/>
          </a:xfrm>
          <a:prstGeom prst="bentConnector2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464790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786E3-A4E8-70F8-5359-9C966127A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BC296B-B884-9BA5-8B2E-2F5E8DA56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>
            <a:noAutofit/>
          </a:bodyPr>
          <a:lstStyle/>
          <a:p>
            <a:r>
              <a:rPr lang="en-US" sz="2800" noProof="0" dirty="0"/>
              <a:t>IT MANAGEMENT: OPERATIONS PLANNING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B5BC7D73-E3C1-813A-A1E9-B10BC3921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950" y="1524000"/>
            <a:ext cx="8420100" cy="4572000"/>
          </a:xfrm>
        </p:spPr>
        <p:txBody>
          <a:bodyPr anchor="ctr">
            <a:normAutofit/>
          </a:bodyPr>
          <a:lstStyle/>
          <a:p>
            <a:r>
              <a:rPr lang="en-US" noProof="0" dirty="0"/>
              <a:t>Operations planning addresses </a:t>
            </a:r>
          </a:p>
          <a:p>
            <a:pPr lvl="1"/>
            <a:r>
              <a:rPr lang="en-US" noProof="0" dirty="0"/>
              <a:t>Data centers, </a:t>
            </a:r>
          </a:p>
          <a:p>
            <a:pPr lvl="1"/>
            <a:r>
              <a:rPr lang="en-US" noProof="0" dirty="0"/>
              <a:t>Networks, </a:t>
            </a:r>
          </a:p>
          <a:p>
            <a:pPr lvl="1"/>
            <a:r>
              <a:rPr lang="en-US" noProof="0" dirty="0"/>
              <a:t>End user computing  (local networks and related  systems).</a:t>
            </a:r>
          </a:p>
          <a:p>
            <a:pPr lvl="1"/>
            <a:r>
              <a:rPr lang="en-US" noProof="0" dirty="0"/>
              <a:t>Customer Care / Help Desk: support users </a:t>
            </a:r>
          </a:p>
          <a:p>
            <a:pPr lvl="1"/>
            <a:r>
              <a:rPr lang="en-US" noProof="0" dirty="0"/>
              <a:t>Disaster Recovery </a:t>
            </a:r>
          </a:p>
          <a:p>
            <a:r>
              <a:rPr lang="en-US" noProof="0" dirty="0"/>
              <a:t>It schedules tasks, and defines staff and shifts, for:</a:t>
            </a:r>
          </a:p>
          <a:p>
            <a:pPr lvl="1"/>
            <a:r>
              <a:rPr lang="en-US" noProof="0" dirty="0"/>
              <a:t>Routine operations </a:t>
            </a:r>
          </a:p>
          <a:p>
            <a:pPr lvl="1"/>
            <a:r>
              <a:rPr lang="en-US" noProof="0" dirty="0"/>
              <a:t>Transition and deployment of new software at the end of projects</a:t>
            </a:r>
          </a:p>
          <a:p>
            <a:pPr lvl="1"/>
            <a:r>
              <a:rPr lang="en-US" noProof="0" dirty="0"/>
              <a:t>Configuration changes</a:t>
            </a:r>
          </a:p>
          <a:p>
            <a:pPr lvl="1"/>
            <a:r>
              <a:rPr lang="en-US" noProof="0" dirty="0"/>
              <a:t>Security</a:t>
            </a:r>
          </a:p>
          <a:p>
            <a:pPr lvl="1"/>
            <a:r>
              <a:rPr lang="en-US" noProof="0" dirty="0"/>
              <a:t>Etc. </a:t>
            </a:r>
          </a:p>
        </p:txBody>
      </p:sp>
    </p:spTree>
    <p:extLst>
      <p:ext uri="{BB962C8B-B14F-4D97-AF65-F5344CB8AC3E}">
        <p14:creationId xmlns:p14="http://schemas.microsoft.com/office/powerpoint/2010/main" val="24178728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48100-9530-8357-0E53-721A4FD9B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35">
            <a:extLst>
              <a:ext uri="{FF2B5EF4-FFF2-40B4-BE49-F238E27FC236}">
                <a16:creationId xmlns:a16="http://schemas.microsoft.com/office/drawing/2014/main" id="{2BCED545-7646-84EA-DAD8-D2051F194B2F}"/>
              </a:ext>
            </a:extLst>
          </p:cNvPr>
          <p:cNvSpPr/>
          <p:nvPr/>
        </p:nvSpPr>
        <p:spPr bwMode="auto">
          <a:xfrm>
            <a:off x="6243316" y="1255632"/>
            <a:ext cx="3346101" cy="2556696"/>
          </a:xfrm>
          <a:prstGeom prst="rect">
            <a:avLst/>
          </a:prstGeom>
          <a:noFill/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0" dirty="0">
                <a:solidFill>
                  <a:schemeClr val="accent2">
                    <a:lumMod val="50000"/>
                  </a:schemeClr>
                </a:solidFill>
              </a:rPr>
              <a:t>Resources Allocation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B4868E0-61B0-3172-0C66-1C13FAEA9FFB}"/>
              </a:ext>
            </a:extLst>
          </p:cNvPr>
          <p:cNvSpPr/>
          <p:nvPr/>
        </p:nvSpPr>
        <p:spPr bwMode="auto">
          <a:xfrm>
            <a:off x="633216" y="1245890"/>
            <a:ext cx="3381592" cy="2622883"/>
          </a:xfrm>
          <a:prstGeom prst="rect">
            <a:avLst/>
          </a:prstGeom>
          <a:noFill/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0" dirty="0">
                <a:solidFill>
                  <a:schemeClr val="accent2">
                    <a:lumMod val="50000"/>
                  </a:schemeClr>
                </a:solidFill>
              </a:rPr>
              <a:t>Architecture Planning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3B3057F-9EB6-AA8D-B994-E8DF24E44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noProof="0" dirty="0">
                <a:solidFill>
                  <a:schemeClr val="accent2">
                    <a:lumMod val="50000"/>
                  </a:schemeClr>
                </a:solidFill>
              </a:rPr>
              <a:t>IT MANAGEMENT: DEMAND MANAGEMENT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E6CF7C-A3B9-D881-BF98-3CC83BCC3829}"/>
              </a:ext>
            </a:extLst>
          </p:cNvPr>
          <p:cNvSpPr/>
          <p:nvPr/>
        </p:nvSpPr>
        <p:spPr bwMode="auto">
          <a:xfrm>
            <a:off x="1875386" y="2561050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50" noProof="0" dirty="0">
                <a:solidFill>
                  <a:schemeClr val="accent2">
                    <a:lumMod val="50000"/>
                  </a:schemeClr>
                </a:solidFill>
              </a:rPr>
              <a:t>Digital  Architecture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61A124-0FD9-90E1-30F8-92ABA1ACE22E}"/>
              </a:ext>
            </a:extLst>
          </p:cNvPr>
          <p:cNvSpPr/>
          <p:nvPr/>
        </p:nvSpPr>
        <p:spPr bwMode="auto">
          <a:xfrm>
            <a:off x="2963890" y="2557196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50" noProof="0" dirty="0">
                <a:solidFill>
                  <a:schemeClr val="accent2">
                    <a:lumMod val="50000"/>
                  </a:schemeClr>
                </a:solidFill>
              </a:rPr>
              <a:t>Initiative Proposals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FCF0A2-E90E-2BB0-41F8-F704620E505B}"/>
              </a:ext>
            </a:extLst>
          </p:cNvPr>
          <p:cNvSpPr/>
          <p:nvPr/>
        </p:nvSpPr>
        <p:spPr bwMode="auto">
          <a:xfrm>
            <a:off x="4780052" y="2482452"/>
            <a:ext cx="1057731" cy="772531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noProof="0" dirty="0">
                <a:solidFill>
                  <a:schemeClr val="accent2">
                    <a:lumMod val="50000"/>
                  </a:schemeClr>
                </a:solidFill>
              </a:rPr>
              <a:t>Portfolio Management and Project Launch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3500B7-D9F3-4953-C91D-4E2A7170D1CE}"/>
              </a:ext>
            </a:extLst>
          </p:cNvPr>
          <p:cNvSpPr/>
          <p:nvPr/>
        </p:nvSpPr>
        <p:spPr bwMode="auto">
          <a:xfrm>
            <a:off x="6332376" y="2552328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noProof="0" dirty="0">
                <a:solidFill>
                  <a:schemeClr val="accent2">
                    <a:lumMod val="50000"/>
                  </a:schemeClr>
                </a:solidFill>
              </a:rPr>
              <a:t>Human Resources Planning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C20CA1-AC1B-EAF0-AAB2-158F16EE700F}"/>
              </a:ext>
            </a:extLst>
          </p:cNvPr>
          <p:cNvSpPr/>
          <p:nvPr/>
        </p:nvSpPr>
        <p:spPr bwMode="auto">
          <a:xfrm>
            <a:off x="7446100" y="2547460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noProof="0" dirty="0" err="1">
                <a:solidFill>
                  <a:schemeClr val="accent2">
                    <a:lumMod val="50000"/>
                  </a:schemeClr>
                </a:solidFill>
              </a:rPr>
              <a:t>Infrastr</a:t>
            </a:r>
            <a:r>
              <a:rPr lang="en-US" sz="1200" noProof="0" dirty="0">
                <a:solidFill>
                  <a:schemeClr val="accent2">
                    <a:lumMod val="50000"/>
                  </a:schemeClr>
                </a:solidFill>
              </a:rPr>
              <a:t>. Resources Planning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EA5341-C826-6389-9E11-1EBBF253051F}"/>
              </a:ext>
            </a:extLst>
          </p:cNvPr>
          <p:cNvSpPr/>
          <p:nvPr/>
        </p:nvSpPr>
        <p:spPr bwMode="auto">
          <a:xfrm>
            <a:off x="8508438" y="2547460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noProof="0" dirty="0">
                <a:solidFill>
                  <a:schemeClr val="accent2">
                    <a:lumMod val="50000"/>
                  </a:schemeClr>
                </a:solidFill>
              </a:rPr>
              <a:t>Financial </a:t>
            </a:r>
            <a:r>
              <a:rPr lang="en-US" sz="1200" noProof="0" dirty="0" err="1">
                <a:solidFill>
                  <a:schemeClr val="accent2">
                    <a:lumMod val="50000"/>
                  </a:schemeClr>
                </a:solidFill>
              </a:rPr>
              <a:t>Palanning</a:t>
            </a:r>
            <a:r>
              <a:rPr lang="en-US" sz="1200" noProof="0" dirty="0">
                <a:solidFill>
                  <a:schemeClr val="accent2">
                    <a:lumMod val="50000"/>
                  </a:schemeClr>
                </a:solidFill>
              </a:rPr>
              <a:t> (Budget)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FE70BD-6794-A661-A2D7-AAE40B9B8FC9}"/>
              </a:ext>
            </a:extLst>
          </p:cNvPr>
          <p:cNvSpPr/>
          <p:nvPr/>
        </p:nvSpPr>
        <p:spPr bwMode="auto">
          <a:xfrm>
            <a:off x="3075974" y="5978816"/>
            <a:ext cx="4464496" cy="409469"/>
          </a:xfrm>
          <a:prstGeom prst="rect">
            <a:avLst/>
          </a:prstGeom>
          <a:solidFill>
            <a:schemeClr val="bg1">
              <a:lumMod val="65000"/>
            </a:schemeClr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0" dirty="0">
                <a:solidFill>
                  <a:schemeClr val="accent2">
                    <a:lumMod val="50000"/>
                  </a:schemeClr>
                </a:solidFill>
              </a:rPr>
              <a:t>Demand Management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22CA258-DF8F-5A69-057A-7C6E017F6BF7}"/>
              </a:ext>
            </a:extLst>
          </p:cNvPr>
          <p:cNvSpPr/>
          <p:nvPr/>
        </p:nvSpPr>
        <p:spPr bwMode="auto">
          <a:xfrm>
            <a:off x="3075974" y="4370681"/>
            <a:ext cx="4464496" cy="409469"/>
          </a:xfrm>
          <a:prstGeom prst="rect">
            <a:avLst/>
          </a:prstGeom>
          <a:noFill/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0" dirty="0">
                <a:solidFill>
                  <a:schemeClr val="accent2">
                    <a:lumMod val="50000"/>
                  </a:schemeClr>
                </a:solidFill>
              </a:rPr>
              <a:t>Project Management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2BE6A3-F182-72BD-1D6D-9007E7FAE1F8}"/>
              </a:ext>
            </a:extLst>
          </p:cNvPr>
          <p:cNvSpPr txBox="1"/>
          <p:nvPr/>
        </p:nvSpPr>
        <p:spPr>
          <a:xfrm>
            <a:off x="3901336" y="2923066"/>
            <a:ext cx="1000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1" noProof="0" dirty="0">
                <a:solidFill>
                  <a:schemeClr val="accent2">
                    <a:lumMod val="50000"/>
                  </a:schemeClr>
                </a:solidFill>
              </a:rPr>
              <a:t>Top-down requests </a:t>
            </a: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4263B3F7-B467-74EB-FADE-3AAE888C6360}"/>
              </a:ext>
            </a:extLst>
          </p:cNvPr>
          <p:cNvCxnSpPr>
            <a:cxnSpLocks/>
            <a:endCxn id="8" idx="0"/>
          </p:cNvCxnSpPr>
          <p:nvPr/>
        </p:nvCxnSpPr>
        <p:spPr bwMode="auto">
          <a:xfrm rot="10800000">
            <a:off x="5308919" y="2482453"/>
            <a:ext cx="2235673" cy="3594309"/>
          </a:xfrm>
          <a:prstGeom prst="bentConnector4">
            <a:avLst>
              <a:gd name="adj1" fmla="val -96757"/>
              <a:gd name="adj2" fmla="val 106360"/>
            </a:avLst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159FE82-8BC6-9B66-7DFC-D0BE32707B76}"/>
              </a:ext>
            </a:extLst>
          </p:cNvPr>
          <p:cNvCxnSpPr>
            <a:stCxn id="6" idx="3"/>
            <a:endCxn id="7" idx="1"/>
          </p:cNvCxnSpPr>
          <p:nvPr/>
        </p:nvCxnSpPr>
        <p:spPr bwMode="auto">
          <a:xfrm flipV="1">
            <a:off x="2811490" y="2881232"/>
            <a:ext cx="152400" cy="3854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DB42171-8497-5D7A-9892-CC149A1A6721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 bwMode="auto">
          <a:xfrm flipV="1">
            <a:off x="3899994" y="2868718"/>
            <a:ext cx="880058" cy="12514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20F89EF-2093-68D0-9162-3B32ECB3C722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 bwMode="auto">
          <a:xfrm>
            <a:off x="5837783" y="2868718"/>
            <a:ext cx="494593" cy="7646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DF66F64-40EA-0CF5-DBD0-B358223A7D94}"/>
              </a:ext>
            </a:extLst>
          </p:cNvPr>
          <p:cNvCxnSpPr>
            <a:stCxn id="9" idx="3"/>
            <a:endCxn id="10" idx="1"/>
          </p:cNvCxnSpPr>
          <p:nvPr/>
        </p:nvCxnSpPr>
        <p:spPr bwMode="auto">
          <a:xfrm flipV="1">
            <a:off x="7268480" y="2871496"/>
            <a:ext cx="177620" cy="4868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371F1B17-2B32-F7DD-DD25-DB4F34D63317}"/>
              </a:ext>
            </a:extLst>
          </p:cNvPr>
          <p:cNvCxnSpPr>
            <a:stCxn id="10" idx="3"/>
            <a:endCxn id="11" idx="1"/>
          </p:cNvCxnSpPr>
          <p:nvPr/>
        </p:nvCxnSpPr>
        <p:spPr bwMode="auto">
          <a:xfrm>
            <a:off x="8382204" y="2871496"/>
            <a:ext cx="126234" cy="0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993517D2-79F2-6E1F-7A7C-263C4AE789E9}"/>
              </a:ext>
            </a:extLst>
          </p:cNvPr>
          <p:cNvSpPr/>
          <p:nvPr/>
        </p:nvSpPr>
        <p:spPr bwMode="auto">
          <a:xfrm>
            <a:off x="3075975" y="5192900"/>
            <a:ext cx="4464495" cy="409469"/>
          </a:xfrm>
          <a:prstGeom prst="rect">
            <a:avLst/>
          </a:prstGeom>
          <a:noFill/>
          <a:ln w="12699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0" dirty="0">
                <a:solidFill>
                  <a:schemeClr val="accent2">
                    <a:lumMod val="50000"/>
                  </a:schemeClr>
                </a:solidFill>
              </a:rPr>
              <a:t>Operations planning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AA014434-B719-DFD9-9B6A-83613D6B6607}"/>
              </a:ext>
            </a:extLst>
          </p:cNvPr>
          <p:cNvCxnSpPr>
            <a:cxnSpLocks/>
            <a:stCxn id="8" idx="2"/>
            <a:endCxn id="21" idx="0"/>
          </p:cNvCxnSpPr>
          <p:nvPr/>
        </p:nvCxnSpPr>
        <p:spPr bwMode="auto">
          <a:xfrm rot="5400000">
            <a:off x="4750721" y="3812484"/>
            <a:ext cx="1115698" cy="696"/>
          </a:xfrm>
          <a:prstGeom prst="bentConnector3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764F08BC-ABA7-5C79-8CDD-483854695D40}"/>
              </a:ext>
            </a:extLst>
          </p:cNvPr>
          <p:cNvSpPr/>
          <p:nvPr/>
        </p:nvSpPr>
        <p:spPr bwMode="auto">
          <a:xfrm>
            <a:off x="786882" y="2564904"/>
            <a:ext cx="936104" cy="648072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50" noProof="0" dirty="0">
                <a:solidFill>
                  <a:schemeClr val="accent2">
                    <a:lumMod val="50000"/>
                  </a:schemeClr>
                </a:solidFill>
              </a:rPr>
              <a:t>Business  Architecture 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B8575D6-C0AC-D821-7129-51E354E21048}"/>
              </a:ext>
            </a:extLst>
          </p:cNvPr>
          <p:cNvCxnSpPr>
            <a:stCxn id="32" idx="3"/>
            <a:endCxn id="6" idx="1"/>
          </p:cNvCxnSpPr>
          <p:nvPr/>
        </p:nvCxnSpPr>
        <p:spPr bwMode="auto">
          <a:xfrm flipV="1">
            <a:off x="1722986" y="2885086"/>
            <a:ext cx="152400" cy="3854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F86A7142-6AEF-4BE6-7AC4-583BCA7CDE99}"/>
              </a:ext>
            </a:extLst>
          </p:cNvPr>
          <p:cNvCxnSpPr>
            <a:cxnSpLocks/>
            <a:endCxn id="32" idx="0"/>
          </p:cNvCxnSpPr>
          <p:nvPr/>
        </p:nvCxnSpPr>
        <p:spPr bwMode="auto">
          <a:xfrm rot="10800000" flipV="1">
            <a:off x="1254935" y="1810952"/>
            <a:ext cx="832939" cy="753952"/>
          </a:xfrm>
          <a:prstGeom prst="bentConnector2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21A0D9B4-04F2-D7C4-4718-B11FCC26A2B3}"/>
              </a:ext>
            </a:extLst>
          </p:cNvPr>
          <p:cNvSpPr txBox="1"/>
          <p:nvPr/>
        </p:nvSpPr>
        <p:spPr>
          <a:xfrm>
            <a:off x="2050238" y="1668516"/>
            <a:ext cx="152250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0" i="1" noProof="0" dirty="0">
                <a:solidFill>
                  <a:schemeClr val="accent2">
                    <a:lumMod val="50000"/>
                  </a:schemeClr>
                </a:solidFill>
              </a:rPr>
              <a:t>Enterprise  Strategy</a:t>
            </a:r>
          </a:p>
        </p:txBody>
      </p: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DA4FCD00-0BB2-F2C3-3C3F-EE89DB19C04A}"/>
              </a:ext>
            </a:extLst>
          </p:cNvPr>
          <p:cNvCxnSpPr>
            <a:endCxn id="6" idx="0"/>
          </p:cNvCxnSpPr>
          <p:nvPr/>
        </p:nvCxnSpPr>
        <p:spPr bwMode="auto">
          <a:xfrm rot="10800000" flipV="1">
            <a:off x="2343438" y="2213616"/>
            <a:ext cx="503482" cy="347434"/>
          </a:xfrm>
          <a:prstGeom prst="bentConnector2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15CAC32E-1E86-D354-3638-9800171D0D1D}"/>
              </a:ext>
            </a:extLst>
          </p:cNvPr>
          <p:cNvSpPr txBox="1"/>
          <p:nvPr/>
        </p:nvSpPr>
        <p:spPr>
          <a:xfrm>
            <a:off x="2936776" y="2091327"/>
            <a:ext cx="193936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0" i="1" noProof="0" dirty="0">
                <a:solidFill>
                  <a:schemeClr val="accent2">
                    <a:lumMod val="50000"/>
                  </a:schemeClr>
                </a:solidFill>
              </a:rPr>
              <a:t>Technology Opportunities</a:t>
            </a:r>
          </a:p>
        </p:txBody>
      </p: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B6578EFE-EA42-2E95-445D-A57DBED84386}"/>
              </a:ext>
            </a:extLst>
          </p:cNvPr>
          <p:cNvCxnSpPr>
            <a:cxnSpLocks/>
            <a:stCxn id="21" idx="2"/>
            <a:endCxn id="39" idx="0"/>
          </p:cNvCxnSpPr>
          <p:nvPr/>
        </p:nvCxnSpPr>
        <p:spPr bwMode="auto">
          <a:xfrm rot="16200000" flipH="1">
            <a:off x="5101847" y="4986524"/>
            <a:ext cx="412750" cy="1"/>
          </a:xfrm>
          <a:prstGeom prst="bentConnector3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Box 22">
            <a:extLst>
              <a:ext uri="{FF2B5EF4-FFF2-40B4-BE49-F238E27FC236}">
                <a16:creationId xmlns:a16="http://schemas.microsoft.com/office/drawing/2014/main" id="{248DE470-74F3-2203-2949-3753C58E8A5F}"/>
              </a:ext>
            </a:extLst>
          </p:cNvPr>
          <p:cNvSpPr txBox="1"/>
          <p:nvPr/>
        </p:nvSpPr>
        <p:spPr>
          <a:xfrm>
            <a:off x="7620952" y="5914742"/>
            <a:ext cx="152250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0" i="1" noProof="0" dirty="0">
                <a:solidFill>
                  <a:schemeClr val="accent2">
                    <a:lumMod val="50000"/>
                  </a:schemeClr>
                </a:solidFill>
              </a:rPr>
              <a:t>Bottom-up requests </a:t>
            </a:r>
          </a:p>
        </p:txBody>
      </p:sp>
      <p:cxnSp>
        <p:nvCxnSpPr>
          <p:cNvPr id="75" name="Connector: Elbow 42">
            <a:extLst>
              <a:ext uri="{FF2B5EF4-FFF2-40B4-BE49-F238E27FC236}">
                <a16:creationId xmlns:a16="http://schemas.microsoft.com/office/drawing/2014/main" id="{7E8F1CAE-7754-5261-4E22-956CFED18562}"/>
              </a:ext>
            </a:extLst>
          </p:cNvPr>
          <p:cNvCxnSpPr>
            <a:cxnSpLocks/>
            <a:stCxn id="46" idx="2"/>
            <a:endCxn id="39" idx="3"/>
          </p:cNvCxnSpPr>
          <p:nvPr/>
        </p:nvCxnSpPr>
        <p:spPr bwMode="auto">
          <a:xfrm rot="5400000">
            <a:off x="6935766" y="4417033"/>
            <a:ext cx="1585307" cy="375897"/>
          </a:xfrm>
          <a:prstGeom prst="bentConnector2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3" name="Connector: Elbow 42">
            <a:extLst>
              <a:ext uri="{FF2B5EF4-FFF2-40B4-BE49-F238E27FC236}">
                <a16:creationId xmlns:a16="http://schemas.microsoft.com/office/drawing/2014/main" id="{90F109A8-B311-1B46-E59D-E60AD116BFAB}"/>
              </a:ext>
            </a:extLst>
          </p:cNvPr>
          <p:cNvCxnSpPr>
            <a:cxnSpLocks/>
            <a:stCxn id="46" idx="2"/>
            <a:endCxn id="21" idx="3"/>
          </p:cNvCxnSpPr>
          <p:nvPr/>
        </p:nvCxnSpPr>
        <p:spPr bwMode="auto">
          <a:xfrm rot="5400000">
            <a:off x="7346875" y="4005924"/>
            <a:ext cx="763088" cy="375897"/>
          </a:xfrm>
          <a:prstGeom prst="bentConnector2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5220039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69FDC-8E50-9F3A-411C-56B1BAE03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79218B-D581-59F7-4986-75BD86256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>
            <a:noAutofit/>
          </a:bodyPr>
          <a:lstStyle/>
          <a:p>
            <a:r>
              <a:rPr lang="en-US" sz="2800" noProof="0" dirty="0">
                <a:solidFill>
                  <a:schemeClr val="accent2">
                    <a:lumMod val="50000"/>
                  </a:schemeClr>
                </a:solidFill>
              </a:rPr>
              <a:t>IT MANAGEMENT: DEMAND MANAGEMENT</a:t>
            </a:r>
            <a:endParaRPr lang="en-US" sz="2800" noProof="0" dirty="0"/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794CB1E1-AED4-6B27-0D31-FE75BDB96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950" y="1524000"/>
            <a:ext cx="8420100" cy="4572000"/>
          </a:xfrm>
        </p:spPr>
        <p:txBody>
          <a:bodyPr anchor="ctr">
            <a:normAutofit/>
          </a:bodyPr>
          <a:lstStyle/>
          <a:p>
            <a:r>
              <a:rPr lang="en-US" noProof="0" dirty="0"/>
              <a:t>Demand Management is a decentralized process that addresses IT issues within the organization units of an enterprise, such as a Division (e.g., the Sales Division of an automotive corporation) or a Department (e.g., Human Resources) </a:t>
            </a:r>
          </a:p>
          <a:p>
            <a:r>
              <a:rPr lang="en-US" noProof="0" dirty="0"/>
              <a:t>Demand Management includes</a:t>
            </a:r>
          </a:p>
          <a:p>
            <a:pPr lvl="1"/>
            <a:r>
              <a:rPr lang="en-US" noProof="0" dirty="0"/>
              <a:t>Identification of information needs of user departments which shall generate bottom-up requests for</a:t>
            </a:r>
          </a:p>
          <a:p>
            <a:pPr lvl="2"/>
            <a:r>
              <a:rPr lang="en-US" noProof="0" dirty="0"/>
              <a:t>New applications  </a:t>
            </a:r>
          </a:p>
          <a:p>
            <a:pPr lvl="2"/>
            <a:r>
              <a:rPr lang="en-US" noProof="0" dirty="0"/>
              <a:t>Additions to or modifications of existing applications</a:t>
            </a:r>
          </a:p>
          <a:p>
            <a:pPr lvl="1"/>
            <a:r>
              <a:rPr lang="en-US" noProof="0" dirty="0"/>
              <a:t>Support to requirements definition </a:t>
            </a:r>
          </a:p>
          <a:p>
            <a:pPr lvl="1"/>
            <a:r>
              <a:rPr lang="en-US" noProof="0" dirty="0"/>
              <a:t>User project management </a:t>
            </a:r>
          </a:p>
        </p:txBody>
      </p:sp>
    </p:spTree>
    <p:extLst>
      <p:ext uri="{BB962C8B-B14F-4D97-AF65-F5344CB8AC3E}">
        <p14:creationId xmlns:p14="http://schemas.microsoft.com/office/powerpoint/2010/main" val="2178794237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699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699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C:\Programmi\Microsoft Office\Templates\Blank Presentation.pot</Template>
  <TotalTime>8969</TotalTime>
  <Words>1521</Words>
  <Application>Microsoft Office PowerPoint</Application>
  <PresentationFormat>A4 (21x29,7 cm)</PresentationFormat>
  <Paragraphs>278</Paragraphs>
  <Slides>19</Slides>
  <Notes>17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5" baseType="lpstr">
      <vt:lpstr>Arial</vt:lpstr>
      <vt:lpstr>Helvetica</vt:lpstr>
      <vt:lpstr>Tahoma</vt:lpstr>
      <vt:lpstr>Times New Roman</vt:lpstr>
      <vt:lpstr>Blank Presentation</vt:lpstr>
      <vt:lpstr>Fotografia di Photo Editor</vt:lpstr>
      <vt:lpstr>IT MANAGEMENT PROCESSES R 250918</vt:lpstr>
      <vt:lpstr>FOREWORD: IT FOR COMPETITIVE ADVANTAGE  From: Porter &amp; Millar  “How  Information  gives  you competitive advantage” (1985)</vt:lpstr>
      <vt:lpstr>IT MANAGEMENT: OVERVIEW</vt:lpstr>
      <vt:lpstr>IT MANAGEMENT: OVERVIEW</vt:lpstr>
      <vt:lpstr>IT MANAGEMENT: OVERVIEW</vt:lpstr>
      <vt:lpstr>IT MANAGEMENT: ARCHITECTURE PLANNING </vt:lpstr>
      <vt:lpstr>IT MANAGEMENT: ARCHITECTURE PLANNING </vt:lpstr>
      <vt:lpstr>IT MANAGEMENT: PORTFOLIO MANAGEMENT</vt:lpstr>
      <vt:lpstr>IT MANAGEMENT: PORTFOLIO MANAGEMENT</vt:lpstr>
      <vt:lpstr>IT MANAGEMENT: PORTFOLIO MANAGEMENT</vt:lpstr>
      <vt:lpstr>IT MANAGEMENT: PORTFOLIO MANAGEMENT</vt:lpstr>
      <vt:lpstr>IT MANAGEMENT: RESOURCES PLANNING</vt:lpstr>
      <vt:lpstr>IT MANAGEMENT: RESOURCES PLANNING</vt:lpstr>
      <vt:lpstr>IT MANAGEMENT: PROJECT MANAGEMENT </vt:lpstr>
      <vt:lpstr>IT MANAGEMENT: PROJECT MANAGEMENT</vt:lpstr>
      <vt:lpstr>IT MANAGEMENT: OPERATIONS PLANNING </vt:lpstr>
      <vt:lpstr>IT MANAGEMENT: OPERATIONS PLANNING</vt:lpstr>
      <vt:lpstr>IT MANAGEMENT: DEMAND MANAGEMENT</vt:lpstr>
      <vt:lpstr>IT MANAGEMENT: DEMAND MANAGEMENT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Mip</dc:title>
  <dc:creator>PROF. MOTTA</dc:creator>
  <cp:lastModifiedBy>gianmario motta</cp:lastModifiedBy>
  <cp:revision>2582</cp:revision>
  <cp:lastPrinted>1999-09-25T10:12:07Z</cp:lastPrinted>
  <dcterms:created xsi:type="dcterms:W3CDTF">1998-09-05T08:17:15Z</dcterms:created>
  <dcterms:modified xsi:type="dcterms:W3CDTF">2025-09-21T09:53:15Z</dcterms:modified>
</cp:coreProperties>
</file>