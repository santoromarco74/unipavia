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32" r:id="rId1"/>
    <p:sldMasterId id="2147483744" r:id="rId2"/>
  </p:sldMasterIdLst>
  <p:notesMasterIdLst>
    <p:notesMasterId r:id="rId29"/>
  </p:notesMasterIdLst>
  <p:sldIdLst>
    <p:sldId id="416" r:id="rId3"/>
    <p:sldId id="428" r:id="rId4"/>
    <p:sldId id="429" r:id="rId5"/>
    <p:sldId id="430" r:id="rId6"/>
    <p:sldId id="405" r:id="rId7"/>
    <p:sldId id="448" r:id="rId8"/>
    <p:sldId id="449" r:id="rId9"/>
    <p:sldId id="450" r:id="rId10"/>
    <p:sldId id="451" r:id="rId11"/>
    <p:sldId id="452" r:id="rId12"/>
    <p:sldId id="431" r:id="rId13"/>
    <p:sldId id="433" r:id="rId14"/>
    <p:sldId id="434" r:id="rId15"/>
    <p:sldId id="403" r:id="rId16"/>
    <p:sldId id="404" r:id="rId17"/>
    <p:sldId id="447" r:id="rId18"/>
    <p:sldId id="406" r:id="rId19"/>
    <p:sldId id="407" r:id="rId20"/>
    <p:sldId id="408" r:id="rId21"/>
    <p:sldId id="409" r:id="rId22"/>
    <p:sldId id="410" r:id="rId23"/>
    <p:sldId id="411" r:id="rId24"/>
    <p:sldId id="413" r:id="rId25"/>
    <p:sldId id="414" r:id="rId26"/>
    <p:sldId id="415" r:id="rId27"/>
    <p:sldId id="417" r:id="rId28"/>
  </p:sldIdLst>
  <p:sldSz cx="9144000" cy="6858000" type="screen4x3"/>
  <p:notesSz cx="6858000" cy="9144000"/>
  <p:defaultTextStyle>
    <a:defPPr>
      <a:defRPr lang="en-GB"/>
    </a:defPPr>
    <a:lvl1pPr algn="l" rtl="0" eaLnBrk="0" fontAlgn="base" hangingPunct="0">
      <a:spcBef>
        <a:spcPct val="0"/>
      </a:spcBef>
      <a:spcAft>
        <a:spcPct val="0"/>
      </a:spcAft>
      <a:defRPr sz="2800" kern="1200">
        <a:solidFill>
          <a:schemeClr val="tx1"/>
        </a:solidFill>
        <a:latin typeface="Times"/>
        <a:ea typeface="+mn-ea"/>
        <a:cs typeface="+mn-cs"/>
      </a:defRPr>
    </a:lvl1pPr>
    <a:lvl2pPr marL="457200" algn="l" rtl="0" eaLnBrk="0" fontAlgn="base" hangingPunct="0">
      <a:spcBef>
        <a:spcPct val="0"/>
      </a:spcBef>
      <a:spcAft>
        <a:spcPct val="0"/>
      </a:spcAft>
      <a:defRPr sz="2800" kern="1200">
        <a:solidFill>
          <a:schemeClr val="tx1"/>
        </a:solidFill>
        <a:latin typeface="Times"/>
        <a:ea typeface="+mn-ea"/>
        <a:cs typeface="+mn-cs"/>
      </a:defRPr>
    </a:lvl2pPr>
    <a:lvl3pPr marL="914400" algn="l" rtl="0" eaLnBrk="0" fontAlgn="base" hangingPunct="0">
      <a:spcBef>
        <a:spcPct val="0"/>
      </a:spcBef>
      <a:spcAft>
        <a:spcPct val="0"/>
      </a:spcAft>
      <a:defRPr sz="2800" kern="1200">
        <a:solidFill>
          <a:schemeClr val="tx1"/>
        </a:solidFill>
        <a:latin typeface="Times"/>
        <a:ea typeface="+mn-ea"/>
        <a:cs typeface="+mn-cs"/>
      </a:defRPr>
    </a:lvl3pPr>
    <a:lvl4pPr marL="1371600" algn="l" rtl="0" eaLnBrk="0" fontAlgn="base" hangingPunct="0">
      <a:spcBef>
        <a:spcPct val="0"/>
      </a:spcBef>
      <a:spcAft>
        <a:spcPct val="0"/>
      </a:spcAft>
      <a:defRPr sz="2800" kern="1200">
        <a:solidFill>
          <a:schemeClr val="tx1"/>
        </a:solidFill>
        <a:latin typeface="Times"/>
        <a:ea typeface="+mn-ea"/>
        <a:cs typeface="+mn-cs"/>
      </a:defRPr>
    </a:lvl4pPr>
    <a:lvl5pPr marL="1828800" algn="l" rtl="0" eaLnBrk="0" fontAlgn="base" hangingPunct="0">
      <a:spcBef>
        <a:spcPct val="0"/>
      </a:spcBef>
      <a:spcAft>
        <a:spcPct val="0"/>
      </a:spcAft>
      <a:defRPr sz="2800" kern="1200">
        <a:solidFill>
          <a:schemeClr val="tx1"/>
        </a:solidFill>
        <a:latin typeface="Times"/>
        <a:ea typeface="+mn-ea"/>
        <a:cs typeface="+mn-cs"/>
      </a:defRPr>
    </a:lvl5pPr>
    <a:lvl6pPr marL="2286000" algn="l" defTabSz="914400" rtl="0" eaLnBrk="1" latinLnBrk="0" hangingPunct="1">
      <a:defRPr sz="2800" kern="1200">
        <a:solidFill>
          <a:schemeClr val="tx1"/>
        </a:solidFill>
        <a:latin typeface="Times"/>
        <a:ea typeface="+mn-ea"/>
        <a:cs typeface="+mn-cs"/>
      </a:defRPr>
    </a:lvl6pPr>
    <a:lvl7pPr marL="2743200" algn="l" defTabSz="914400" rtl="0" eaLnBrk="1" latinLnBrk="0" hangingPunct="1">
      <a:defRPr sz="2800" kern="1200">
        <a:solidFill>
          <a:schemeClr val="tx1"/>
        </a:solidFill>
        <a:latin typeface="Times"/>
        <a:ea typeface="+mn-ea"/>
        <a:cs typeface="+mn-cs"/>
      </a:defRPr>
    </a:lvl7pPr>
    <a:lvl8pPr marL="3200400" algn="l" defTabSz="914400" rtl="0" eaLnBrk="1" latinLnBrk="0" hangingPunct="1">
      <a:defRPr sz="2800" kern="1200">
        <a:solidFill>
          <a:schemeClr val="tx1"/>
        </a:solidFill>
        <a:latin typeface="Times"/>
        <a:ea typeface="+mn-ea"/>
        <a:cs typeface="+mn-cs"/>
      </a:defRPr>
    </a:lvl8pPr>
    <a:lvl9pPr marL="3657600" algn="l" defTabSz="914400" rtl="0" eaLnBrk="1" latinLnBrk="0" hangingPunct="1">
      <a:defRPr sz="2800" kern="1200">
        <a:solidFill>
          <a:schemeClr val="tx1"/>
        </a:solidFill>
        <a:latin typeface="Times"/>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FF"/>
    <a:srgbClr val="008000"/>
    <a:srgbClr val="FFFF00"/>
    <a:srgbClr val="FF0000"/>
    <a:srgbClr val="00FF00"/>
    <a:srgbClr val="262464"/>
    <a:srgbClr val="F3FAFF"/>
    <a:srgbClr val="555A5E"/>
    <a:srgbClr val="4EA1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6626" autoAdjust="0"/>
    <p:restoredTop sz="56293" autoAdjust="0"/>
  </p:normalViewPr>
  <p:slideViewPr>
    <p:cSldViewPr>
      <p:cViewPr varScale="1">
        <p:scale>
          <a:sx n="64" d="100"/>
          <a:sy n="64" d="100"/>
        </p:scale>
        <p:origin x="-299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875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GB"/>
          </a:p>
        </p:txBody>
      </p:sp>
      <p:sp>
        <p:nvSpPr>
          <p:cNvPr id="5017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GB"/>
          </a:p>
        </p:txBody>
      </p:sp>
      <p:sp>
        <p:nvSpPr>
          <p:cNvPr id="501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5018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
        <p:nvSpPr>
          <p:cNvPr id="5018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GB"/>
          </a:p>
        </p:txBody>
      </p:sp>
      <p:sp>
        <p:nvSpPr>
          <p:cNvPr id="5018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35CE65BD-CF01-4B7E-84FD-240A6EA7BED2}" type="slidenum">
              <a:rPr lang="en-GB"/>
              <a:pPr/>
              <a:t>‹N›</a:t>
            </a:fld>
            <a:endParaRPr lang="en-GB"/>
          </a:p>
        </p:txBody>
      </p:sp>
    </p:spTree>
    <p:extLst>
      <p:ext uri="{BB962C8B-B14F-4D97-AF65-F5344CB8AC3E}">
        <p14:creationId xmlns:p14="http://schemas.microsoft.com/office/powerpoint/2010/main" val="325482426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a:ea typeface="+mn-ea"/>
        <a:cs typeface="+mn-cs"/>
      </a:defRPr>
    </a:lvl1pPr>
    <a:lvl2pPr marL="457200" algn="l" rtl="0" fontAlgn="base">
      <a:spcBef>
        <a:spcPct val="30000"/>
      </a:spcBef>
      <a:spcAft>
        <a:spcPct val="0"/>
      </a:spcAft>
      <a:defRPr sz="1200" kern="1200">
        <a:solidFill>
          <a:schemeClr val="tx1"/>
        </a:solidFill>
        <a:latin typeface="Times"/>
        <a:ea typeface="+mn-ea"/>
        <a:cs typeface="+mn-cs"/>
      </a:defRPr>
    </a:lvl2pPr>
    <a:lvl3pPr marL="914400" algn="l" rtl="0" fontAlgn="base">
      <a:spcBef>
        <a:spcPct val="30000"/>
      </a:spcBef>
      <a:spcAft>
        <a:spcPct val="0"/>
      </a:spcAft>
      <a:defRPr sz="1200" kern="1200">
        <a:solidFill>
          <a:schemeClr val="tx1"/>
        </a:solidFill>
        <a:latin typeface="Times"/>
        <a:ea typeface="+mn-ea"/>
        <a:cs typeface="+mn-cs"/>
      </a:defRPr>
    </a:lvl3pPr>
    <a:lvl4pPr marL="1371600" algn="l" rtl="0" fontAlgn="base">
      <a:spcBef>
        <a:spcPct val="30000"/>
      </a:spcBef>
      <a:spcAft>
        <a:spcPct val="0"/>
      </a:spcAft>
      <a:defRPr sz="1200" kern="1200">
        <a:solidFill>
          <a:schemeClr val="tx1"/>
        </a:solidFill>
        <a:latin typeface="Times"/>
        <a:ea typeface="+mn-ea"/>
        <a:cs typeface="+mn-cs"/>
      </a:defRPr>
    </a:lvl4pPr>
    <a:lvl5pPr marL="1828800" algn="l" rtl="0" fontAlgn="base">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pPr eaLnBrk="1" hangingPunct="1"/>
            <a:endParaRPr lang="it-IT" b="1" baseline="0" dirty="0" smtClean="0"/>
          </a:p>
        </p:txBody>
      </p:sp>
      <p:sp>
        <p:nvSpPr>
          <p:cNvPr id="4" name="Segnaposto numero diapositiva 3"/>
          <p:cNvSpPr>
            <a:spLocks noGrp="1"/>
          </p:cNvSpPr>
          <p:nvPr>
            <p:ph type="sldNum" sz="quarter" idx="10"/>
          </p:nvPr>
        </p:nvSpPr>
        <p:spPr/>
        <p:txBody>
          <a:bodyPr/>
          <a:lstStyle/>
          <a:p>
            <a:fld id="{5832CB72-861E-4FAB-A637-0AAF1D79D751}" type="slidenum">
              <a:rPr lang="it-IT" smtClean="0">
                <a:solidFill>
                  <a:prstClr val="black"/>
                </a:solidFill>
              </a:rPr>
              <a:pPr/>
              <a:t>1</a:t>
            </a:fld>
            <a:endParaRPr lang="it-IT">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solidFill>
                <a:srgbClr val="454545"/>
              </a:solidFill>
              <a:latin typeface="Verdana" charset="0"/>
            </a:endParaRPr>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a:t>
            </a:fld>
            <a:endParaRPr lang="it-IT">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it-IT" dirty="0" smtClean="0"/>
              <a:t>The fact that they are visible simultaneously allows you to carry out </a:t>
            </a:r>
            <a:r>
              <a:rPr lang="en-US" altLang="it-IT" b="1" dirty="0" smtClean="0"/>
              <a:t>separate tasks at the same time</a:t>
            </a:r>
            <a:endParaRPr lang="it-IT" altLang="it-IT" b="1"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3</a:t>
            </a:fld>
            <a:endParaRPr lang="it-IT">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altLang="it-IT" dirty="0" smtClean="0"/>
          </a:p>
          <a:p>
            <a:pPr eaLnBrk="1" hangingPunct="1"/>
            <a:endParaRPr lang="it-IT" alt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4</a:t>
            </a:fld>
            <a:endParaRPr lang="it-IT">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5</a:t>
            </a:fld>
            <a:endParaRPr lang="it-IT">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6</a:t>
            </a:fld>
            <a:endParaRPr lang="it-IT">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7</a:t>
            </a:fld>
            <a:endParaRPr lang="it-IT">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8</a:t>
            </a:fld>
            <a:endParaRPr lang="it-IT">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9</a:t>
            </a:fld>
            <a:endParaRPr lang="it-IT">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10</a:t>
            </a:fld>
            <a:endParaRPr lang="it-IT">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30000"/>
              </a:spcBef>
              <a:spcAft>
                <a:spcPct val="0"/>
              </a:spcAft>
              <a:buClrTx/>
              <a:buSzTx/>
              <a:buFontTx/>
              <a:buNone/>
              <a:tabLst/>
              <a:defRPr/>
            </a:pPr>
            <a:endParaRPr lang="en-US" sz="1200" kern="1200" baseline="0" dirty="0" smtClean="0">
              <a:solidFill>
                <a:schemeClr val="tx1"/>
              </a:solidFill>
              <a:latin typeface="+mn-lt"/>
              <a:ea typeface="+mn-ea"/>
              <a:cs typeface="+mn-cs"/>
            </a:endParaRPr>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11</a:t>
            </a:fld>
            <a:endParaRPr lang="it-IT">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endParaRPr lang="en-US" sz="1200" kern="1200" baseline="0" dirty="0" smtClean="0">
              <a:solidFill>
                <a:schemeClr val="tx1"/>
              </a:solidFill>
              <a:latin typeface="+mn-lt"/>
              <a:ea typeface="+mn-ea"/>
              <a:cs typeface="+mn-cs"/>
            </a:endParaRPr>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12</a:t>
            </a:fld>
            <a:endParaRPr lang="it-IT">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alt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13</a:t>
            </a:fld>
            <a:endParaRPr lang="it-IT">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endParaRPr lang="en-US" sz="1200" kern="1200" baseline="0" dirty="0" smtClean="0">
              <a:solidFill>
                <a:schemeClr val="tx1"/>
              </a:solidFill>
              <a:latin typeface="+mn-lt"/>
              <a:ea typeface="+mn-ea"/>
              <a:cs typeface="+mn-cs"/>
            </a:endParaRPr>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14</a:t>
            </a:fld>
            <a:endParaRPr lang="it-IT">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r>
              <a:rPr lang="en-US" u="none" dirty="0" smtClean="0"/>
              <a:t>The selectable element must provide feedback (change color ...) when you hover over it. Elements that cannot be selected must be recognizable.</a:t>
            </a:r>
            <a:endParaRPr lang="it-IT" u="none"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15</a:t>
            </a:fld>
            <a:endParaRPr lang="it-IT">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16</a:t>
            </a:fld>
            <a:endParaRPr lang="it-IT">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i="1" dirty="0" smtClean="0"/>
          </a:p>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17</a:t>
            </a:fld>
            <a:endParaRPr lang="it-IT">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a:spcBef>
                <a:spcPts val="500"/>
              </a:spcBef>
              <a:spcAft>
                <a:spcPts val="500"/>
              </a:spcAft>
            </a:pPr>
            <a:r>
              <a:rPr lang="en-US" dirty="0" smtClean="0">
                <a:latin typeface="Times New Roman" charset="0"/>
              </a:rPr>
              <a:t>You can create a pop-up form to display information to a user or to </a:t>
            </a:r>
            <a:r>
              <a:rPr lang="en-US" b="1" dirty="0" smtClean="0">
                <a:latin typeface="Times New Roman" charset="0"/>
              </a:rPr>
              <a:t>prompt a user for data</a:t>
            </a:r>
            <a:r>
              <a:rPr lang="en-US" dirty="0" smtClean="0">
                <a:latin typeface="Times New Roman" charset="0"/>
              </a:rPr>
              <a:t>. </a:t>
            </a:r>
          </a:p>
          <a:p>
            <a:pPr>
              <a:spcBef>
                <a:spcPts val="500"/>
              </a:spcBef>
              <a:spcAft>
                <a:spcPts val="500"/>
              </a:spcAft>
            </a:pPr>
            <a:r>
              <a:rPr lang="en-US" dirty="0" smtClean="0">
                <a:latin typeface="Times New Roman" charset="0"/>
              </a:rPr>
              <a:t>A pop-up form </a:t>
            </a:r>
            <a:r>
              <a:rPr lang="en-US" b="1" dirty="0" smtClean="0">
                <a:latin typeface="Times New Roman" charset="0"/>
              </a:rPr>
              <a:t>stays on top</a:t>
            </a:r>
            <a:r>
              <a:rPr lang="en-US" dirty="0" smtClean="0">
                <a:latin typeface="Times New Roman" charset="0"/>
              </a:rPr>
              <a:t> of other open forms, even when another form is active. </a:t>
            </a:r>
          </a:p>
          <a:p>
            <a:pPr>
              <a:spcBef>
                <a:spcPts val="500"/>
              </a:spcBef>
              <a:spcAft>
                <a:spcPts val="500"/>
              </a:spcAft>
            </a:pPr>
            <a:endParaRPr lang="en-US" dirty="0" smtClean="0">
              <a:latin typeface="Times New Roman" charset="0"/>
            </a:endParaRPr>
          </a:p>
          <a:p>
            <a:pPr>
              <a:spcBef>
                <a:spcPts val="500"/>
              </a:spcBef>
              <a:spcAft>
                <a:spcPts val="500"/>
              </a:spcAft>
            </a:pPr>
            <a:r>
              <a:rPr lang="en-US" i="0" dirty="0" smtClean="0">
                <a:latin typeface="Times New Roman" charset="0"/>
              </a:rPr>
              <a:t>A pop-up form can be </a:t>
            </a:r>
            <a:r>
              <a:rPr lang="en-US" b="1" i="0" dirty="0" smtClean="0">
                <a:latin typeface="Times New Roman" charset="0"/>
              </a:rPr>
              <a:t>modeless or modal. </a:t>
            </a:r>
          </a:p>
          <a:p>
            <a:pPr>
              <a:spcBef>
                <a:spcPts val="500"/>
              </a:spcBef>
              <a:spcAft>
                <a:spcPts val="500"/>
              </a:spcAft>
            </a:pPr>
            <a:r>
              <a:rPr lang="en-US" i="0" dirty="0" smtClean="0">
                <a:latin typeface="Times New Roman" charset="0"/>
              </a:rPr>
              <a:t>A </a:t>
            </a:r>
            <a:r>
              <a:rPr lang="en-US" b="1" i="0" dirty="0" smtClean="0">
                <a:latin typeface="Times New Roman" charset="0"/>
              </a:rPr>
              <a:t>modal</a:t>
            </a:r>
            <a:r>
              <a:rPr lang="en-US" i="0" dirty="0" smtClean="0">
                <a:latin typeface="Times New Roman" charset="0"/>
              </a:rPr>
              <a:t> pop-up form is called a custom </a:t>
            </a:r>
            <a:r>
              <a:rPr lang="en-US" b="1" i="0" dirty="0" smtClean="0">
                <a:latin typeface="Times New Roman" charset="0"/>
              </a:rPr>
              <a:t>dialog box.</a:t>
            </a:r>
          </a:p>
          <a:p>
            <a:pPr>
              <a:spcBef>
                <a:spcPts val="500"/>
              </a:spcBef>
              <a:spcAft>
                <a:spcPts val="500"/>
              </a:spcAft>
            </a:pPr>
            <a:r>
              <a:rPr lang="en-US" i="0" dirty="0" smtClean="0">
                <a:latin typeface="Times New Roman" charset="0"/>
              </a:rPr>
              <a:t>When a pop-up form is </a:t>
            </a:r>
            <a:r>
              <a:rPr lang="en-US" b="1" i="0" dirty="0" smtClean="0">
                <a:latin typeface="Times New Roman" charset="0"/>
              </a:rPr>
              <a:t>modeless</a:t>
            </a:r>
            <a:r>
              <a:rPr lang="en-US" i="0" dirty="0" smtClean="0">
                <a:latin typeface="Times New Roman" charset="0"/>
              </a:rPr>
              <a:t>, you can access other objects and menu commands while the form is open. </a:t>
            </a:r>
          </a:p>
          <a:p>
            <a:pPr eaLnBrk="1" hangingPunct="1"/>
            <a:endParaRPr lang="it-IT" i="1" dirty="0" smtClean="0"/>
          </a:p>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18</a:t>
            </a:fld>
            <a:endParaRPr lang="it-IT">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sz="1200" dirty="0" smtClean="0">
                <a:latin typeface="Times New Roman" charset="0"/>
              </a:rPr>
              <a:t>The </a:t>
            </a:r>
            <a:r>
              <a:rPr lang="en-US" sz="1200" dirty="0" smtClean="0">
                <a:latin typeface="Times New Roman" charset="0"/>
              </a:rPr>
              <a:t>cursor starts out in the center of the pie, so all targets are large, nearby, and in different directions. </a:t>
            </a:r>
          </a:p>
          <a:p>
            <a:pPr>
              <a:spcBef>
                <a:spcPct val="0"/>
              </a:spcBef>
            </a:pPr>
            <a:r>
              <a:rPr lang="en-US" sz="1200" u="none" dirty="0" err="1" smtClean="0">
                <a:latin typeface="Times New Roman" charset="0"/>
              </a:rPr>
              <a:t>Fitts</a:t>
            </a:r>
            <a:r>
              <a:rPr lang="en-US" sz="1200" u="none" dirty="0" smtClean="0">
                <a:latin typeface="Times New Roman" charset="0"/>
              </a:rPr>
              <a:t>' Law explains the advantages of pie menus, relating their </a:t>
            </a:r>
            <a:r>
              <a:rPr lang="en-US" sz="1200" b="1" u="none" dirty="0" smtClean="0">
                <a:latin typeface="Times New Roman" charset="0"/>
              </a:rPr>
              <a:t>fast selection speed</a:t>
            </a:r>
            <a:r>
              <a:rPr lang="en-US" sz="1200" u="none" dirty="0" smtClean="0">
                <a:latin typeface="Times New Roman" charset="0"/>
              </a:rPr>
              <a:t> and </a:t>
            </a:r>
            <a:r>
              <a:rPr lang="en-US" sz="1200" b="1" u="none" dirty="0" smtClean="0">
                <a:latin typeface="Times New Roman" charset="0"/>
              </a:rPr>
              <a:t>low error rate</a:t>
            </a:r>
            <a:r>
              <a:rPr lang="en-US" sz="1200" u="none" dirty="0" smtClean="0">
                <a:latin typeface="Times New Roman" charset="0"/>
              </a:rPr>
              <a:t> to their large target size and small distance. </a:t>
            </a:r>
          </a:p>
          <a:p>
            <a:pPr>
              <a:spcBef>
                <a:spcPct val="0"/>
              </a:spcBef>
            </a:pPr>
            <a:r>
              <a:rPr lang="en-US" sz="1200" dirty="0" smtClean="0">
                <a:latin typeface="Times New Roman" charset="0"/>
              </a:rPr>
              <a:t>Pie menus are </a:t>
            </a:r>
            <a:r>
              <a:rPr lang="en-US" sz="1200" b="1" dirty="0" smtClean="0">
                <a:latin typeface="Times New Roman" charset="0"/>
              </a:rPr>
              <a:t>easy for novice users</a:t>
            </a:r>
            <a:r>
              <a:rPr lang="en-US" sz="1200" dirty="0" smtClean="0">
                <a:latin typeface="Times New Roman" charset="0"/>
              </a:rPr>
              <a:t>, who just follow the directions, </a:t>
            </a:r>
          </a:p>
          <a:p>
            <a:pPr>
              <a:spcBef>
                <a:spcPct val="0"/>
              </a:spcBef>
            </a:pPr>
            <a:r>
              <a:rPr lang="en-US" sz="1200" dirty="0" smtClean="0">
                <a:latin typeface="Times New Roman" charset="0"/>
              </a:rPr>
              <a:t>and efficient for experienced users, who can quickly "mouse ahead" once they know the way.</a:t>
            </a:r>
          </a:p>
          <a:p>
            <a:pPr eaLnBrk="1" hangingPunct="1"/>
            <a:endParaRPr lang="it-IT" i="1" dirty="0" smtClean="0"/>
          </a:p>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19</a:t>
            </a:fld>
            <a:endParaRPr lang="it-IT">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900" dirty="0" smtClean="0"/>
              <a:t>Users </a:t>
            </a:r>
            <a:r>
              <a:rPr lang="en-US" sz="900" dirty="0" smtClean="0"/>
              <a:t>who work with one application </a:t>
            </a:r>
            <a:r>
              <a:rPr lang="en-US" sz="900" b="1" dirty="0" smtClean="0"/>
              <a:t>all the time are willing to invest time to learn short cuts</a:t>
            </a:r>
          </a:p>
          <a:p>
            <a:pPr eaLnBrk="1" hangingPunct="1"/>
            <a:r>
              <a:rPr lang="en-US" sz="900" dirty="0" smtClean="0"/>
              <a:t>They begin to </a:t>
            </a:r>
            <a:r>
              <a:rPr lang="en-US" sz="900" b="1" dirty="0" smtClean="0"/>
              <a:t>lose patience with long menu sequences</a:t>
            </a:r>
            <a:r>
              <a:rPr lang="en-US" sz="900" dirty="0" smtClean="0"/>
              <a:t> when they know exactly what they want to do</a:t>
            </a:r>
          </a:p>
          <a:p>
            <a:pPr eaLnBrk="1" hangingPunct="1"/>
            <a:endParaRPr lang="en-US" sz="900" dirty="0" smtClean="0"/>
          </a:p>
          <a:p>
            <a:pPr eaLnBrk="1" hangingPunct="1"/>
            <a:r>
              <a:rPr lang="en-US" sz="900" dirty="0" smtClean="0"/>
              <a:t>Short-cut keys can reduce the number of interactions for a given task</a:t>
            </a:r>
          </a:p>
          <a:p>
            <a:pPr eaLnBrk="1" hangingPunct="1"/>
            <a:r>
              <a:rPr lang="en-US" sz="900" b="1" dirty="0" smtClean="0"/>
              <a:t>Designers can provide macro facilities for users to create their own </a:t>
            </a:r>
            <a:r>
              <a:rPr lang="en-US" sz="900" b="1" dirty="0" smtClean="0"/>
              <a:t>short-cuts</a:t>
            </a:r>
            <a:endParaRPr lang="en-US" sz="900" b="1" dirty="0" smtClean="0"/>
          </a:p>
          <a:p>
            <a:pPr eaLnBrk="1" hangingPunct="1"/>
            <a:endParaRPr lang="en-US" sz="900" dirty="0" smtClean="0"/>
          </a:p>
          <a:p>
            <a:pPr eaLnBrk="1" hangingPunct="1"/>
            <a:r>
              <a:rPr lang="en-US" sz="900" dirty="0" smtClean="0"/>
              <a:t>The purpose of the icon that appears next to some items is to familiarize the user with the meaning of the icon.</a:t>
            </a:r>
            <a:endParaRPr lang="en-CA" sz="900" dirty="0" smtClean="0"/>
          </a:p>
          <a:p>
            <a:pPr eaLnBrk="1" hangingPunct="1"/>
            <a:endParaRPr lang="en-CA" sz="900" dirty="0" smtClean="0"/>
          </a:p>
          <a:p>
            <a:pPr eaLnBrk="1" hangingPunct="1"/>
            <a:endParaRPr lang="it-IT" dirty="0" smtClean="0"/>
          </a:p>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20</a:t>
            </a:fld>
            <a:endParaRPr lang="it-IT">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21</a:t>
            </a:fld>
            <a:endParaRPr lang="it-IT">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marL="342900" indent="-342900" eaLnBrk="1" hangingPunct="1">
              <a:spcBef>
                <a:spcPct val="0"/>
              </a:spcBef>
              <a:tabLst>
                <a:tab pos="1336675" algn="l"/>
              </a:tabLst>
            </a:pPr>
            <a:r>
              <a:rPr lang="en-US" sz="1200" b="1" dirty="0" smtClean="0">
                <a:solidFill>
                  <a:srgbClr val="C00000"/>
                </a:solidFill>
              </a:rPr>
              <a:t>A </a:t>
            </a:r>
            <a:r>
              <a:rPr lang="en-US" sz="1200" b="1" dirty="0" err="1" smtClean="0">
                <a:solidFill>
                  <a:srgbClr val="C00000"/>
                </a:solidFill>
              </a:rPr>
              <a:t>radiobutton</a:t>
            </a:r>
            <a:r>
              <a:rPr lang="en-US" sz="1200" b="1" dirty="0" smtClean="0">
                <a:solidFill>
                  <a:srgbClr val="C00000"/>
                </a:solidFill>
              </a:rPr>
              <a:t> cannot be deselected if it is not connected to other </a:t>
            </a:r>
            <a:r>
              <a:rPr lang="en-US" sz="1200" b="1" dirty="0" err="1" smtClean="0">
                <a:solidFill>
                  <a:srgbClr val="C00000"/>
                </a:solidFill>
              </a:rPr>
              <a:t>radiobuttons</a:t>
            </a:r>
            <a:r>
              <a:rPr lang="en-US" sz="1200" b="1" dirty="0" smtClean="0">
                <a:solidFill>
                  <a:srgbClr val="C00000"/>
                </a:solidFill>
              </a:rPr>
              <a:t>!</a:t>
            </a:r>
            <a:endParaRPr lang="it-IT" sz="1200" b="1" dirty="0" smtClean="0">
              <a:solidFill>
                <a:srgbClr val="C00000"/>
              </a:solidFill>
            </a:endParaRPr>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22</a:t>
            </a:fld>
            <a:endParaRPr lang="it-IT">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23</a:t>
            </a:fld>
            <a:endParaRPr lang="it-IT">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24</a:t>
            </a:fld>
            <a:endParaRPr lang="it-IT">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25</a:t>
            </a:fld>
            <a:endParaRPr lang="it-IT">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gnaposto immagine diapositiva 1"/>
          <p:cNvSpPr>
            <a:spLocks noGrp="1" noRot="1" noChangeAspect="1" noTextEdit="1"/>
          </p:cNvSpPr>
          <p:nvPr>
            <p:ph type="sldImg"/>
          </p:nvPr>
        </p:nvSpPr>
        <p:spPr bwMode="auto">
          <a:noFill/>
          <a:ln>
            <a:solidFill>
              <a:srgbClr val="000000"/>
            </a:solidFill>
            <a:miter lim="800000"/>
            <a:headEnd/>
            <a:tailEnd/>
          </a:ln>
        </p:spPr>
      </p:sp>
      <p:sp>
        <p:nvSpPr>
          <p:cNvPr id="40963" name="Segnaposto note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it-IT" dirty="0" smtClean="0"/>
          </a:p>
        </p:txBody>
      </p:sp>
      <p:sp>
        <p:nvSpPr>
          <p:cNvPr id="40964" name="Segnaposto numero diapositiva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09E9DB6-49AA-44FD-8E4C-BD2F781A1EB5}" type="slidenum">
              <a:rPr lang="it-IT">
                <a:solidFill>
                  <a:prstClr val="black"/>
                </a:solidFill>
              </a:rPr>
              <a:pPr/>
              <a:t>26</a:t>
            </a:fld>
            <a:endParaRPr lang="it-IT">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stile</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it-IT" smtClean="0"/>
              <a:t>Fare clic per modificare lo stile del sottotitolo dello schema</a:t>
            </a:r>
            <a:endParaRPr lang="it-IT"/>
          </a:p>
        </p:txBody>
      </p:sp>
    </p:spTree>
    <p:extLst>
      <p:ext uri="{BB962C8B-B14F-4D97-AF65-F5344CB8AC3E}">
        <p14:creationId xmlns:p14="http://schemas.microsoft.com/office/powerpoint/2010/main" val="564944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stile</a:t>
            </a:r>
            <a:endParaRPr lang="it-IT"/>
          </a:p>
        </p:txBody>
      </p:sp>
      <p:sp>
        <p:nvSpPr>
          <p:cNvPr id="3" name="Segnaposto contenuto 2"/>
          <p:cNvSpPr>
            <a:spLocks noGrp="1"/>
          </p:cNvSpPr>
          <p:nvPr>
            <p:ph idx="1"/>
          </p:nvPr>
        </p:nvSpPr>
        <p:spPr/>
        <p:txBody>
          <a:body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Tree>
    <p:extLst>
      <p:ext uri="{BB962C8B-B14F-4D97-AF65-F5344CB8AC3E}">
        <p14:creationId xmlns:p14="http://schemas.microsoft.com/office/powerpoint/2010/main" val="178839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stile</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smtClean="0"/>
              <a:t>Fare clic per modificare gli stili del testo dello schema</a:t>
            </a:r>
          </a:p>
        </p:txBody>
      </p:sp>
    </p:spTree>
    <p:extLst>
      <p:ext uri="{BB962C8B-B14F-4D97-AF65-F5344CB8AC3E}">
        <p14:creationId xmlns:p14="http://schemas.microsoft.com/office/powerpoint/2010/main" val="3627845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stile</a:t>
            </a:r>
            <a:endParaRPr lang="it-IT"/>
          </a:p>
        </p:txBody>
      </p:sp>
      <p:sp>
        <p:nvSpPr>
          <p:cNvPr id="3" name="Segnaposto contenuto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Tree>
    <p:extLst>
      <p:ext uri="{BB962C8B-B14F-4D97-AF65-F5344CB8AC3E}">
        <p14:creationId xmlns:p14="http://schemas.microsoft.com/office/powerpoint/2010/main" val="2953911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smtClean="0"/>
              <a:t>Fare clic per modificare stile</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gli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gli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Tree>
    <p:extLst>
      <p:ext uri="{BB962C8B-B14F-4D97-AF65-F5344CB8AC3E}">
        <p14:creationId xmlns:p14="http://schemas.microsoft.com/office/powerpoint/2010/main" val="761843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stile</a:t>
            </a:r>
            <a:endParaRPr lang="it-IT"/>
          </a:p>
        </p:txBody>
      </p:sp>
    </p:spTree>
    <p:extLst>
      <p:ext uri="{BB962C8B-B14F-4D97-AF65-F5344CB8AC3E}">
        <p14:creationId xmlns:p14="http://schemas.microsoft.com/office/powerpoint/2010/main" val="406991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1666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stile</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gli stili del testo dello schema</a:t>
            </a:r>
          </a:p>
        </p:txBody>
      </p:sp>
    </p:spTree>
    <p:extLst>
      <p:ext uri="{BB962C8B-B14F-4D97-AF65-F5344CB8AC3E}">
        <p14:creationId xmlns:p14="http://schemas.microsoft.com/office/powerpoint/2010/main" val="2169047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stile</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smtClean="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gli stili del testo dello schema</a:t>
            </a:r>
          </a:p>
        </p:txBody>
      </p:sp>
    </p:spTree>
    <p:extLst>
      <p:ext uri="{BB962C8B-B14F-4D97-AF65-F5344CB8AC3E}">
        <p14:creationId xmlns:p14="http://schemas.microsoft.com/office/powerpoint/2010/main" val="4122400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stile</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Tree>
    <p:extLst>
      <p:ext uri="{BB962C8B-B14F-4D97-AF65-F5344CB8AC3E}">
        <p14:creationId xmlns:p14="http://schemas.microsoft.com/office/powerpoint/2010/main" val="643946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515100" y="609600"/>
            <a:ext cx="1943100" cy="5486400"/>
          </a:xfrm>
        </p:spPr>
        <p:txBody>
          <a:bodyPr vert="eaVert"/>
          <a:lstStyle/>
          <a:p>
            <a:r>
              <a:rPr lang="it-IT" smtClean="0"/>
              <a:t>Fare clic per modificare stile</a:t>
            </a:r>
            <a:endParaRPr lang="it-IT"/>
          </a:p>
        </p:txBody>
      </p:sp>
      <p:sp>
        <p:nvSpPr>
          <p:cNvPr id="3" name="Segnaposto testo verticale 2"/>
          <p:cNvSpPr>
            <a:spLocks noGrp="1"/>
          </p:cNvSpPr>
          <p:nvPr>
            <p:ph type="body" orient="vert" idx="1"/>
          </p:nvPr>
        </p:nvSpPr>
        <p:spPr>
          <a:xfrm>
            <a:off x="685800" y="609600"/>
            <a:ext cx="5676900" cy="5486400"/>
          </a:xfrm>
        </p:spPr>
        <p:txBody>
          <a:bodyPr vert="eaVert"/>
          <a:lstStyle/>
          <a:p>
            <a:pPr lvl="0"/>
            <a:r>
              <a:rPr lang="it-IT" smtClean="0"/>
              <a:t>Fare clic per modificare gli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Tree>
    <p:extLst>
      <p:ext uri="{BB962C8B-B14F-4D97-AF65-F5344CB8AC3E}">
        <p14:creationId xmlns:p14="http://schemas.microsoft.com/office/powerpoint/2010/main" val="14108722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6"/>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77" indent="0" algn="ctr">
              <a:buNone/>
              <a:defRPr>
                <a:solidFill>
                  <a:schemeClr val="tx1">
                    <a:tint val="75000"/>
                  </a:schemeClr>
                </a:solidFill>
              </a:defRPr>
            </a:lvl2pPr>
            <a:lvl3pPr marL="914353" indent="0" algn="ctr">
              <a:buNone/>
              <a:defRPr>
                <a:solidFill>
                  <a:schemeClr val="tx1">
                    <a:tint val="75000"/>
                  </a:schemeClr>
                </a:solidFill>
              </a:defRPr>
            </a:lvl3pPr>
            <a:lvl4pPr marL="1371530" indent="0" algn="ctr">
              <a:buNone/>
              <a:defRPr>
                <a:solidFill>
                  <a:schemeClr val="tx1">
                    <a:tint val="75000"/>
                  </a:schemeClr>
                </a:solidFill>
              </a:defRPr>
            </a:lvl4pPr>
            <a:lvl5pPr marL="1828706" indent="0" algn="ctr">
              <a:buNone/>
              <a:defRPr>
                <a:solidFill>
                  <a:schemeClr val="tx1">
                    <a:tint val="75000"/>
                  </a:schemeClr>
                </a:solidFill>
              </a:defRPr>
            </a:lvl5pPr>
            <a:lvl6pPr marL="2285883" indent="0" algn="ctr">
              <a:buNone/>
              <a:defRPr>
                <a:solidFill>
                  <a:schemeClr val="tx1">
                    <a:tint val="75000"/>
                  </a:schemeClr>
                </a:solidFill>
              </a:defRPr>
            </a:lvl6pPr>
            <a:lvl7pPr marL="2743060" indent="0" algn="ctr">
              <a:buNone/>
              <a:defRPr>
                <a:solidFill>
                  <a:schemeClr val="tx1">
                    <a:tint val="75000"/>
                  </a:schemeClr>
                </a:solidFill>
              </a:defRPr>
            </a:lvl7pPr>
            <a:lvl8pPr marL="3200236" indent="0" algn="ctr">
              <a:buNone/>
              <a:defRPr>
                <a:solidFill>
                  <a:schemeClr val="tx1">
                    <a:tint val="75000"/>
                  </a:schemeClr>
                </a:solidFill>
              </a:defRPr>
            </a:lvl8pPr>
            <a:lvl9pPr marL="3657413"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38816236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18940376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1"/>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177" indent="0">
              <a:buNone/>
              <a:defRPr sz="1800">
                <a:solidFill>
                  <a:schemeClr val="tx1">
                    <a:tint val="75000"/>
                  </a:schemeClr>
                </a:solidFill>
              </a:defRPr>
            </a:lvl2pPr>
            <a:lvl3pPr marL="914353" indent="0">
              <a:buNone/>
              <a:defRPr sz="1600">
                <a:solidFill>
                  <a:schemeClr val="tx1">
                    <a:tint val="75000"/>
                  </a:schemeClr>
                </a:solidFill>
              </a:defRPr>
            </a:lvl3pPr>
            <a:lvl4pPr marL="1371530" indent="0">
              <a:buNone/>
              <a:defRPr sz="1400">
                <a:solidFill>
                  <a:schemeClr val="tx1">
                    <a:tint val="75000"/>
                  </a:schemeClr>
                </a:solidFill>
              </a:defRPr>
            </a:lvl4pPr>
            <a:lvl5pPr marL="1828706" indent="0">
              <a:buNone/>
              <a:defRPr sz="1400">
                <a:solidFill>
                  <a:schemeClr val="tx1">
                    <a:tint val="75000"/>
                  </a:schemeClr>
                </a:solidFill>
              </a:defRPr>
            </a:lvl5pPr>
            <a:lvl6pPr marL="2285883" indent="0">
              <a:buNone/>
              <a:defRPr sz="1400">
                <a:solidFill>
                  <a:schemeClr val="tx1">
                    <a:tint val="75000"/>
                  </a:schemeClr>
                </a:solidFill>
              </a:defRPr>
            </a:lvl6pPr>
            <a:lvl7pPr marL="2743060" indent="0">
              <a:buNone/>
              <a:defRPr sz="1400">
                <a:solidFill>
                  <a:schemeClr val="tx1">
                    <a:tint val="75000"/>
                  </a:schemeClr>
                </a:solidFill>
              </a:defRPr>
            </a:lvl7pPr>
            <a:lvl8pPr marL="3200236" indent="0">
              <a:buNone/>
              <a:defRPr sz="1400">
                <a:solidFill>
                  <a:schemeClr val="tx1">
                    <a:tint val="75000"/>
                  </a:schemeClr>
                </a:solidFill>
              </a:defRPr>
            </a:lvl8pPr>
            <a:lvl9pPr marL="3657413"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32218470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6" name="Segnaposto piè di pagina 5"/>
          <p:cNvSpPr>
            <a:spLocks noGrp="1"/>
          </p:cNvSpPr>
          <p:nvPr>
            <p:ph type="ftr" sz="quarter" idx="11"/>
          </p:nvPr>
        </p:nvSpPr>
        <p:spPr/>
        <p:txBody>
          <a:bodyPr/>
          <a:lstStyle/>
          <a:p>
            <a:endParaRPr lang="it-IT">
              <a:solidFill>
                <a:prstClr val="black">
                  <a:tint val="75000"/>
                </a:prstClr>
              </a:solidFill>
            </a:endParaRPr>
          </a:p>
        </p:txBody>
      </p:sp>
      <p:sp>
        <p:nvSpPr>
          <p:cNvPr id="7" name="Segnaposto numero diapositiva 6"/>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3256875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3" indent="0">
              <a:buNone/>
              <a:defRPr sz="1800" b="1"/>
            </a:lvl3pPr>
            <a:lvl4pPr marL="1371530" indent="0">
              <a:buNone/>
              <a:defRPr sz="1600" b="1"/>
            </a:lvl4pPr>
            <a:lvl5pPr marL="1828706" indent="0">
              <a:buNone/>
              <a:defRPr sz="1600" b="1"/>
            </a:lvl5pPr>
            <a:lvl6pPr marL="2285883" indent="0">
              <a:buNone/>
              <a:defRPr sz="1600" b="1"/>
            </a:lvl6pPr>
            <a:lvl7pPr marL="2743060" indent="0">
              <a:buNone/>
              <a:defRPr sz="1600" b="1"/>
            </a:lvl7pPr>
            <a:lvl8pPr marL="3200236" indent="0">
              <a:buNone/>
              <a:defRPr sz="1600" b="1"/>
            </a:lvl8pPr>
            <a:lvl9pPr marL="3657413"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8" name="Segnaposto piè di pagina 7"/>
          <p:cNvSpPr>
            <a:spLocks noGrp="1"/>
          </p:cNvSpPr>
          <p:nvPr>
            <p:ph type="ftr" sz="quarter" idx="11"/>
          </p:nvPr>
        </p:nvSpPr>
        <p:spPr/>
        <p:txBody>
          <a:bodyPr/>
          <a:lstStyle/>
          <a:p>
            <a:endParaRPr lang="it-IT">
              <a:solidFill>
                <a:prstClr val="black">
                  <a:tint val="75000"/>
                </a:prstClr>
              </a:solidFill>
            </a:endParaRPr>
          </a:p>
        </p:txBody>
      </p:sp>
      <p:sp>
        <p:nvSpPr>
          <p:cNvPr id="9" name="Segnaposto numero diapositiva 8"/>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5870050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4" name="Segnaposto piè di pagina 3"/>
          <p:cNvSpPr>
            <a:spLocks noGrp="1"/>
          </p:cNvSpPr>
          <p:nvPr>
            <p:ph type="ftr" sz="quarter" idx="11"/>
          </p:nvPr>
        </p:nvSpPr>
        <p:spPr/>
        <p:txBody>
          <a:bodyPr/>
          <a:lstStyle/>
          <a:p>
            <a:endParaRPr lang="it-IT">
              <a:solidFill>
                <a:prstClr val="black">
                  <a:tint val="75000"/>
                </a:prstClr>
              </a:solidFill>
            </a:endParaRPr>
          </a:p>
        </p:txBody>
      </p:sp>
      <p:sp>
        <p:nvSpPr>
          <p:cNvPr id="5" name="Segnaposto numero diapositiva 4"/>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19528716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3" name="Segnaposto piè di pagina 2"/>
          <p:cNvSpPr>
            <a:spLocks noGrp="1"/>
          </p:cNvSpPr>
          <p:nvPr>
            <p:ph type="ftr" sz="quarter" idx="11"/>
          </p:nvPr>
        </p:nvSpPr>
        <p:spPr/>
        <p:txBody>
          <a:bodyPr/>
          <a:lstStyle/>
          <a:p>
            <a:endParaRPr lang="it-IT">
              <a:solidFill>
                <a:prstClr val="black">
                  <a:tint val="75000"/>
                </a:prstClr>
              </a:solidFill>
            </a:endParaRPr>
          </a:p>
        </p:txBody>
      </p:sp>
      <p:sp>
        <p:nvSpPr>
          <p:cNvPr id="4" name="Segnaposto numero diapositiva 3"/>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41835290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1"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6" name="Segnaposto piè di pagina 5"/>
          <p:cNvSpPr>
            <a:spLocks noGrp="1"/>
          </p:cNvSpPr>
          <p:nvPr>
            <p:ph type="ftr" sz="quarter" idx="11"/>
          </p:nvPr>
        </p:nvSpPr>
        <p:spPr/>
        <p:txBody>
          <a:bodyPr/>
          <a:lstStyle/>
          <a:p>
            <a:endParaRPr lang="it-IT">
              <a:solidFill>
                <a:prstClr val="black">
                  <a:tint val="75000"/>
                </a:prstClr>
              </a:solidFill>
            </a:endParaRPr>
          </a:p>
        </p:txBody>
      </p:sp>
      <p:sp>
        <p:nvSpPr>
          <p:cNvPr id="7" name="Segnaposto numero diapositiva 6"/>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8565874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3" indent="0">
              <a:buNone/>
              <a:defRPr sz="2400"/>
            </a:lvl3pPr>
            <a:lvl4pPr marL="1371530" indent="0">
              <a:buNone/>
              <a:defRPr sz="2000"/>
            </a:lvl4pPr>
            <a:lvl5pPr marL="1828706" indent="0">
              <a:buNone/>
              <a:defRPr sz="2000"/>
            </a:lvl5pPr>
            <a:lvl6pPr marL="2285883" indent="0">
              <a:buNone/>
              <a:defRPr sz="2000"/>
            </a:lvl6pPr>
            <a:lvl7pPr marL="2743060" indent="0">
              <a:buNone/>
              <a:defRPr sz="2000"/>
            </a:lvl7pPr>
            <a:lvl8pPr marL="3200236" indent="0">
              <a:buNone/>
              <a:defRPr sz="2000"/>
            </a:lvl8pPr>
            <a:lvl9pPr marL="3657413"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177" indent="0">
              <a:buNone/>
              <a:defRPr sz="1200"/>
            </a:lvl2pPr>
            <a:lvl3pPr marL="914353" indent="0">
              <a:buNone/>
              <a:defRPr sz="1000"/>
            </a:lvl3pPr>
            <a:lvl4pPr marL="1371530" indent="0">
              <a:buNone/>
              <a:defRPr sz="900"/>
            </a:lvl4pPr>
            <a:lvl5pPr marL="1828706" indent="0">
              <a:buNone/>
              <a:defRPr sz="900"/>
            </a:lvl5pPr>
            <a:lvl6pPr marL="2285883" indent="0">
              <a:buNone/>
              <a:defRPr sz="900"/>
            </a:lvl6pPr>
            <a:lvl7pPr marL="2743060" indent="0">
              <a:buNone/>
              <a:defRPr sz="900"/>
            </a:lvl7pPr>
            <a:lvl8pPr marL="3200236" indent="0">
              <a:buNone/>
              <a:defRPr sz="900"/>
            </a:lvl8pPr>
            <a:lvl9pPr marL="3657413"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6" name="Segnaposto piè di pagina 5"/>
          <p:cNvSpPr>
            <a:spLocks noGrp="1"/>
          </p:cNvSpPr>
          <p:nvPr>
            <p:ph type="ftr" sz="quarter" idx="11"/>
          </p:nvPr>
        </p:nvSpPr>
        <p:spPr/>
        <p:txBody>
          <a:bodyPr/>
          <a:lstStyle/>
          <a:p>
            <a:endParaRPr lang="it-IT">
              <a:solidFill>
                <a:prstClr val="black">
                  <a:tint val="75000"/>
                </a:prstClr>
              </a:solidFill>
            </a:endParaRPr>
          </a:p>
        </p:txBody>
      </p:sp>
      <p:sp>
        <p:nvSpPr>
          <p:cNvPr id="7" name="Segnaposto numero diapositiva 6"/>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40484202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2355558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9"/>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9"/>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00F0E56D-F31C-4174-9F9A-BA2FA4D6E529}" type="datetimeFigureOut">
              <a:rPr lang="it-IT" smtClean="0">
                <a:solidFill>
                  <a:prstClr val="black">
                    <a:tint val="75000"/>
                  </a:prstClr>
                </a:solidFill>
              </a:rPr>
              <a:pPr/>
              <a:t>12/05/2020</a:t>
            </a:fld>
            <a:endParaRPr lang="it-IT">
              <a:solidFill>
                <a:prstClr val="black">
                  <a:tint val="75000"/>
                </a:prstClr>
              </a:solidFill>
            </a:endParaRPr>
          </a:p>
        </p:txBody>
      </p:sp>
      <p:sp>
        <p:nvSpPr>
          <p:cNvPr id="5" name="Segnaposto piè di pagina 4"/>
          <p:cNvSpPr>
            <a:spLocks noGrp="1"/>
          </p:cNvSpPr>
          <p:nvPr>
            <p:ph type="ftr" sz="quarter" idx="11"/>
          </p:nvPr>
        </p:nvSpPr>
        <p:spPr/>
        <p:txBody>
          <a:bodyPr/>
          <a:lstStyle/>
          <a:p>
            <a:endParaRPr lang="it-IT">
              <a:solidFill>
                <a:prstClr val="black">
                  <a:tint val="75000"/>
                </a:prstClr>
              </a:solidFill>
            </a:endParaRPr>
          </a:p>
        </p:txBody>
      </p:sp>
      <p:sp>
        <p:nvSpPr>
          <p:cNvPr id="6" name="Segnaposto numero diapositiva 5"/>
          <p:cNvSpPr>
            <a:spLocks noGrp="1"/>
          </p:cNvSpPr>
          <p:nvPr>
            <p:ph type="sldNum" sz="quarter" idx="12"/>
          </p:nvPr>
        </p:nvSpPr>
        <p:spPr/>
        <p:txBody>
          <a:bodyPr/>
          <a:lstStyle/>
          <a:p>
            <a:fld id="{0523B431-EA36-47EB-83C7-842502818703}" type="slidenum">
              <a:rPr lang="it-IT" smtClean="0">
                <a:solidFill>
                  <a:prstClr val="black">
                    <a:tint val="75000"/>
                  </a:prstClr>
                </a:solidFill>
              </a:rPr>
              <a:pPr/>
              <a:t>‹N›</a:t>
            </a:fld>
            <a:endParaRPr lang="it-IT">
              <a:solidFill>
                <a:prstClr val="black">
                  <a:tint val="75000"/>
                </a:prstClr>
              </a:solidFill>
            </a:endParaRPr>
          </a:p>
        </p:txBody>
      </p:sp>
    </p:spTree>
    <p:extLst>
      <p:ext uri="{BB962C8B-B14F-4D97-AF65-F5344CB8AC3E}">
        <p14:creationId xmlns:p14="http://schemas.microsoft.com/office/powerpoint/2010/main" val="511562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696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p>
        </p:txBody>
      </p:sp>
    </p:spTree>
    <p:extLst>
      <p:ext uri="{BB962C8B-B14F-4D97-AF65-F5344CB8AC3E}">
        <p14:creationId xmlns:p14="http://schemas.microsoft.com/office/powerpoint/2010/main" val="60342535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0" fontAlgn="base" hangingPunct="0">
        <a:spcBef>
          <a:spcPct val="0"/>
        </a:spcBef>
        <a:spcAft>
          <a:spcPct val="0"/>
        </a:spcAft>
        <a:defRPr sz="4400" b="1">
          <a:solidFill>
            <a:srgbClr val="CC0000"/>
          </a:solidFill>
          <a:latin typeface="+mj-lt"/>
          <a:ea typeface="ＭＳ Ｐゴシック" pitchFamily="-109" charset="-128"/>
          <a:cs typeface="+mj-cs"/>
        </a:defRPr>
      </a:lvl1pPr>
      <a:lvl2pPr algn="l" rtl="0" eaLnBrk="0" fontAlgn="base" hangingPunct="0">
        <a:spcBef>
          <a:spcPct val="0"/>
        </a:spcBef>
        <a:spcAft>
          <a:spcPct val="0"/>
        </a:spcAft>
        <a:defRPr sz="4400" b="1">
          <a:solidFill>
            <a:srgbClr val="CC0000"/>
          </a:solidFill>
          <a:latin typeface="Tahoma" pitchFamily="-109" charset="0"/>
          <a:ea typeface="ＭＳ Ｐゴシック" pitchFamily="-109" charset="-128"/>
        </a:defRPr>
      </a:lvl2pPr>
      <a:lvl3pPr algn="l" rtl="0" eaLnBrk="0" fontAlgn="base" hangingPunct="0">
        <a:spcBef>
          <a:spcPct val="0"/>
        </a:spcBef>
        <a:spcAft>
          <a:spcPct val="0"/>
        </a:spcAft>
        <a:defRPr sz="4400" b="1">
          <a:solidFill>
            <a:srgbClr val="CC0000"/>
          </a:solidFill>
          <a:latin typeface="Tahoma" pitchFamily="-109" charset="0"/>
          <a:ea typeface="ＭＳ Ｐゴシック" pitchFamily="-109" charset="-128"/>
        </a:defRPr>
      </a:lvl3pPr>
      <a:lvl4pPr algn="l" rtl="0" eaLnBrk="0" fontAlgn="base" hangingPunct="0">
        <a:spcBef>
          <a:spcPct val="0"/>
        </a:spcBef>
        <a:spcAft>
          <a:spcPct val="0"/>
        </a:spcAft>
        <a:defRPr sz="4400" b="1">
          <a:solidFill>
            <a:srgbClr val="CC0000"/>
          </a:solidFill>
          <a:latin typeface="Tahoma" pitchFamily="-109" charset="0"/>
          <a:ea typeface="ＭＳ Ｐゴシック" pitchFamily="-109" charset="-128"/>
        </a:defRPr>
      </a:lvl4pPr>
      <a:lvl5pPr algn="l" rtl="0" eaLnBrk="0" fontAlgn="base" hangingPunct="0">
        <a:spcBef>
          <a:spcPct val="0"/>
        </a:spcBef>
        <a:spcAft>
          <a:spcPct val="0"/>
        </a:spcAft>
        <a:defRPr sz="4400" b="1">
          <a:solidFill>
            <a:srgbClr val="CC0000"/>
          </a:solidFill>
          <a:latin typeface="Tahoma" pitchFamily="-109" charset="0"/>
          <a:ea typeface="ＭＳ Ｐゴシック" pitchFamily="-109" charset="-128"/>
        </a:defRPr>
      </a:lvl5pPr>
      <a:lvl6pPr marL="457200" algn="l" rtl="0" fontAlgn="base">
        <a:spcBef>
          <a:spcPct val="0"/>
        </a:spcBef>
        <a:spcAft>
          <a:spcPct val="0"/>
        </a:spcAft>
        <a:defRPr sz="4400" b="1">
          <a:solidFill>
            <a:srgbClr val="CC0000"/>
          </a:solidFill>
          <a:latin typeface="Tahoma" pitchFamily="-109" charset="0"/>
        </a:defRPr>
      </a:lvl6pPr>
      <a:lvl7pPr marL="914400" algn="l" rtl="0" fontAlgn="base">
        <a:spcBef>
          <a:spcPct val="0"/>
        </a:spcBef>
        <a:spcAft>
          <a:spcPct val="0"/>
        </a:spcAft>
        <a:defRPr sz="4400" b="1">
          <a:solidFill>
            <a:srgbClr val="CC0000"/>
          </a:solidFill>
          <a:latin typeface="Tahoma" pitchFamily="-109" charset="0"/>
        </a:defRPr>
      </a:lvl7pPr>
      <a:lvl8pPr marL="1371600" algn="l" rtl="0" fontAlgn="base">
        <a:spcBef>
          <a:spcPct val="0"/>
        </a:spcBef>
        <a:spcAft>
          <a:spcPct val="0"/>
        </a:spcAft>
        <a:defRPr sz="4400" b="1">
          <a:solidFill>
            <a:srgbClr val="CC0000"/>
          </a:solidFill>
          <a:latin typeface="Tahoma" pitchFamily="-109" charset="0"/>
        </a:defRPr>
      </a:lvl8pPr>
      <a:lvl9pPr marL="1828800" algn="l" rtl="0" fontAlgn="base">
        <a:spcBef>
          <a:spcPct val="0"/>
        </a:spcBef>
        <a:spcAft>
          <a:spcPct val="0"/>
        </a:spcAft>
        <a:defRPr sz="4400" b="1">
          <a:solidFill>
            <a:srgbClr val="CC0000"/>
          </a:solidFill>
          <a:latin typeface="Tahoma" pitchFamily="-109" charset="0"/>
        </a:defRPr>
      </a:lvl9pPr>
    </p:titleStyle>
    <p:bodyStyle>
      <a:lvl1pPr marL="381000" indent="-381000" algn="l" rtl="0" eaLnBrk="0" fontAlgn="base" hangingPunct="0">
        <a:spcBef>
          <a:spcPct val="20000"/>
        </a:spcBef>
        <a:spcAft>
          <a:spcPct val="0"/>
        </a:spcAft>
        <a:buChar char="•"/>
        <a:defRPr sz="2800">
          <a:solidFill>
            <a:schemeClr val="tx1"/>
          </a:solidFill>
          <a:latin typeface="+mn-lt"/>
          <a:ea typeface="ＭＳ Ｐゴシック" pitchFamily="-109" charset="-128"/>
          <a:cs typeface="+mn-cs"/>
        </a:defRPr>
      </a:lvl1pPr>
      <a:lvl2pPr marL="857250" indent="-285750" algn="l" rtl="0" eaLnBrk="0" fontAlgn="base" hangingPunct="0">
        <a:spcBef>
          <a:spcPct val="20000"/>
        </a:spcBef>
        <a:spcAft>
          <a:spcPct val="0"/>
        </a:spcAft>
        <a:buChar char="–"/>
        <a:defRPr sz="2400">
          <a:solidFill>
            <a:schemeClr val="tx1"/>
          </a:solidFill>
          <a:latin typeface="+mn-lt"/>
          <a:ea typeface="ＭＳ Ｐゴシック" pitchFamily="-109" charset="-128"/>
        </a:defRPr>
      </a:lvl2pPr>
      <a:lvl3pPr marL="1276350" indent="-228600" algn="l" rtl="0" eaLnBrk="0" fontAlgn="base" hangingPunct="0">
        <a:spcBef>
          <a:spcPct val="20000"/>
        </a:spcBef>
        <a:spcAft>
          <a:spcPct val="0"/>
        </a:spcAft>
        <a:buChar char="•"/>
        <a:defRPr sz="2000">
          <a:solidFill>
            <a:schemeClr val="tx1"/>
          </a:solidFill>
          <a:latin typeface="+mn-lt"/>
          <a:ea typeface="ＭＳ Ｐゴシック" pitchFamily="-109" charset="-128"/>
        </a:defRPr>
      </a:lvl3pPr>
      <a:lvl4pPr marL="1695450" indent="-228600" algn="l" rtl="0" eaLnBrk="0" fontAlgn="base" hangingPunct="0">
        <a:spcBef>
          <a:spcPct val="20000"/>
        </a:spcBef>
        <a:spcAft>
          <a:spcPct val="0"/>
        </a:spcAft>
        <a:buChar char="–"/>
        <a:defRPr>
          <a:solidFill>
            <a:schemeClr val="tx1"/>
          </a:solidFill>
          <a:latin typeface="+mn-lt"/>
          <a:ea typeface="ＭＳ Ｐゴシック" pitchFamily="-109" charset="-128"/>
        </a:defRPr>
      </a:lvl4pPr>
      <a:lvl5pPr marL="2114550" indent="-228600" algn="l" rtl="0" eaLnBrk="0" fontAlgn="base" hangingPunct="0">
        <a:spcBef>
          <a:spcPct val="20000"/>
        </a:spcBef>
        <a:spcAft>
          <a:spcPct val="0"/>
        </a:spcAft>
        <a:buChar char="»"/>
        <a:defRPr>
          <a:solidFill>
            <a:schemeClr val="tx1"/>
          </a:solidFill>
          <a:latin typeface="+mn-lt"/>
          <a:ea typeface="ＭＳ Ｐゴシック" pitchFamily="-109" charset="-128"/>
        </a:defRPr>
      </a:lvl5pPr>
      <a:lvl6pPr marL="2571750" indent="-228600" algn="l" rtl="0" fontAlgn="base">
        <a:spcBef>
          <a:spcPct val="20000"/>
        </a:spcBef>
        <a:spcAft>
          <a:spcPct val="0"/>
        </a:spcAft>
        <a:buChar char="»"/>
        <a:defRPr>
          <a:solidFill>
            <a:schemeClr val="tx1"/>
          </a:solidFill>
          <a:latin typeface="+mn-lt"/>
          <a:ea typeface="ＭＳ Ｐゴシック" pitchFamily="-109" charset="-128"/>
        </a:defRPr>
      </a:lvl6pPr>
      <a:lvl7pPr marL="3028950" indent="-228600" algn="l" rtl="0" fontAlgn="base">
        <a:spcBef>
          <a:spcPct val="20000"/>
        </a:spcBef>
        <a:spcAft>
          <a:spcPct val="0"/>
        </a:spcAft>
        <a:buChar char="»"/>
        <a:defRPr>
          <a:solidFill>
            <a:schemeClr val="tx1"/>
          </a:solidFill>
          <a:latin typeface="+mn-lt"/>
          <a:ea typeface="ＭＳ Ｐゴシック" pitchFamily="-109" charset="-128"/>
        </a:defRPr>
      </a:lvl7pPr>
      <a:lvl8pPr marL="3486150" indent="-228600" algn="l" rtl="0" fontAlgn="base">
        <a:spcBef>
          <a:spcPct val="20000"/>
        </a:spcBef>
        <a:spcAft>
          <a:spcPct val="0"/>
        </a:spcAft>
        <a:buChar char="»"/>
        <a:defRPr>
          <a:solidFill>
            <a:schemeClr val="tx1"/>
          </a:solidFill>
          <a:latin typeface="+mn-lt"/>
          <a:ea typeface="ＭＳ Ｐゴシック" pitchFamily="-109" charset="-128"/>
        </a:defRPr>
      </a:lvl8pPr>
      <a:lvl9pPr marL="3943350" indent="-228600" algn="l" rtl="0" fontAlgn="base">
        <a:spcBef>
          <a:spcPct val="20000"/>
        </a:spcBef>
        <a:spcAft>
          <a:spcPct val="0"/>
        </a:spcAft>
        <a:buChar char="»"/>
        <a:defRPr>
          <a:solidFill>
            <a:schemeClr val="tx1"/>
          </a:solidFill>
          <a:latin typeface="+mn-lt"/>
          <a:ea typeface="ＭＳ Ｐゴシック" pitchFamily="-109" charset="-128"/>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35" tIns="45718" rIns="91435" bIns="45718"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1"/>
            <a:ext cx="8229600" cy="4525963"/>
          </a:xfrm>
          <a:prstGeom prst="rect">
            <a:avLst/>
          </a:prstGeom>
        </p:spPr>
        <p:txBody>
          <a:bodyPr vert="horz" lIns="91435" tIns="45718" rIns="91435" bIns="45718"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1"/>
            <a:ext cx="2133600" cy="365125"/>
          </a:xfrm>
          <a:prstGeom prst="rect">
            <a:avLst/>
          </a:prstGeom>
        </p:spPr>
        <p:txBody>
          <a:bodyPr vert="horz" lIns="91435" tIns="45718" rIns="91435" bIns="45718" rtlCol="0" anchor="ctr"/>
          <a:lstStyle>
            <a:lvl1pPr algn="l">
              <a:defRPr sz="1200">
                <a:solidFill>
                  <a:schemeClr val="tx1">
                    <a:tint val="75000"/>
                  </a:schemeClr>
                </a:solidFill>
              </a:defRPr>
            </a:lvl1pPr>
          </a:lstStyle>
          <a:p>
            <a:pPr defTabSz="914353" eaLnBrk="1" fontAlgn="auto" hangingPunct="1">
              <a:spcBef>
                <a:spcPts val="0"/>
              </a:spcBef>
              <a:spcAft>
                <a:spcPts val="0"/>
              </a:spcAft>
            </a:pPr>
            <a:fld id="{00F0E56D-F31C-4174-9F9A-BA2FA4D6E529}" type="datetimeFigureOut">
              <a:rPr lang="it-IT" smtClean="0">
                <a:solidFill>
                  <a:prstClr val="black">
                    <a:tint val="75000"/>
                  </a:prstClr>
                </a:solidFill>
                <a:latin typeface="Georgia"/>
              </a:rPr>
              <a:pPr defTabSz="914353" eaLnBrk="1" fontAlgn="auto" hangingPunct="1">
                <a:spcBef>
                  <a:spcPts val="0"/>
                </a:spcBef>
                <a:spcAft>
                  <a:spcPts val="0"/>
                </a:spcAft>
              </a:pPr>
              <a:t>12/05/2020</a:t>
            </a:fld>
            <a:endParaRPr lang="it-IT">
              <a:solidFill>
                <a:prstClr val="black">
                  <a:tint val="75000"/>
                </a:prstClr>
              </a:solidFill>
              <a:latin typeface="Georgia"/>
            </a:endParaRPr>
          </a:p>
        </p:txBody>
      </p:sp>
      <p:sp>
        <p:nvSpPr>
          <p:cNvPr id="5" name="Segnaposto piè di pagina 4"/>
          <p:cNvSpPr>
            <a:spLocks noGrp="1"/>
          </p:cNvSpPr>
          <p:nvPr>
            <p:ph type="ftr" sz="quarter" idx="3"/>
          </p:nvPr>
        </p:nvSpPr>
        <p:spPr>
          <a:xfrm>
            <a:off x="3124201" y="6356351"/>
            <a:ext cx="2895600" cy="365125"/>
          </a:xfrm>
          <a:prstGeom prst="rect">
            <a:avLst/>
          </a:prstGeom>
        </p:spPr>
        <p:txBody>
          <a:bodyPr vert="horz" lIns="91435" tIns="45718" rIns="91435" bIns="45718" rtlCol="0" anchor="ctr"/>
          <a:lstStyle>
            <a:lvl1pPr algn="ctr">
              <a:defRPr sz="1200">
                <a:solidFill>
                  <a:schemeClr val="tx1">
                    <a:tint val="75000"/>
                  </a:schemeClr>
                </a:solidFill>
              </a:defRPr>
            </a:lvl1pPr>
          </a:lstStyle>
          <a:p>
            <a:pPr defTabSz="914353" eaLnBrk="1" fontAlgn="auto" hangingPunct="1">
              <a:spcBef>
                <a:spcPts val="0"/>
              </a:spcBef>
              <a:spcAft>
                <a:spcPts val="0"/>
              </a:spcAft>
            </a:pPr>
            <a:endParaRPr lang="it-IT">
              <a:solidFill>
                <a:prstClr val="black">
                  <a:tint val="75000"/>
                </a:prstClr>
              </a:solidFill>
              <a:latin typeface="Georgia"/>
            </a:endParaRPr>
          </a:p>
        </p:txBody>
      </p:sp>
      <p:sp>
        <p:nvSpPr>
          <p:cNvPr id="6" name="Segnaposto numero diapositiva 5"/>
          <p:cNvSpPr>
            <a:spLocks noGrp="1"/>
          </p:cNvSpPr>
          <p:nvPr>
            <p:ph type="sldNum" sz="quarter" idx="4"/>
          </p:nvPr>
        </p:nvSpPr>
        <p:spPr>
          <a:xfrm>
            <a:off x="6553200" y="6356351"/>
            <a:ext cx="2133600" cy="365125"/>
          </a:xfrm>
          <a:prstGeom prst="rect">
            <a:avLst/>
          </a:prstGeom>
        </p:spPr>
        <p:txBody>
          <a:bodyPr vert="horz" lIns="91435" tIns="45718" rIns="91435" bIns="45718" rtlCol="0" anchor="ctr"/>
          <a:lstStyle>
            <a:lvl1pPr algn="r">
              <a:defRPr sz="1200">
                <a:solidFill>
                  <a:schemeClr val="tx1">
                    <a:tint val="75000"/>
                  </a:schemeClr>
                </a:solidFill>
              </a:defRPr>
            </a:lvl1pPr>
          </a:lstStyle>
          <a:p>
            <a:pPr defTabSz="914353" eaLnBrk="1" fontAlgn="auto" hangingPunct="1">
              <a:spcBef>
                <a:spcPts val="0"/>
              </a:spcBef>
              <a:spcAft>
                <a:spcPts val="0"/>
              </a:spcAft>
            </a:pPr>
            <a:fld id="{0523B431-EA36-47EB-83C7-842502818703}" type="slidenum">
              <a:rPr lang="it-IT" smtClean="0">
                <a:solidFill>
                  <a:prstClr val="black">
                    <a:tint val="75000"/>
                  </a:prstClr>
                </a:solidFill>
                <a:latin typeface="Georgia"/>
              </a:rPr>
              <a:pPr defTabSz="914353" eaLnBrk="1" fontAlgn="auto" hangingPunct="1">
                <a:spcBef>
                  <a:spcPts val="0"/>
                </a:spcBef>
                <a:spcAft>
                  <a:spcPts val="0"/>
                </a:spcAft>
              </a:pPr>
              <a:t>‹N›</a:t>
            </a:fld>
            <a:endParaRPr lang="it-IT">
              <a:solidFill>
                <a:prstClr val="black">
                  <a:tint val="75000"/>
                </a:prstClr>
              </a:solidFill>
              <a:latin typeface="Georgia"/>
            </a:endParaRPr>
          </a:p>
        </p:txBody>
      </p:sp>
    </p:spTree>
    <p:extLst>
      <p:ext uri="{BB962C8B-B14F-4D97-AF65-F5344CB8AC3E}">
        <p14:creationId xmlns:p14="http://schemas.microsoft.com/office/powerpoint/2010/main" val="380050197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defTabSz="914353" rtl="0" eaLnBrk="1" latinLnBrk="0" hangingPunct="1">
        <a:spcBef>
          <a:spcPct val="0"/>
        </a:spcBef>
        <a:buNone/>
        <a:defRPr sz="4400" kern="1200">
          <a:solidFill>
            <a:schemeClr val="tx1"/>
          </a:solidFill>
          <a:latin typeface="+mj-lt"/>
          <a:ea typeface="+mj-ea"/>
          <a:cs typeface="+mj-cs"/>
        </a:defRPr>
      </a:lvl1pPr>
    </p:titleStyle>
    <p:bodyStyle>
      <a:lvl1pPr marL="342882" indent="-342882" algn="l" defTabSz="914353"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12" indent="-285736" algn="l" defTabSz="914353"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42" indent="-228588" algn="l" defTabSz="914353"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18"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295"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471"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48"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5"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1" indent="-228588" algn="l" defTabSz="91435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353" rtl="0" eaLnBrk="1" latinLnBrk="0" hangingPunct="1">
        <a:defRPr sz="1800" kern="1200">
          <a:solidFill>
            <a:schemeClr val="tx1"/>
          </a:solidFill>
          <a:latin typeface="+mn-lt"/>
          <a:ea typeface="+mn-ea"/>
          <a:cs typeface="+mn-cs"/>
        </a:defRPr>
      </a:lvl1pPr>
      <a:lvl2pPr marL="457177" algn="l" defTabSz="914353" rtl="0" eaLnBrk="1" latinLnBrk="0" hangingPunct="1">
        <a:defRPr sz="1800" kern="1200">
          <a:solidFill>
            <a:schemeClr val="tx1"/>
          </a:solidFill>
          <a:latin typeface="+mn-lt"/>
          <a:ea typeface="+mn-ea"/>
          <a:cs typeface="+mn-cs"/>
        </a:defRPr>
      </a:lvl2pPr>
      <a:lvl3pPr marL="914353" algn="l" defTabSz="914353" rtl="0" eaLnBrk="1" latinLnBrk="0" hangingPunct="1">
        <a:defRPr sz="1800" kern="1200">
          <a:solidFill>
            <a:schemeClr val="tx1"/>
          </a:solidFill>
          <a:latin typeface="+mn-lt"/>
          <a:ea typeface="+mn-ea"/>
          <a:cs typeface="+mn-cs"/>
        </a:defRPr>
      </a:lvl3pPr>
      <a:lvl4pPr marL="1371530" algn="l" defTabSz="914353" rtl="0" eaLnBrk="1" latinLnBrk="0" hangingPunct="1">
        <a:defRPr sz="1800" kern="1200">
          <a:solidFill>
            <a:schemeClr val="tx1"/>
          </a:solidFill>
          <a:latin typeface="+mn-lt"/>
          <a:ea typeface="+mn-ea"/>
          <a:cs typeface="+mn-cs"/>
        </a:defRPr>
      </a:lvl4pPr>
      <a:lvl5pPr marL="1828706" algn="l" defTabSz="914353" rtl="0" eaLnBrk="1" latinLnBrk="0" hangingPunct="1">
        <a:defRPr sz="1800" kern="1200">
          <a:solidFill>
            <a:schemeClr val="tx1"/>
          </a:solidFill>
          <a:latin typeface="+mn-lt"/>
          <a:ea typeface="+mn-ea"/>
          <a:cs typeface="+mn-cs"/>
        </a:defRPr>
      </a:lvl5pPr>
      <a:lvl6pPr marL="2285883" algn="l" defTabSz="914353" rtl="0" eaLnBrk="1" latinLnBrk="0" hangingPunct="1">
        <a:defRPr sz="1800" kern="1200">
          <a:solidFill>
            <a:schemeClr val="tx1"/>
          </a:solidFill>
          <a:latin typeface="+mn-lt"/>
          <a:ea typeface="+mn-ea"/>
          <a:cs typeface="+mn-cs"/>
        </a:defRPr>
      </a:lvl6pPr>
      <a:lvl7pPr marL="2743060" algn="l" defTabSz="914353" rtl="0" eaLnBrk="1" latinLnBrk="0" hangingPunct="1">
        <a:defRPr sz="1800" kern="1200">
          <a:solidFill>
            <a:schemeClr val="tx1"/>
          </a:solidFill>
          <a:latin typeface="+mn-lt"/>
          <a:ea typeface="+mn-ea"/>
          <a:cs typeface="+mn-cs"/>
        </a:defRPr>
      </a:lvl7pPr>
      <a:lvl8pPr marL="3200236" algn="l" defTabSz="914353" rtl="0" eaLnBrk="1" latinLnBrk="0" hangingPunct="1">
        <a:defRPr sz="1800" kern="1200">
          <a:solidFill>
            <a:schemeClr val="tx1"/>
          </a:solidFill>
          <a:latin typeface="+mn-lt"/>
          <a:ea typeface="+mn-ea"/>
          <a:cs typeface="+mn-cs"/>
        </a:defRPr>
      </a:lvl8pPr>
      <a:lvl9pPr marL="3657413" algn="l" defTabSz="91435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4" name="CasellaDiTesto 3"/>
          <p:cNvSpPr txBox="1"/>
          <p:nvPr/>
        </p:nvSpPr>
        <p:spPr>
          <a:xfrm>
            <a:off x="-32" y="2459506"/>
            <a:ext cx="8286776" cy="1938988"/>
          </a:xfrm>
          <a:prstGeom prst="rect">
            <a:avLst/>
          </a:prstGeom>
          <a:noFill/>
        </p:spPr>
        <p:txBody>
          <a:bodyPr wrap="square" lIns="359982" tIns="45718" rIns="91435" bIns="45718" rtlCol="0">
            <a:spAutoFit/>
          </a:bodyPr>
          <a:lstStyle/>
          <a:p>
            <a:r>
              <a:rPr lang="it-IT" sz="6000" dirty="0" err="1" smtClean="0">
                <a:solidFill>
                  <a:schemeClr val="bg1"/>
                </a:solidFill>
                <a:effectLst>
                  <a:outerShdw blurRad="38100" dist="38100" dir="2700000" algn="tl">
                    <a:srgbClr val="000000">
                      <a:alpha val="43137"/>
                    </a:srgbClr>
                  </a:outerShdw>
                </a:effectLst>
                <a:latin typeface="Gill Sans MT" pitchFamily="34" charset="0"/>
              </a:rPr>
              <a:t>Elements</a:t>
            </a:r>
            <a:r>
              <a:rPr lang="it-IT" sz="6000" dirty="0" smtClean="0">
                <a:solidFill>
                  <a:schemeClr val="bg1"/>
                </a:solidFill>
                <a:effectLst>
                  <a:outerShdw blurRad="38100" dist="38100" dir="2700000" algn="tl">
                    <a:srgbClr val="000000">
                      <a:alpha val="43137"/>
                    </a:srgbClr>
                  </a:outerShdw>
                </a:effectLst>
                <a:latin typeface="Gill Sans MT" pitchFamily="34" charset="0"/>
              </a:rPr>
              <a:t> of the </a:t>
            </a:r>
            <a:br>
              <a:rPr lang="it-IT" sz="6000" dirty="0" smtClean="0">
                <a:solidFill>
                  <a:schemeClr val="bg1"/>
                </a:solidFill>
                <a:effectLst>
                  <a:outerShdw blurRad="38100" dist="38100" dir="2700000" algn="tl">
                    <a:srgbClr val="000000">
                      <a:alpha val="43137"/>
                    </a:srgbClr>
                  </a:outerShdw>
                </a:effectLst>
                <a:latin typeface="Gill Sans MT" pitchFamily="34" charset="0"/>
              </a:rPr>
            </a:br>
            <a:r>
              <a:rPr lang="it-IT" sz="6000" dirty="0" smtClean="0">
                <a:solidFill>
                  <a:schemeClr val="bg1"/>
                </a:solidFill>
                <a:effectLst>
                  <a:outerShdw blurRad="38100" dist="38100" dir="2700000" algn="tl">
                    <a:srgbClr val="000000">
                      <a:alpha val="43137"/>
                    </a:srgbClr>
                  </a:outerShdw>
                </a:effectLst>
                <a:latin typeface="Gill Sans MT" pitchFamily="34" charset="0"/>
              </a:rPr>
              <a:t>WIMP</a:t>
            </a:r>
            <a:r>
              <a:rPr lang="it-IT" sz="6000" dirty="0">
                <a:solidFill>
                  <a:schemeClr val="bg1"/>
                </a:solidFill>
                <a:effectLst>
                  <a:outerShdw blurRad="38100" dist="38100" dir="2700000" algn="tl">
                    <a:srgbClr val="000000">
                      <a:alpha val="43137"/>
                    </a:srgbClr>
                  </a:outerShdw>
                </a:effectLst>
                <a:latin typeface="Gill Sans MT" pitchFamily="34" charset="0"/>
              </a:rPr>
              <a:t> </a:t>
            </a:r>
            <a:r>
              <a:rPr lang="it-IT" sz="6000" dirty="0" err="1" smtClean="0">
                <a:solidFill>
                  <a:schemeClr val="bg1"/>
                </a:solidFill>
                <a:effectLst>
                  <a:outerShdw blurRad="38100" dist="38100" dir="2700000" algn="tl">
                    <a:srgbClr val="000000">
                      <a:alpha val="43137"/>
                    </a:srgbClr>
                  </a:outerShdw>
                </a:effectLst>
                <a:latin typeface="Gill Sans MT" pitchFamily="34" charset="0"/>
              </a:rPr>
              <a:t>interface</a:t>
            </a:r>
            <a:endParaRPr lang="it-IT" sz="3000" dirty="0" smtClean="0">
              <a:solidFill>
                <a:schemeClr val="bg1"/>
              </a:solidFill>
              <a:effectLst>
                <a:outerShdw blurRad="38100" dist="38100" dir="2700000" algn="tl">
                  <a:srgbClr val="000000">
                    <a:alpha val="43137"/>
                  </a:srgbClr>
                </a:outerShdw>
              </a:effectLst>
              <a:latin typeface="Gill Sans MT" pitchFamily="34" charset="0"/>
            </a:endParaRPr>
          </a:p>
        </p:txBody>
      </p:sp>
    </p:spTree>
    <p:extLst>
      <p:ext uri="{BB962C8B-B14F-4D97-AF65-F5344CB8AC3E}">
        <p14:creationId xmlns:p14="http://schemas.microsoft.com/office/powerpoint/2010/main" val="43487699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CasellaDiTesto 2"/>
          <p:cNvSpPr txBox="1"/>
          <p:nvPr/>
        </p:nvSpPr>
        <p:spPr>
          <a:xfrm>
            <a:off x="0" y="1268760"/>
            <a:ext cx="8604448" cy="6158605"/>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it-IT" sz="3000" dirty="0" err="1" smtClean="0">
                <a:solidFill>
                  <a:srgbClr val="000000"/>
                </a:solidFill>
                <a:latin typeface="Gill Sans MT" pitchFamily="34" charset="0"/>
              </a:rPr>
              <a:t>Besides</a:t>
            </a:r>
            <a:r>
              <a:rPr lang="it-IT" sz="3000" dirty="0" smtClean="0">
                <a:solidFill>
                  <a:srgbClr val="000000"/>
                </a:solidFill>
                <a:latin typeface="Gill Sans MT" pitchFamily="34" charset="0"/>
              </a:rPr>
              <a:t> </a:t>
            </a:r>
            <a:r>
              <a:rPr lang="it-IT" sz="3000" dirty="0" err="1" smtClean="0">
                <a:solidFill>
                  <a:srgbClr val="000000"/>
                </a:solidFill>
                <a:latin typeface="Gill Sans MT" pitchFamily="34" charset="0"/>
              </a:rPr>
              <a:t>windows</a:t>
            </a:r>
            <a:r>
              <a:rPr lang="it-IT" sz="3000" dirty="0" smtClean="0">
                <a:solidFill>
                  <a:srgbClr val="000000"/>
                </a:solidFill>
                <a:latin typeface="Gill Sans MT" pitchFamily="34" charset="0"/>
              </a:rPr>
              <a:t>, </a:t>
            </a:r>
            <a:r>
              <a:rPr lang="it-IT" sz="3000" dirty="0" err="1" smtClean="0">
                <a:solidFill>
                  <a:srgbClr val="000000"/>
                </a:solidFill>
                <a:latin typeface="Gill Sans MT" pitchFamily="34" charset="0"/>
              </a:rPr>
              <a:t>icons</a:t>
            </a:r>
            <a:r>
              <a:rPr lang="it-IT" sz="3000" dirty="0" smtClean="0">
                <a:solidFill>
                  <a:srgbClr val="000000"/>
                </a:solidFill>
                <a:latin typeface="Gill Sans MT" pitchFamily="34" charset="0"/>
              </a:rPr>
              <a:t>, </a:t>
            </a:r>
            <a:r>
              <a:rPr lang="it-IT" sz="3000" dirty="0" err="1" smtClean="0">
                <a:solidFill>
                  <a:srgbClr val="000000"/>
                </a:solidFill>
                <a:latin typeface="Gill Sans MT" pitchFamily="34" charset="0"/>
              </a:rPr>
              <a:t>menus</a:t>
            </a:r>
            <a:r>
              <a:rPr lang="it-IT" sz="3000" dirty="0" smtClean="0">
                <a:solidFill>
                  <a:srgbClr val="000000"/>
                </a:solidFill>
                <a:latin typeface="Gill Sans MT" pitchFamily="34" charset="0"/>
              </a:rPr>
              <a:t>, </a:t>
            </a:r>
            <a:r>
              <a:rPr lang="it-IT" sz="3000" dirty="0" err="1" smtClean="0">
                <a:solidFill>
                  <a:srgbClr val="000000"/>
                </a:solidFill>
                <a:latin typeface="Gill Sans MT" pitchFamily="34" charset="0"/>
              </a:rPr>
              <a:t>pointers</a:t>
            </a:r>
            <a:r>
              <a:rPr lang="it-IT" sz="3000" dirty="0" smtClean="0">
                <a:solidFill>
                  <a:srgbClr val="000000"/>
                </a:solidFill>
                <a:latin typeface="Gill Sans MT" pitchFamily="34" charset="0"/>
              </a:rPr>
              <a:t/>
            </a:r>
            <a:br>
              <a:rPr lang="it-IT" sz="3000" dirty="0" smtClean="0">
                <a:solidFill>
                  <a:srgbClr val="000000"/>
                </a:solidFill>
                <a:latin typeface="Gill Sans MT" pitchFamily="34" charset="0"/>
              </a:rPr>
            </a:br>
            <a:r>
              <a:rPr lang="it-IT" sz="3000" dirty="0" smtClean="0">
                <a:solidFill>
                  <a:srgbClr val="000000"/>
                </a:solidFill>
                <a:latin typeface="Gill Sans MT" pitchFamily="34" charset="0"/>
              </a:rPr>
              <a:t>.. </a:t>
            </a:r>
            <a:r>
              <a:rPr lang="fr-FR" sz="3000" dirty="0" smtClean="0">
                <a:solidFill>
                  <a:srgbClr val="C00000"/>
                </a:solidFill>
                <a:latin typeface="Gill Sans MT" pitchFamily="34" charset="0"/>
              </a:rPr>
              <a:t>buttons, </a:t>
            </a:r>
            <a:r>
              <a:rPr lang="fr-FR" sz="3000" dirty="0" err="1" smtClean="0">
                <a:solidFill>
                  <a:srgbClr val="C00000"/>
                </a:solidFill>
                <a:latin typeface="Gill Sans MT" pitchFamily="34" charset="0"/>
              </a:rPr>
              <a:t>toolbars</a:t>
            </a:r>
            <a:r>
              <a:rPr lang="fr-FR" sz="3000" dirty="0" smtClean="0">
                <a:solidFill>
                  <a:srgbClr val="C00000"/>
                </a:solidFill>
                <a:latin typeface="Gill Sans MT" pitchFamily="34" charset="0"/>
              </a:rPr>
              <a:t>, palettes, </a:t>
            </a:r>
            <a:r>
              <a:rPr lang="fr-FR" sz="3000" dirty="0" err="1" smtClean="0">
                <a:solidFill>
                  <a:srgbClr val="C00000"/>
                </a:solidFill>
                <a:latin typeface="Gill Sans MT" pitchFamily="34" charset="0"/>
              </a:rPr>
              <a:t>dialog</a:t>
            </a:r>
            <a:r>
              <a:rPr lang="fr-FR" sz="3000" dirty="0" smtClean="0">
                <a:solidFill>
                  <a:srgbClr val="C00000"/>
                </a:solidFill>
                <a:latin typeface="Gill Sans MT" pitchFamily="34" charset="0"/>
              </a:rPr>
              <a:t> boxes </a:t>
            </a:r>
          </a:p>
          <a:p>
            <a:pPr defTabSz="914353" eaLnBrk="1" fontAlgn="auto" hangingPunct="1">
              <a:lnSpc>
                <a:spcPct val="90000"/>
              </a:lnSpc>
              <a:spcBef>
                <a:spcPts val="1800"/>
              </a:spcBef>
              <a:spcAft>
                <a:spcPts val="0"/>
              </a:spcAft>
            </a:pPr>
            <a:r>
              <a:rPr lang="it-IT" sz="3000" dirty="0" err="1" smtClean="0">
                <a:solidFill>
                  <a:srgbClr val="000000"/>
                </a:solidFill>
                <a:latin typeface="Gill Sans MT" pitchFamily="34" charset="0"/>
              </a:rPr>
              <a:t>Different</a:t>
            </a:r>
            <a:r>
              <a:rPr lang="it-IT" sz="3000" dirty="0" smtClean="0">
                <a:solidFill>
                  <a:srgbClr val="000000"/>
                </a:solidFill>
                <a:latin typeface="Gill Sans MT" pitchFamily="34" charset="0"/>
              </a:rPr>
              <a:t> </a:t>
            </a:r>
            <a:br>
              <a:rPr lang="it-IT" sz="3000" dirty="0" smtClean="0">
                <a:solidFill>
                  <a:srgbClr val="000000"/>
                </a:solidFill>
                <a:latin typeface="Gill Sans MT" pitchFamily="34" charset="0"/>
              </a:rPr>
            </a:br>
            <a:r>
              <a:rPr lang="it-IT" sz="3000" dirty="0" err="1" smtClean="0">
                <a:solidFill>
                  <a:srgbClr val="000000"/>
                </a:solidFill>
                <a:latin typeface="Gill Sans MT" pitchFamily="34" charset="0"/>
              </a:rPr>
              <a:t>toolkits</a:t>
            </a:r>
            <a:r>
              <a:rPr lang="it-IT" sz="3000" dirty="0" smtClean="0">
                <a:solidFill>
                  <a:srgbClr val="000000"/>
                </a:solidFill>
                <a:latin typeface="Gill Sans MT" pitchFamily="34" charset="0"/>
              </a:rPr>
              <a:t/>
            </a:r>
            <a:br>
              <a:rPr lang="it-IT" sz="3000" dirty="0" smtClean="0">
                <a:solidFill>
                  <a:srgbClr val="000000"/>
                </a:solidFill>
                <a:latin typeface="Gill Sans MT" pitchFamily="34" charset="0"/>
              </a:rPr>
            </a:br>
            <a:r>
              <a:rPr lang="it-IT" sz="3000" dirty="0" err="1" smtClean="0">
                <a:solidFill>
                  <a:srgbClr val="000000"/>
                </a:solidFill>
                <a:latin typeface="Gill Sans MT" pitchFamily="34" charset="0"/>
              </a:rPr>
              <a:t>offer</a:t>
            </a:r>
            <a:r>
              <a:rPr lang="it-IT" sz="3000" dirty="0" smtClean="0">
                <a:solidFill>
                  <a:srgbClr val="000000"/>
                </a:solidFill>
                <a:latin typeface="Gill Sans MT" pitchFamily="34" charset="0"/>
              </a:rPr>
              <a:t> the </a:t>
            </a:r>
            <a:r>
              <a:rPr lang="it-IT" sz="3000" dirty="0" err="1" smtClean="0">
                <a:solidFill>
                  <a:srgbClr val="000000"/>
                </a:solidFill>
                <a:latin typeface="Gill Sans MT" pitchFamily="34" charset="0"/>
              </a:rPr>
              <a:t>same</a:t>
            </a:r>
            <a:r>
              <a:rPr lang="it-IT" sz="3000" dirty="0" smtClean="0">
                <a:solidFill>
                  <a:srgbClr val="000000"/>
                </a:solidFill>
                <a:latin typeface="Gill Sans MT" pitchFamily="34" charset="0"/>
              </a:rPr>
              <a:t/>
            </a:r>
            <a:br>
              <a:rPr lang="it-IT" sz="3000" dirty="0" smtClean="0">
                <a:solidFill>
                  <a:srgbClr val="000000"/>
                </a:solidFill>
                <a:latin typeface="Gill Sans MT" pitchFamily="34" charset="0"/>
              </a:rPr>
            </a:br>
            <a:r>
              <a:rPr lang="it-IT" sz="3000" dirty="0" smtClean="0">
                <a:solidFill>
                  <a:srgbClr val="000000"/>
                </a:solidFill>
                <a:latin typeface="Gill Sans MT" pitchFamily="34" charset="0"/>
              </a:rPr>
              <a:t>set of </a:t>
            </a:r>
            <a:r>
              <a:rPr lang="it-IT" sz="3000" dirty="0" err="1" smtClean="0">
                <a:solidFill>
                  <a:srgbClr val="000000"/>
                </a:solidFill>
                <a:latin typeface="Gill Sans MT" pitchFamily="34" charset="0"/>
              </a:rPr>
              <a:t>widgets</a:t>
            </a:r>
            <a:r>
              <a:rPr lang="it-IT" sz="3000" dirty="0" smtClean="0">
                <a:solidFill>
                  <a:srgbClr val="000000"/>
                </a:solidFill>
                <a:latin typeface="Gill Sans MT" pitchFamily="34" charset="0"/>
              </a:rPr>
              <a:t/>
            </a:r>
            <a:br>
              <a:rPr lang="it-IT" sz="3000" dirty="0" smtClean="0">
                <a:solidFill>
                  <a:srgbClr val="000000"/>
                </a:solidFill>
                <a:latin typeface="Gill Sans MT" pitchFamily="34" charset="0"/>
              </a:rPr>
            </a:br>
            <a:r>
              <a:rPr lang="it-IT" sz="3000" dirty="0" smtClean="0">
                <a:solidFill>
                  <a:srgbClr val="000000"/>
                </a:solidFill>
                <a:latin typeface="Gill Sans MT" pitchFamily="34" charset="0"/>
              </a:rPr>
              <a:t>(</a:t>
            </a:r>
            <a:r>
              <a:rPr lang="it-IT" sz="3000" dirty="0" err="1" smtClean="0">
                <a:solidFill>
                  <a:srgbClr val="000000"/>
                </a:solidFill>
                <a:latin typeface="Gill Sans MT" pitchFamily="34" charset="0"/>
              </a:rPr>
              <a:t>whose</a:t>
            </a:r>
            <a:r>
              <a:rPr lang="it-IT" sz="3000" dirty="0" smtClean="0">
                <a:solidFill>
                  <a:srgbClr val="000000"/>
                </a:solidFill>
                <a:latin typeface="Gill Sans MT" pitchFamily="34" charset="0"/>
              </a:rPr>
              <a:t> </a:t>
            </a:r>
            <a:r>
              <a:rPr lang="it-IT" sz="3000" dirty="0" err="1" smtClean="0">
                <a:solidFill>
                  <a:srgbClr val="000000"/>
                </a:solidFill>
                <a:latin typeface="Gill Sans MT" pitchFamily="34" charset="0"/>
              </a:rPr>
              <a:t>aspect</a:t>
            </a:r>
            <a:r>
              <a:rPr lang="it-IT" sz="3000" dirty="0" smtClean="0">
                <a:solidFill>
                  <a:srgbClr val="000000"/>
                </a:solidFill>
                <a:latin typeface="Gill Sans MT" pitchFamily="34" charset="0"/>
              </a:rPr>
              <a:t/>
            </a:r>
            <a:br>
              <a:rPr lang="it-IT" sz="3000" dirty="0" smtClean="0">
                <a:solidFill>
                  <a:srgbClr val="000000"/>
                </a:solidFill>
                <a:latin typeface="Gill Sans MT" pitchFamily="34" charset="0"/>
              </a:rPr>
            </a:br>
            <a:r>
              <a:rPr lang="it-IT" sz="3000" dirty="0" smtClean="0">
                <a:solidFill>
                  <a:srgbClr val="000000"/>
                </a:solidFill>
                <a:latin typeface="Gill Sans MT" pitchFamily="34" charset="0"/>
              </a:rPr>
              <a:t>and </a:t>
            </a:r>
            <a:r>
              <a:rPr lang="it-IT" sz="3000" dirty="0" err="1" smtClean="0">
                <a:solidFill>
                  <a:srgbClr val="000000"/>
                </a:solidFill>
                <a:latin typeface="Gill Sans MT" pitchFamily="34" charset="0"/>
              </a:rPr>
              <a:t>behaviour</a:t>
            </a:r>
            <a:r>
              <a:rPr lang="it-IT" sz="3000" dirty="0" smtClean="0">
                <a:solidFill>
                  <a:srgbClr val="000000"/>
                </a:solidFill>
                <a:latin typeface="Gill Sans MT" pitchFamily="34" charset="0"/>
              </a:rPr>
              <a:t/>
            </a:r>
            <a:br>
              <a:rPr lang="it-IT" sz="3000" dirty="0" smtClean="0">
                <a:solidFill>
                  <a:srgbClr val="000000"/>
                </a:solidFill>
                <a:latin typeface="Gill Sans MT" pitchFamily="34" charset="0"/>
              </a:rPr>
            </a:br>
            <a:r>
              <a:rPr lang="it-IT" sz="3000" dirty="0" smtClean="0">
                <a:solidFill>
                  <a:srgbClr val="000000"/>
                </a:solidFill>
                <a:latin typeface="Gill Sans MT" pitchFamily="34" charset="0"/>
              </a:rPr>
              <a:t>can </a:t>
            </a:r>
            <a:r>
              <a:rPr lang="it-IT" sz="3000" dirty="0" err="1" smtClean="0">
                <a:solidFill>
                  <a:srgbClr val="000000"/>
                </a:solidFill>
                <a:latin typeface="Gill Sans MT" pitchFamily="34" charset="0"/>
              </a:rPr>
              <a:t>differ</a:t>
            </a:r>
            <a:r>
              <a:rPr lang="it-IT" sz="3000" dirty="0" smtClean="0">
                <a:solidFill>
                  <a:srgbClr val="000000"/>
                </a:solidFill>
                <a:latin typeface="Gill Sans MT" pitchFamily="34" charset="0"/>
              </a:rPr>
              <a:t>)</a:t>
            </a:r>
            <a:endParaRPr lang="it-IT" dirty="0">
              <a:solidFill>
                <a:srgbClr val="000000"/>
              </a:solidFill>
              <a:latin typeface="Gill Sans MT" pitchFamily="34" charset="0"/>
            </a:endParaRP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b="1" dirty="0" smtClean="0">
              <a:solidFill>
                <a:srgbClr val="000000"/>
              </a:solidFill>
              <a:latin typeface="Gill Sans MT" pitchFamily="34" charset="0"/>
            </a:endParaRP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dirty="0" smtClean="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Elements of the WIMP interface</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726279393"/>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196752"/>
            <a:ext cx="8820472" cy="7617466"/>
          </a:xfrm>
          <a:prstGeom prst="rect">
            <a:avLst/>
          </a:prstGeom>
          <a:noFill/>
        </p:spPr>
        <p:txBody>
          <a:bodyPr wrap="square" lIns="359982" tIns="45718" rIns="91435" bIns="45718" rtlCol="0">
            <a:spAutoFit/>
          </a:bodyPr>
          <a:lstStyle/>
          <a:p>
            <a:pPr>
              <a:lnSpc>
                <a:spcPct val="90000"/>
              </a:lnSpc>
            </a:pPr>
            <a:r>
              <a:rPr lang="en-GB" sz="3000" dirty="0">
                <a:latin typeface="Gill Sans MT" panose="020B0502020104020203" pitchFamily="34" charset="0"/>
              </a:rPr>
              <a:t>Areas of the screen that </a:t>
            </a:r>
            <a:r>
              <a:rPr lang="en-GB" sz="3000" b="1" dirty="0">
                <a:latin typeface="Gill Sans MT" panose="020B0502020104020203" pitchFamily="34" charset="0"/>
              </a:rPr>
              <a:t>behave as if they were independent</a:t>
            </a:r>
          </a:p>
          <a:p>
            <a:pPr lvl="1">
              <a:lnSpc>
                <a:spcPct val="90000"/>
              </a:lnSpc>
            </a:pPr>
            <a:r>
              <a:rPr lang="en-GB" sz="3000" dirty="0">
                <a:latin typeface="Gill Sans MT" panose="020B0502020104020203" pitchFamily="34" charset="0"/>
              </a:rPr>
              <a:t>can contain text or graphics</a:t>
            </a:r>
          </a:p>
          <a:p>
            <a:pPr lvl="1">
              <a:lnSpc>
                <a:spcPct val="90000"/>
              </a:lnSpc>
            </a:pPr>
            <a:r>
              <a:rPr lang="en-GB" sz="3000" dirty="0">
                <a:latin typeface="Gill Sans MT" panose="020B0502020104020203" pitchFamily="34" charset="0"/>
              </a:rPr>
              <a:t>can be moved or resized</a:t>
            </a:r>
          </a:p>
          <a:p>
            <a:pPr lvl="1">
              <a:lnSpc>
                <a:spcPct val="90000"/>
              </a:lnSpc>
            </a:pPr>
            <a:r>
              <a:rPr lang="en-GB" sz="3000" dirty="0">
                <a:latin typeface="Gill Sans MT" panose="020B0502020104020203" pitchFamily="34" charset="0"/>
              </a:rPr>
              <a:t>can overlap and obscure each other, or can be laid out next to one another (tiled)</a:t>
            </a:r>
          </a:p>
          <a:p>
            <a:pPr lvl="1">
              <a:lnSpc>
                <a:spcPct val="90000"/>
              </a:lnSpc>
            </a:pPr>
            <a:endParaRPr lang="en-GB" sz="3000" dirty="0">
              <a:latin typeface="Gill Sans MT" panose="020B0502020104020203" pitchFamily="34" charset="0"/>
            </a:endParaRPr>
          </a:p>
          <a:p>
            <a:pPr>
              <a:lnSpc>
                <a:spcPct val="90000"/>
              </a:lnSpc>
            </a:pPr>
            <a:r>
              <a:rPr lang="en-GB" sz="3000" dirty="0">
                <a:latin typeface="Gill Sans MT" panose="020B0502020104020203" pitchFamily="34" charset="0"/>
              </a:rPr>
              <a:t>scrollbars</a:t>
            </a:r>
          </a:p>
          <a:p>
            <a:pPr lvl="1">
              <a:lnSpc>
                <a:spcPct val="90000"/>
              </a:lnSpc>
            </a:pPr>
            <a:r>
              <a:rPr lang="en-GB" sz="3000" dirty="0">
                <a:latin typeface="Gill Sans MT" panose="020B0502020104020203" pitchFamily="34" charset="0"/>
              </a:rPr>
              <a:t>allow the user to move the </a:t>
            </a:r>
            <a:r>
              <a:rPr lang="en-GB" sz="3000" dirty="0" smtClean="0">
                <a:latin typeface="Gill Sans MT" panose="020B0502020104020203" pitchFamily="34" charset="0"/>
              </a:rPr>
              <a:t/>
            </a:r>
            <a:br>
              <a:rPr lang="en-GB" sz="3000" dirty="0" smtClean="0">
                <a:latin typeface="Gill Sans MT" panose="020B0502020104020203" pitchFamily="34" charset="0"/>
              </a:rPr>
            </a:br>
            <a:r>
              <a:rPr lang="en-GB" sz="3000" dirty="0" smtClean="0">
                <a:latin typeface="Gill Sans MT" panose="020B0502020104020203" pitchFamily="34" charset="0"/>
              </a:rPr>
              <a:t>contents </a:t>
            </a:r>
            <a:r>
              <a:rPr lang="en-GB" sz="3000" dirty="0">
                <a:latin typeface="Gill Sans MT" panose="020B0502020104020203" pitchFamily="34" charset="0"/>
              </a:rPr>
              <a:t>of the window up </a:t>
            </a:r>
            <a:r>
              <a:rPr lang="en-GB" sz="3000" dirty="0" smtClean="0">
                <a:latin typeface="Gill Sans MT" panose="020B0502020104020203" pitchFamily="34" charset="0"/>
              </a:rPr>
              <a:t/>
            </a:r>
            <a:br>
              <a:rPr lang="en-GB" sz="3000" dirty="0" smtClean="0">
                <a:latin typeface="Gill Sans MT" panose="020B0502020104020203" pitchFamily="34" charset="0"/>
              </a:rPr>
            </a:br>
            <a:r>
              <a:rPr lang="en-GB" sz="3000" dirty="0" smtClean="0">
                <a:latin typeface="Gill Sans MT" panose="020B0502020104020203" pitchFamily="34" charset="0"/>
              </a:rPr>
              <a:t>and </a:t>
            </a:r>
            <a:r>
              <a:rPr lang="en-GB" sz="3000" dirty="0">
                <a:latin typeface="Gill Sans MT" panose="020B0502020104020203" pitchFamily="34" charset="0"/>
              </a:rPr>
              <a:t>down or from side to side</a:t>
            </a:r>
          </a:p>
          <a:p>
            <a:pPr>
              <a:lnSpc>
                <a:spcPct val="90000"/>
              </a:lnSpc>
            </a:pPr>
            <a:r>
              <a:rPr lang="en-GB" sz="3000" dirty="0">
                <a:latin typeface="Gill Sans MT" panose="020B0502020104020203" pitchFamily="34" charset="0"/>
              </a:rPr>
              <a:t>title bars</a:t>
            </a:r>
          </a:p>
          <a:p>
            <a:pPr lvl="1">
              <a:lnSpc>
                <a:spcPct val="90000"/>
              </a:lnSpc>
            </a:pPr>
            <a:r>
              <a:rPr lang="en-GB" sz="3000" dirty="0">
                <a:latin typeface="Gill Sans MT" panose="020B0502020104020203" pitchFamily="34" charset="0"/>
              </a:rPr>
              <a:t>describe the name of the window</a:t>
            </a: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b="1" dirty="0" smtClean="0">
              <a:solidFill>
                <a:srgbClr val="000000"/>
              </a:solidFill>
              <a:latin typeface="Gill Sans MT" pitchFamily="34" charset="0"/>
            </a:endParaRP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dirty="0" smtClean="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Windows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0337" y="3501008"/>
            <a:ext cx="3125114" cy="2520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94335518"/>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descr="http://image.zcool.com.cn/2009/12/68/71/126061644935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81282" y="5987"/>
            <a:ext cx="3047302" cy="6951405"/>
          </a:xfrm>
          <a:prstGeom prst="rect">
            <a:avLst/>
          </a:prstGeom>
          <a:noFill/>
          <a:extLst>
            <a:ext uri="{909E8E84-426E-40DD-AFC4-6F175D3DCCD1}">
              <a14:hiddenFill xmlns:a14="http://schemas.microsoft.com/office/drawing/2010/main">
                <a:solidFill>
                  <a:srgbClr val="FFFFFF"/>
                </a:solidFill>
              </a14:hiddenFill>
            </a:ext>
          </a:extLst>
        </p:spPr>
      </p:pic>
      <p:sp>
        <p:nvSpPr>
          <p:cNvPr id="3" name="CasellaDiTesto 2"/>
          <p:cNvSpPr txBox="1"/>
          <p:nvPr/>
        </p:nvSpPr>
        <p:spPr>
          <a:xfrm>
            <a:off x="0" y="1428736"/>
            <a:ext cx="8820472" cy="6786469"/>
          </a:xfrm>
          <a:prstGeom prst="rect">
            <a:avLst/>
          </a:prstGeom>
          <a:noFill/>
        </p:spPr>
        <p:txBody>
          <a:bodyPr wrap="square" lIns="359982" tIns="45718" rIns="91435" bIns="45718" rtlCol="0">
            <a:spAutoFit/>
          </a:bodyPr>
          <a:lstStyle/>
          <a:p>
            <a:pPr>
              <a:lnSpc>
                <a:spcPct val="90000"/>
              </a:lnSpc>
            </a:pPr>
            <a:r>
              <a:rPr lang="en-US" sz="3000" dirty="0">
                <a:latin typeface="Gill Sans MT" panose="020B0502020104020203" pitchFamily="34" charset="0"/>
              </a:rPr>
              <a:t>small picture or </a:t>
            </a:r>
            <a:r>
              <a:rPr lang="en-US" sz="3000" dirty="0" smtClean="0">
                <a:latin typeface="Gill Sans MT" panose="020B0502020104020203" pitchFamily="34" charset="0"/>
              </a:rPr>
              <a:t>image</a:t>
            </a:r>
          </a:p>
          <a:p>
            <a:pPr>
              <a:lnSpc>
                <a:spcPct val="90000"/>
              </a:lnSpc>
            </a:pPr>
            <a:r>
              <a:rPr lang="en-US" sz="3000" dirty="0">
                <a:latin typeface="Gill Sans MT" panose="020B0502020104020203" pitchFamily="34" charset="0"/>
              </a:rPr>
              <a:t/>
            </a:r>
            <a:br>
              <a:rPr lang="en-US" sz="3000" dirty="0">
                <a:latin typeface="Gill Sans MT" panose="020B0502020104020203" pitchFamily="34" charset="0"/>
              </a:rPr>
            </a:br>
            <a:r>
              <a:rPr lang="en-US" sz="3000" dirty="0" smtClean="0">
                <a:latin typeface="Gill Sans MT" panose="020B0502020104020203" pitchFamily="34" charset="0"/>
              </a:rPr>
              <a:t>represents </a:t>
            </a:r>
            <a:r>
              <a:rPr lang="en-US" sz="3000" dirty="0">
                <a:latin typeface="Gill Sans MT" panose="020B0502020104020203" pitchFamily="34" charset="0"/>
              </a:rPr>
              <a:t>some object in the interface</a:t>
            </a:r>
          </a:p>
          <a:p>
            <a:pPr>
              <a:lnSpc>
                <a:spcPct val="90000"/>
              </a:lnSpc>
            </a:pPr>
            <a:r>
              <a:rPr lang="en-US" sz="3000" dirty="0" smtClean="0">
                <a:latin typeface="Gill Sans MT" panose="020B0502020104020203" pitchFamily="34" charset="0"/>
              </a:rPr>
              <a:t>- often </a:t>
            </a:r>
            <a:r>
              <a:rPr lang="en-US" sz="3000" dirty="0">
                <a:latin typeface="Gill Sans MT" panose="020B0502020104020203" pitchFamily="34" charset="0"/>
              </a:rPr>
              <a:t>a window or action</a:t>
            </a:r>
          </a:p>
          <a:p>
            <a:pPr>
              <a:lnSpc>
                <a:spcPct val="90000"/>
              </a:lnSpc>
            </a:pPr>
            <a:endParaRPr lang="en-US" sz="3000" dirty="0" smtClean="0">
              <a:latin typeface="Gill Sans MT" panose="020B0502020104020203" pitchFamily="34" charset="0"/>
            </a:endParaRPr>
          </a:p>
          <a:p>
            <a:pPr>
              <a:lnSpc>
                <a:spcPct val="90000"/>
              </a:lnSpc>
            </a:pPr>
            <a:r>
              <a:rPr lang="en-US" sz="3000" dirty="0" smtClean="0">
                <a:latin typeface="Gill Sans MT" panose="020B0502020104020203" pitchFamily="34" charset="0"/>
              </a:rPr>
              <a:t>windows </a:t>
            </a:r>
            <a:r>
              <a:rPr lang="en-US" sz="3000" dirty="0">
                <a:latin typeface="Gill Sans MT" panose="020B0502020104020203" pitchFamily="34" charset="0"/>
              </a:rPr>
              <a:t>can be closed down (</a:t>
            </a:r>
            <a:r>
              <a:rPr lang="en-US" sz="3000" dirty="0" smtClean="0">
                <a:latin typeface="Gill Sans MT" panose="020B0502020104020203" pitchFamily="34" charset="0"/>
              </a:rPr>
              <a:t>iconized</a:t>
            </a:r>
            <a:r>
              <a:rPr lang="en-US" sz="3000" dirty="0">
                <a:latin typeface="Gill Sans MT" panose="020B0502020104020203" pitchFamily="34" charset="0"/>
              </a:rPr>
              <a:t>)</a:t>
            </a:r>
          </a:p>
          <a:p>
            <a:pPr>
              <a:lnSpc>
                <a:spcPct val="90000"/>
              </a:lnSpc>
            </a:pPr>
            <a:r>
              <a:rPr lang="en-US" sz="3000" dirty="0" smtClean="0">
                <a:latin typeface="Gill Sans MT" panose="020B0502020104020203" pitchFamily="34" charset="0"/>
              </a:rPr>
              <a:t>- many </a:t>
            </a:r>
            <a:r>
              <a:rPr lang="en-US" sz="3000" dirty="0">
                <a:latin typeface="Gill Sans MT" panose="020B0502020104020203" pitchFamily="34" charset="0"/>
              </a:rPr>
              <a:t>accessible windows</a:t>
            </a:r>
          </a:p>
          <a:p>
            <a:pPr>
              <a:lnSpc>
                <a:spcPct val="90000"/>
              </a:lnSpc>
            </a:pPr>
            <a:endParaRPr lang="en-US" sz="3000" dirty="0" smtClean="0">
              <a:latin typeface="Gill Sans MT" panose="020B0502020104020203" pitchFamily="34" charset="0"/>
            </a:endParaRPr>
          </a:p>
          <a:p>
            <a:pPr>
              <a:lnSpc>
                <a:spcPct val="90000"/>
              </a:lnSpc>
            </a:pPr>
            <a:r>
              <a:rPr lang="en-US" sz="3000" dirty="0" smtClean="0">
                <a:latin typeface="Gill Sans MT" panose="020B0502020104020203" pitchFamily="34" charset="0"/>
              </a:rPr>
              <a:t>icons </a:t>
            </a:r>
            <a:r>
              <a:rPr lang="en-US" sz="3000" dirty="0">
                <a:latin typeface="Gill Sans MT" panose="020B0502020104020203" pitchFamily="34" charset="0"/>
              </a:rPr>
              <a:t>can be many and various</a:t>
            </a:r>
          </a:p>
          <a:p>
            <a:pPr>
              <a:lnSpc>
                <a:spcPct val="90000"/>
              </a:lnSpc>
            </a:pPr>
            <a:r>
              <a:rPr lang="en-US" sz="3000" dirty="0" smtClean="0">
                <a:latin typeface="Gill Sans MT" panose="020B0502020104020203" pitchFamily="34" charset="0"/>
              </a:rPr>
              <a:t>- highly </a:t>
            </a:r>
            <a:r>
              <a:rPr lang="en-US" sz="3000" dirty="0">
                <a:latin typeface="Gill Sans MT" panose="020B0502020104020203" pitchFamily="34" charset="0"/>
              </a:rPr>
              <a:t>stylized</a:t>
            </a:r>
          </a:p>
          <a:p>
            <a:pPr>
              <a:lnSpc>
                <a:spcPct val="90000"/>
              </a:lnSpc>
            </a:pPr>
            <a:r>
              <a:rPr lang="en-US" sz="3000" dirty="0" smtClean="0">
                <a:latin typeface="Gill Sans MT" panose="020B0502020104020203" pitchFamily="34" charset="0"/>
              </a:rPr>
              <a:t>- realistic </a:t>
            </a:r>
            <a:r>
              <a:rPr lang="en-US" sz="3000" dirty="0">
                <a:latin typeface="Gill Sans MT" panose="020B0502020104020203" pitchFamily="34" charset="0"/>
              </a:rPr>
              <a:t>representations.</a:t>
            </a: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b="1" dirty="0" smtClean="0">
              <a:solidFill>
                <a:srgbClr val="000000"/>
              </a:solidFill>
              <a:latin typeface="Gill Sans MT" pitchFamily="34" charset="0"/>
            </a:endParaRP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dirty="0" smtClean="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Icons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1778972269"/>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892480" cy="6001639"/>
          </a:xfrm>
          <a:prstGeom prst="rect">
            <a:avLst/>
          </a:prstGeom>
          <a:noFill/>
        </p:spPr>
        <p:txBody>
          <a:bodyPr wrap="square" lIns="359982" tIns="45718" rIns="91435" bIns="45718" rtlCol="0">
            <a:spAutoFit/>
          </a:bodyPr>
          <a:lstStyle/>
          <a:p>
            <a:pPr defTabSz="914353" eaLnBrk="1" fontAlgn="auto" hangingPunct="1">
              <a:lnSpc>
                <a:spcPct val="90000"/>
              </a:lnSpc>
              <a:spcBef>
                <a:spcPts val="600"/>
              </a:spcBef>
              <a:spcAft>
                <a:spcPts val="0"/>
              </a:spcAft>
            </a:pPr>
            <a:r>
              <a:rPr lang="en-US" sz="3000" dirty="0">
                <a:solidFill>
                  <a:srgbClr val="000000"/>
                </a:solidFill>
                <a:latin typeface="Gill Sans MT" pitchFamily="34" charset="0"/>
              </a:rPr>
              <a:t>With respect to textual representations</a:t>
            </a:r>
          </a:p>
          <a:p>
            <a:pPr marL="457200" indent="-457200" defTabSz="914353" eaLnBrk="1" fontAlgn="auto" hangingPunct="1">
              <a:lnSpc>
                <a:spcPct val="90000"/>
              </a:lnSpc>
              <a:spcBef>
                <a:spcPts val="600"/>
              </a:spcBef>
              <a:spcAft>
                <a:spcPts val="0"/>
              </a:spcAft>
              <a:buFont typeface="Arial" panose="020B0604020202020204" pitchFamily="34" charset="0"/>
              <a:buChar char="•"/>
            </a:pPr>
            <a:r>
              <a:rPr lang="en-US" sz="3000" dirty="0">
                <a:solidFill>
                  <a:srgbClr val="000000"/>
                </a:solidFill>
                <a:latin typeface="Gill Sans MT" pitchFamily="34" charset="0"/>
              </a:rPr>
              <a:t>allow a </a:t>
            </a:r>
            <a:r>
              <a:rPr lang="en-US" sz="3000" b="1" dirty="0">
                <a:solidFill>
                  <a:srgbClr val="000000"/>
                </a:solidFill>
                <a:latin typeface="Gill Sans MT" pitchFamily="34" charset="0"/>
              </a:rPr>
              <a:t>faster and more precise recognition</a:t>
            </a:r>
          </a:p>
          <a:p>
            <a:pPr marL="457200" indent="-457200" defTabSz="914353" eaLnBrk="1" fontAlgn="auto" hangingPunct="1">
              <a:lnSpc>
                <a:spcPct val="90000"/>
              </a:lnSpc>
              <a:spcBef>
                <a:spcPts val="600"/>
              </a:spcBef>
              <a:spcAft>
                <a:spcPts val="0"/>
              </a:spcAft>
              <a:buFont typeface="Arial" panose="020B0604020202020204" pitchFamily="34" charset="0"/>
              <a:buChar char="•"/>
            </a:pPr>
            <a:r>
              <a:rPr lang="en-US" sz="3000" dirty="0">
                <a:solidFill>
                  <a:srgbClr val="000000"/>
                </a:solidFill>
                <a:latin typeface="Gill Sans MT" pitchFamily="34" charset="0"/>
              </a:rPr>
              <a:t>require </a:t>
            </a:r>
            <a:r>
              <a:rPr lang="en-US" sz="3000" b="1" dirty="0">
                <a:solidFill>
                  <a:srgbClr val="000000"/>
                </a:solidFill>
                <a:latin typeface="Gill Sans MT" pitchFamily="34" charset="0"/>
              </a:rPr>
              <a:t>less space</a:t>
            </a:r>
          </a:p>
          <a:p>
            <a:pPr marL="457200" indent="-457200" defTabSz="914353" eaLnBrk="1" fontAlgn="auto" hangingPunct="1">
              <a:lnSpc>
                <a:spcPct val="90000"/>
              </a:lnSpc>
              <a:spcBef>
                <a:spcPts val="600"/>
              </a:spcBef>
              <a:spcAft>
                <a:spcPts val="0"/>
              </a:spcAft>
              <a:buFont typeface="Arial" panose="020B0604020202020204" pitchFamily="34" charset="0"/>
              <a:buChar char="•"/>
            </a:pPr>
            <a:r>
              <a:rPr lang="en-US" sz="3000" dirty="0">
                <a:solidFill>
                  <a:srgbClr val="000000"/>
                </a:solidFill>
                <a:latin typeface="Gill Sans MT" pitchFamily="34" charset="0"/>
              </a:rPr>
              <a:t>work (not always) with </a:t>
            </a:r>
            <a:r>
              <a:rPr lang="en-US" sz="3000" b="1" dirty="0">
                <a:solidFill>
                  <a:srgbClr val="000000"/>
                </a:solidFill>
                <a:latin typeface="Gill Sans MT" pitchFamily="34" charset="0"/>
              </a:rPr>
              <a:t>different languages </a:t>
            </a:r>
            <a:r>
              <a:rPr lang="en-US" sz="3000" b="1" dirty="0" smtClean="0">
                <a:solidFill>
                  <a:srgbClr val="000000"/>
                </a:solidFill>
                <a:latin typeface="Gill Sans MT" pitchFamily="34" charset="0"/>
              </a:rPr>
              <a:t/>
            </a:r>
            <a:br>
              <a:rPr lang="en-US" sz="3000" b="1" dirty="0" smtClean="0">
                <a:solidFill>
                  <a:srgbClr val="000000"/>
                </a:solidFill>
                <a:latin typeface="Gill Sans MT" pitchFamily="34" charset="0"/>
              </a:rPr>
            </a:br>
            <a:r>
              <a:rPr lang="en-US" sz="3000" dirty="0" smtClean="0">
                <a:solidFill>
                  <a:srgbClr val="000000"/>
                </a:solidFill>
                <a:latin typeface="Gill Sans MT" pitchFamily="34" charset="0"/>
              </a:rPr>
              <a:t>and </a:t>
            </a:r>
            <a:r>
              <a:rPr lang="en-US" sz="3000" dirty="0">
                <a:solidFill>
                  <a:srgbClr val="000000"/>
                </a:solidFill>
                <a:latin typeface="Gill Sans MT" pitchFamily="34" charset="0"/>
              </a:rPr>
              <a:t>cultures </a:t>
            </a:r>
            <a:br>
              <a:rPr lang="en-US" sz="3000" dirty="0">
                <a:solidFill>
                  <a:srgbClr val="000000"/>
                </a:solidFill>
                <a:latin typeface="Gill Sans MT" pitchFamily="34" charset="0"/>
              </a:rPr>
            </a:br>
            <a:endParaRPr lang="en-US" sz="3000" dirty="0">
              <a:solidFill>
                <a:srgbClr val="000000"/>
              </a:solidFill>
              <a:latin typeface="Gill Sans MT" pitchFamily="34" charset="0"/>
            </a:endParaRPr>
          </a:p>
          <a:p>
            <a:pPr defTabSz="914353" eaLnBrk="1" fontAlgn="auto" hangingPunct="1">
              <a:lnSpc>
                <a:spcPct val="90000"/>
              </a:lnSpc>
              <a:spcBef>
                <a:spcPts val="1800"/>
              </a:spcBef>
              <a:spcAft>
                <a:spcPts val="0"/>
              </a:spcAft>
            </a:pPr>
            <a:r>
              <a:rPr lang="en-US" sz="3000" dirty="0">
                <a:solidFill>
                  <a:srgbClr val="000000"/>
                </a:solidFill>
                <a:latin typeface="Gill Sans MT" pitchFamily="34" charset="0"/>
              </a:rPr>
              <a:t>.. but they need to be </a:t>
            </a:r>
            <a:br>
              <a:rPr lang="en-US" sz="3000" dirty="0">
                <a:solidFill>
                  <a:srgbClr val="000000"/>
                </a:solidFill>
                <a:latin typeface="Gill Sans MT" pitchFamily="34" charset="0"/>
              </a:rPr>
            </a:br>
            <a:r>
              <a:rPr lang="en-US" sz="3000" dirty="0">
                <a:solidFill>
                  <a:srgbClr val="000000"/>
                </a:solidFill>
                <a:latin typeface="Gill Sans MT" pitchFamily="34" charset="0"/>
              </a:rPr>
              <a:t>properly designed in order </a:t>
            </a:r>
            <a:br>
              <a:rPr lang="en-US" sz="3000" dirty="0">
                <a:solidFill>
                  <a:srgbClr val="000000"/>
                </a:solidFill>
                <a:latin typeface="Gill Sans MT" pitchFamily="34" charset="0"/>
              </a:rPr>
            </a:br>
            <a:r>
              <a:rPr lang="en-US" sz="3000" dirty="0">
                <a:solidFill>
                  <a:srgbClr val="000000"/>
                </a:solidFill>
                <a:latin typeface="Gill Sans MT" pitchFamily="34" charset="0"/>
              </a:rPr>
              <a:t>not to confuse the user</a:t>
            </a: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dirty="0" smtClean="0">
              <a:solidFill>
                <a:srgbClr val="000000"/>
              </a:solidFill>
              <a:latin typeface="Gill Sans MT" pitchFamily="34" charset="0"/>
            </a:endParaRPr>
          </a:p>
          <a:p>
            <a:pPr defTabSz="914353" eaLnBrk="1" fontAlgn="auto" hangingPunct="1">
              <a:lnSpc>
                <a:spcPct val="90000"/>
              </a:lnSpc>
              <a:spcBef>
                <a:spcPts val="1800"/>
              </a:spcBef>
              <a:spcAft>
                <a:spcPts val="0"/>
              </a:spcAft>
            </a:pPr>
            <a:endParaRPr lang="en-US" sz="3000" dirty="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Icons advantages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7" name="Picture 4"/>
          <p:cNvPicPr>
            <a:picLocks noChangeAspect="1" noChangeArrowheads="1"/>
          </p:cNvPicPr>
          <p:nvPr/>
        </p:nvPicPr>
        <p:blipFill>
          <a:blip r:embed="rId3"/>
          <a:srcRect/>
          <a:stretch>
            <a:fillRect/>
          </a:stretch>
        </p:blipFill>
        <p:spPr bwMode="auto">
          <a:xfrm>
            <a:off x="5504608" y="4564816"/>
            <a:ext cx="2639292" cy="1293076"/>
          </a:xfrm>
          <a:prstGeom prst="rect">
            <a:avLst/>
          </a:prstGeom>
          <a:noFill/>
          <a:ln w="9525">
            <a:noFill/>
            <a:miter lim="800000"/>
            <a:headEnd/>
            <a:tailEnd/>
          </a:ln>
          <a:effectLst/>
        </p:spPr>
      </p:pic>
    </p:spTree>
    <p:extLst>
      <p:ext uri="{BB962C8B-B14F-4D97-AF65-F5344CB8AC3E}">
        <p14:creationId xmlns:p14="http://schemas.microsoft.com/office/powerpoint/2010/main" val="4440986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5076056" cy="5124476"/>
          </a:xfrm>
          <a:prstGeom prst="rect">
            <a:avLst/>
          </a:prstGeom>
          <a:noFill/>
        </p:spPr>
        <p:txBody>
          <a:bodyPr wrap="square" lIns="359982" tIns="45718" rIns="91435" bIns="45718" rtlCol="0">
            <a:spAutoFit/>
          </a:bodyPr>
          <a:lstStyle/>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b="1" dirty="0">
                <a:solidFill>
                  <a:srgbClr val="000000"/>
                </a:solidFill>
                <a:latin typeface="Gill Sans MT" pitchFamily="34" charset="0"/>
              </a:rPr>
              <a:t>quick and accurate recognition </a:t>
            </a:r>
            <a:r>
              <a:rPr lang="en-US" sz="3000" dirty="0">
                <a:solidFill>
                  <a:srgbClr val="000000"/>
                </a:solidFill>
                <a:latin typeface="Gill Sans MT" pitchFamily="34" charset="0"/>
              </a:rPr>
              <a:t>of a message is necessary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a:t>
            </a:r>
            <a:r>
              <a:rPr lang="en-US" sz="3000" dirty="0">
                <a:solidFill>
                  <a:srgbClr val="000000"/>
                </a:solidFill>
                <a:latin typeface="Gill Sans MT" pitchFamily="34" charset="0"/>
              </a:rPr>
              <a:t>e.g., warnings).</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dirty="0">
                <a:solidFill>
                  <a:srgbClr val="000000"/>
                </a:solidFill>
                <a:latin typeface="Gill Sans MT" pitchFamily="34" charset="0"/>
              </a:rPr>
              <a:t>displaying </a:t>
            </a:r>
            <a:r>
              <a:rPr lang="en-US" sz="3000" b="1" dirty="0">
                <a:solidFill>
                  <a:srgbClr val="000000"/>
                </a:solidFill>
                <a:latin typeface="Gill Sans MT" pitchFamily="34" charset="0"/>
              </a:rPr>
              <a:t>visual or spatial concepts</a:t>
            </a:r>
            <a:r>
              <a:rPr lang="en-US" sz="3000" dirty="0">
                <a:solidFill>
                  <a:srgbClr val="000000"/>
                </a:solidFill>
                <a:latin typeface="Gill Sans MT" pitchFamily="34" charset="0"/>
              </a:rPr>
              <a:t>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a:t>
            </a:r>
            <a:r>
              <a:rPr lang="en-US" sz="3000" dirty="0">
                <a:solidFill>
                  <a:srgbClr val="000000"/>
                </a:solidFill>
                <a:latin typeface="Gill Sans MT" pitchFamily="34" charset="0"/>
              </a:rPr>
              <a:t>e.g., augmented signage).</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dirty="0">
                <a:solidFill>
                  <a:srgbClr val="000000"/>
                </a:solidFill>
                <a:latin typeface="Gill Sans MT" pitchFamily="34" charset="0"/>
              </a:rPr>
              <a:t>the user (e.g. a driver) will be performing a </a:t>
            </a:r>
            <a:r>
              <a:rPr lang="en-US" sz="3000" b="1" dirty="0">
                <a:solidFill>
                  <a:srgbClr val="000000"/>
                </a:solidFill>
                <a:latin typeface="Gill Sans MT" pitchFamily="34" charset="0"/>
              </a:rPr>
              <a:t>visual search of alternatives</a:t>
            </a:r>
            <a:r>
              <a:rPr lang="en-US" sz="3000" dirty="0" smtClean="0">
                <a:solidFill>
                  <a:srgbClr val="000000"/>
                </a:solidFill>
                <a:latin typeface="Gill Sans MT" pitchFamily="34" charset="0"/>
              </a:rPr>
              <a:t>.</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i="1" dirty="0" smtClean="0">
                <a:solidFill>
                  <a:schemeClr val="bg1">
                    <a:lumMod val="65000"/>
                  </a:schemeClr>
                </a:solidFill>
                <a:latin typeface="Gill Sans MT" pitchFamily="34" charset="0"/>
              </a:rPr>
              <a:t>continues…</a:t>
            </a:r>
            <a:endParaRPr lang="en-US" sz="3000" i="1" dirty="0">
              <a:solidFill>
                <a:schemeClr val="bg1">
                  <a:lumMod val="65000"/>
                </a:schemeClr>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Use icons when..</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5" name="Picture 2"/>
          <p:cNvPicPr>
            <a:picLocks noChangeAspect="1" noChangeArrowheads="1"/>
          </p:cNvPicPr>
          <p:nvPr/>
        </p:nvPicPr>
        <p:blipFill>
          <a:blip r:embed="rId3"/>
          <a:srcRect/>
          <a:stretch>
            <a:fillRect/>
          </a:stretch>
        </p:blipFill>
        <p:spPr bwMode="auto">
          <a:xfrm>
            <a:off x="5349336" y="1643050"/>
            <a:ext cx="3736979" cy="5187963"/>
          </a:xfrm>
          <a:prstGeom prst="rect">
            <a:avLst/>
          </a:prstGeom>
          <a:noFill/>
          <a:ln w="9525">
            <a:noFill/>
            <a:miter lim="800000"/>
            <a:headEnd/>
            <a:tailEnd/>
          </a:ln>
          <a:effectLst/>
        </p:spPr>
      </p:pic>
      <p:sp>
        <p:nvSpPr>
          <p:cNvPr id="8" name="CasellaDiTesto 7"/>
          <p:cNvSpPr txBox="1"/>
          <p:nvPr/>
        </p:nvSpPr>
        <p:spPr>
          <a:xfrm>
            <a:off x="6215074" y="1500174"/>
            <a:ext cx="2643206" cy="461665"/>
          </a:xfrm>
          <a:prstGeom prst="rect">
            <a:avLst/>
          </a:prstGeom>
          <a:noFill/>
        </p:spPr>
        <p:txBody>
          <a:bodyPr wrap="square" rtlCol="0">
            <a:spAutoFit/>
          </a:bodyPr>
          <a:lstStyle/>
          <a:p>
            <a:pPr eaLnBrk="1" hangingPunct="1">
              <a:spcBef>
                <a:spcPts val="500"/>
              </a:spcBef>
              <a:spcAft>
                <a:spcPts val="500"/>
              </a:spcAft>
              <a:buClr>
                <a:srgbClr val="3333CC"/>
              </a:buClr>
              <a:buSzPct val="60000"/>
              <a:buFont typeface="Wingdings" pitchFamily="2" charset="2"/>
              <a:buNone/>
            </a:pPr>
            <a:r>
              <a:rPr lang="it-IT" sz="2400" b="1" dirty="0" smtClean="0">
                <a:solidFill>
                  <a:srgbClr val="000000"/>
                </a:solidFill>
                <a:latin typeface="Tahoma" pitchFamily="34" charset="0"/>
              </a:rPr>
              <a:t>YES             NO</a:t>
            </a:r>
            <a:endParaRPr lang="it-IT" sz="2400" b="1" dirty="0">
              <a:solidFill>
                <a:srgbClr val="000000"/>
              </a:solidFill>
              <a:latin typeface="Tahoma" pitchFamily="34" charset="0"/>
            </a:endParaRPr>
          </a:p>
        </p:txBody>
      </p:sp>
    </p:spTree>
    <p:extLst>
      <p:ext uri="{BB962C8B-B14F-4D97-AF65-F5344CB8AC3E}">
        <p14:creationId xmlns:p14="http://schemas.microsoft.com/office/powerpoint/2010/main" val="349501806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820472" cy="2739207"/>
          </a:xfrm>
          <a:prstGeom prst="rect">
            <a:avLst/>
          </a:prstGeom>
          <a:noFill/>
        </p:spPr>
        <p:txBody>
          <a:bodyPr wrap="square" lIns="359982" tIns="45718" rIns="91435" bIns="45718" rtlCol="0">
            <a:spAutoFit/>
          </a:bodyPr>
          <a:lstStyle/>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dirty="0">
                <a:solidFill>
                  <a:srgbClr val="000000"/>
                </a:solidFill>
                <a:latin typeface="Gill Sans MT" pitchFamily="34" charset="0"/>
              </a:rPr>
              <a:t>one </a:t>
            </a:r>
            <a:r>
              <a:rPr lang="en-US" sz="3000" b="1" dirty="0">
                <a:solidFill>
                  <a:srgbClr val="000000"/>
                </a:solidFill>
                <a:latin typeface="Gill Sans MT" pitchFamily="34" charset="0"/>
              </a:rPr>
              <a:t>already exists </a:t>
            </a:r>
            <a:r>
              <a:rPr lang="en-US" sz="3000" b="1" dirty="0" smtClean="0">
                <a:solidFill>
                  <a:srgbClr val="000000"/>
                </a:solidFill>
                <a:latin typeface="Gill Sans MT" pitchFamily="34" charset="0"/>
              </a:rPr>
              <a:t/>
            </a:r>
            <a:br>
              <a:rPr lang="en-US" sz="3000" b="1" dirty="0" smtClean="0">
                <a:solidFill>
                  <a:srgbClr val="000000"/>
                </a:solidFill>
                <a:latin typeface="Gill Sans MT" pitchFamily="34" charset="0"/>
              </a:rPr>
            </a:br>
            <a:r>
              <a:rPr lang="en-US" sz="3000" dirty="0" smtClean="0">
                <a:solidFill>
                  <a:srgbClr val="000000"/>
                </a:solidFill>
                <a:latin typeface="Gill Sans MT" pitchFamily="34" charset="0"/>
              </a:rPr>
              <a:t>and </a:t>
            </a:r>
            <a:r>
              <a:rPr lang="en-US" sz="3000" dirty="0">
                <a:solidFill>
                  <a:srgbClr val="000000"/>
                </a:solidFill>
                <a:latin typeface="Gill Sans MT" pitchFamily="34" charset="0"/>
              </a:rPr>
              <a:t>has a generally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b="1" dirty="0" smtClean="0">
                <a:solidFill>
                  <a:srgbClr val="000000"/>
                </a:solidFill>
                <a:latin typeface="Gill Sans MT" pitchFamily="34" charset="0"/>
              </a:rPr>
              <a:t>accepted </a:t>
            </a:r>
            <a:r>
              <a:rPr lang="en-US" sz="3000" b="1" dirty="0">
                <a:solidFill>
                  <a:srgbClr val="000000"/>
                </a:solidFill>
                <a:latin typeface="Gill Sans MT" pitchFamily="34" charset="0"/>
              </a:rPr>
              <a:t>meaning.</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dirty="0">
                <a:solidFill>
                  <a:srgbClr val="000000"/>
                </a:solidFill>
                <a:latin typeface="Gill Sans MT" pitchFamily="34" charset="0"/>
              </a:rPr>
              <a:t>the </a:t>
            </a:r>
            <a:r>
              <a:rPr lang="en-US" sz="3000" b="1" dirty="0">
                <a:solidFill>
                  <a:srgbClr val="000000"/>
                </a:solidFill>
                <a:latin typeface="Gill Sans MT" pitchFamily="34" charset="0"/>
              </a:rPr>
              <a:t>amount of space </a:t>
            </a:r>
            <a:r>
              <a:rPr lang="en-US" sz="3000" dirty="0">
                <a:solidFill>
                  <a:srgbClr val="000000"/>
                </a:solidFill>
                <a:latin typeface="Gill Sans MT" pitchFamily="34" charset="0"/>
              </a:rPr>
              <a:t>on the display </a:t>
            </a:r>
            <a:r>
              <a:rPr lang="en-US" sz="3000" b="1" dirty="0">
                <a:solidFill>
                  <a:srgbClr val="000000"/>
                </a:solidFill>
                <a:latin typeface="Gill Sans MT" pitchFamily="34" charset="0"/>
              </a:rPr>
              <a:t>is limited </a:t>
            </a:r>
            <a:r>
              <a:rPr lang="en-US" sz="3000" dirty="0">
                <a:solidFill>
                  <a:srgbClr val="000000"/>
                </a:solidFill>
                <a:latin typeface="Gill Sans MT" pitchFamily="34" charset="0"/>
              </a:rPr>
              <a:t>and presenting the information textually will take up more space than is available.</a:t>
            </a: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Use icons when..</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7" name="Picture 2"/>
          <p:cNvPicPr>
            <a:picLocks noChangeAspect="1" noChangeArrowheads="1"/>
          </p:cNvPicPr>
          <p:nvPr/>
        </p:nvPicPr>
        <p:blipFill>
          <a:blip r:embed="rId3"/>
          <a:srcRect/>
          <a:stretch>
            <a:fillRect/>
          </a:stretch>
        </p:blipFill>
        <p:spPr bwMode="auto">
          <a:xfrm>
            <a:off x="5148064" y="1428736"/>
            <a:ext cx="1170368" cy="1170368"/>
          </a:xfrm>
          <a:prstGeom prst="rect">
            <a:avLst/>
          </a:prstGeom>
          <a:noFill/>
          <a:ln w="9525">
            <a:noFill/>
            <a:miter lim="800000"/>
            <a:headEnd/>
            <a:tailEnd/>
          </a:ln>
          <a:effectLst/>
        </p:spPr>
      </p:pic>
      <p:pic>
        <p:nvPicPr>
          <p:cNvPr id="9" name="Picture 3"/>
          <p:cNvPicPr>
            <a:picLocks noChangeAspect="1" noChangeArrowheads="1"/>
          </p:cNvPicPr>
          <p:nvPr/>
        </p:nvPicPr>
        <p:blipFill>
          <a:blip r:embed="rId4"/>
          <a:srcRect/>
          <a:stretch>
            <a:fillRect/>
          </a:stretch>
        </p:blipFill>
        <p:spPr bwMode="auto">
          <a:xfrm>
            <a:off x="467544" y="4167943"/>
            <a:ext cx="7572428" cy="2015982"/>
          </a:xfrm>
          <a:prstGeom prst="rect">
            <a:avLst/>
          </a:prstGeom>
          <a:noFill/>
          <a:ln w="9525">
            <a:noFill/>
            <a:miter lim="800000"/>
            <a:headEnd/>
            <a:tailEnd/>
          </a:ln>
          <a:effectLst/>
        </p:spPr>
      </p:pic>
    </p:spTree>
    <p:extLst>
      <p:ext uri="{BB962C8B-B14F-4D97-AF65-F5344CB8AC3E}">
        <p14:creationId xmlns:p14="http://schemas.microsoft.com/office/powerpoint/2010/main" val="379139706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2"/>
          <p:cNvPicPr>
            <a:picLocks noChangeAspect="1" noChangeArrowheads="1"/>
          </p:cNvPicPr>
          <p:nvPr/>
        </p:nvPicPr>
        <p:blipFill>
          <a:blip r:embed="rId3" cstate="print"/>
          <a:srcRect/>
          <a:stretch>
            <a:fillRect/>
          </a:stretch>
        </p:blipFill>
        <p:spPr bwMode="auto">
          <a:xfrm>
            <a:off x="8034121" y="5085184"/>
            <a:ext cx="968140" cy="960879"/>
          </a:xfrm>
          <a:prstGeom prst="rect">
            <a:avLst/>
          </a:prstGeom>
          <a:noFill/>
          <a:ln w="9525">
            <a:noFill/>
            <a:miter lim="800000"/>
            <a:headEnd/>
            <a:tailEnd/>
          </a:ln>
          <a:effectLst/>
        </p:spPr>
      </p:pic>
      <p:sp>
        <p:nvSpPr>
          <p:cNvPr id="3" name="CasellaDiTesto 2"/>
          <p:cNvSpPr txBox="1"/>
          <p:nvPr/>
        </p:nvSpPr>
        <p:spPr>
          <a:xfrm>
            <a:off x="0" y="1428736"/>
            <a:ext cx="8414770" cy="5386086"/>
          </a:xfrm>
          <a:prstGeom prst="rect">
            <a:avLst/>
          </a:prstGeom>
          <a:noFill/>
        </p:spPr>
        <p:txBody>
          <a:bodyPr wrap="square" lIns="359982" tIns="45718" rIns="91435" bIns="45718" rtlCol="0">
            <a:spAutoFit/>
          </a:bodyPr>
          <a:lstStyle/>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b="1" dirty="0">
                <a:solidFill>
                  <a:srgbClr val="000000"/>
                </a:solidFill>
                <a:latin typeface="Gill Sans MT" pitchFamily="34" charset="0"/>
              </a:rPr>
              <a:t>Image-related</a:t>
            </a:r>
            <a:r>
              <a:rPr lang="en-US" sz="3000" dirty="0">
                <a:solidFill>
                  <a:srgbClr val="000000"/>
                </a:solidFill>
                <a:latin typeface="Gill Sans MT" pitchFamily="34" charset="0"/>
              </a:rPr>
              <a:t>: highly pictorial representations of the object or act they represent (directly comprehended, </a:t>
            </a:r>
            <a:r>
              <a:rPr lang="en-US" sz="3000" dirty="0">
                <a:solidFill>
                  <a:srgbClr val="C00000"/>
                </a:solidFill>
                <a:latin typeface="Gill Sans MT" pitchFamily="34" charset="0"/>
              </a:rPr>
              <a:t>use wherever possible</a:t>
            </a:r>
            <a:r>
              <a:rPr lang="en-US" sz="3000" dirty="0">
                <a:solidFill>
                  <a:srgbClr val="000000"/>
                </a:solidFill>
                <a:latin typeface="Gill Sans MT" pitchFamily="34" charset="0"/>
              </a:rPr>
              <a:t>)</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b="1" dirty="0">
                <a:solidFill>
                  <a:srgbClr val="000000"/>
                </a:solidFill>
                <a:latin typeface="Gill Sans MT" pitchFamily="34" charset="0"/>
              </a:rPr>
              <a:t>Concept-related</a:t>
            </a:r>
            <a:r>
              <a:rPr lang="en-US" sz="3000" dirty="0">
                <a:solidFill>
                  <a:srgbClr val="000000"/>
                </a:solidFill>
                <a:latin typeface="Gill Sans MT" pitchFamily="34" charset="0"/>
              </a:rPr>
              <a:t>: are based on an example or property of a real object or action (use if the user can be expected to comprehend the context in which the icon is presented)</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3000" b="1" dirty="0">
                <a:solidFill>
                  <a:srgbClr val="000000"/>
                </a:solidFill>
                <a:latin typeface="Gill Sans MT" pitchFamily="34" charset="0"/>
              </a:rPr>
              <a:t>Arbitrary</a:t>
            </a:r>
            <a:r>
              <a:rPr lang="en-US" sz="3000" dirty="0">
                <a:solidFill>
                  <a:srgbClr val="000000"/>
                </a:solidFill>
                <a:latin typeface="Gill Sans MT" pitchFamily="34" charset="0"/>
              </a:rPr>
              <a:t>: become meaningful only through convention and education (can be difficult to recognize, hard to learn, and hard to remember). They should only be used if both context and special knowledge are present.</a:t>
            </a: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Types of visual icons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10" name="Picture 20"/>
          <p:cNvPicPr>
            <a:picLocks noChangeAspect="1" noChangeArrowheads="1"/>
          </p:cNvPicPr>
          <p:nvPr/>
        </p:nvPicPr>
        <p:blipFill>
          <a:blip r:embed="rId4"/>
          <a:srcRect/>
          <a:stretch>
            <a:fillRect/>
          </a:stretch>
        </p:blipFill>
        <p:spPr bwMode="auto">
          <a:xfrm>
            <a:off x="8375198" y="1628800"/>
            <a:ext cx="627063" cy="990760"/>
          </a:xfrm>
          <a:prstGeom prst="rect">
            <a:avLst/>
          </a:prstGeom>
          <a:noFill/>
          <a:ln w="9525">
            <a:noFill/>
            <a:miter lim="800000"/>
            <a:headEnd/>
            <a:tailEnd/>
          </a:ln>
          <a:effectLst/>
        </p:spPr>
      </p:pic>
      <p:pic>
        <p:nvPicPr>
          <p:cNvPr id="11" name="Picture 21"/>
          <p:cNvPicPr>
            <a:picLocks noChangeAspect="1" noChangeArrowheads="1"/>
          </p:cNvPicPr>
          <p:nvPr/>
        </p:nvPicPr>
        <p:blipFill>
          <a:blip r:embed="rId5"/>
          <a:srcRect/>
          <a:stretch>
            <a:fillRect/>
          </a:stretch>
        </p:blipFill>
        <p:spPr bwMode="auto">
          <a:xfrm>
            <a:off x="8229600" y="3042672"/>
            <a:ext cx="914400" cy="825500"/>
          </a:xfrm>
          <a:prstGeom prst="rect">
            <a:avLst/>
          </a:prstGeom>
          <a:noFill/>
          <a:ln w="9525">
            <a:noFill/>
            <a:miter lim="800000"/>
            <a:headEnd/>
            <a:tailEnd/>
          </a:ln>
          <a:effectLst/>
        </p:spPr>
      </p:pic>
    </p:spTree>
    <p:extLst>
      <p:ext uri="{BB962C8B-B14F-4D97-AF65-F5344CB8AC3E}">
        <p14:creationId xmlns:p14="http://schemas.microsoft.com/office/powerpoint/2010/main" val="209107696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414770" cy="4542778"/>
          </a:xfrm>
          <a:prstGeom prst="rect">
            <a:avLst/>
          </a:prstGeom>
          <a:noFill/>
        </p:spPr>
        <p:txBody>
          <a:bodyPr wrap="square" lIns="359982" tIns="45718" rIns="91435" bIns="45718" rtlCol="0">
            <a:spAutoFit/>
          </a:bodyPr>
          <a:lstStyle/>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dirty="0">
                <a:solidFill>
                  <a:srgbClr val="000000"/>
                </a:solidFill>
                <a:latin typeface="Gill Sans MT" pitchFamily="34" charset="0"/>
              </a:rPr>
              <a:t>For great-looking icons, have a </a:t>
            </a:r>
            <a:r>
              <a:rPr lang="en-US" sz="2400" b="1" dirty="0">
                <a:solidFill>
                  <a:srgbClr val="000000"/>
                </a:solidFill>
                <a:latin typeface="Gill Sans MT" pitchFamily="34" charset="0"/>
              </a:rPr>
              <a:t>professional graphic designer </a:t>
            </a:r>
            <a:r>
              <a:rPr lang="en-US" sz="2400" dirty="0">
                <a:solidFill>
                  <a:srgbClr val="000000"/>
                </a:solidFill>
                <a:latin typeface="Gill Sans MT" pitchFamily="34" charset="0"/>
              </a:rPr>
              <a:t>create them.</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b="1" dirty="0">
                <a:solidFill>
                  <a:srgbClr val="000000"/>
                </a:solidFill>
                <a:latin typeface="Gill Sans MT" pitchFamily="34" charset="0"/>
              </a:rPr>
              <a:t>Perspective and shadows</a:t>
            </a:r>
            <a:r>
              <a:rPr lang="en-US" sz="2400" dirty="0">
                <a:solidFill>
                  <a:srgbClr val="000000"/>
                </a:solidFill>
                <a:latin typeface="Gill Sans MT" pitchFamily="34" charset="0"/>
              </a:rPr>
              <a:t> are the most important components of making good icons. Use a single light source with the light coming from above the icon.</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dirty="0">
                <a:solidFill>
                  <a:srgbClr val="000000"/>
                </a:solidFill>
                <a:latin typeface="Gill Sans MT" pitchFamily="34" charset="0"/>
              </a:rPr>
              <a:t>Use universal imagery that people will </a:t>
            </a:r>
            <a:r>
              <a:rPr lang="en-US" sz="2400" b="1" dirty="0">
                <a:solidFill>
                  <a:srgbClr val="000000"/>
                </a:solidFill>
                <a:latin typeface="Gill Sans MT" pitchFamily="34" charset="0"/>
              </a:rPr>
              <a:t>easily recognize</a:t>
            </a:r>
            <a:r>
              <a:rPr lang="en-US" sz="2400" dirty="0">
                <a:solidFill>
                  <a:srgbClr val="000000"/>
                </a:solidFill>
                <a:latin typeface="Gill Sans MT" pitchFamily="34" charset="0"/>
              </a:rPr>
              <a:t>. Avoid focusing on a secondary aspect of an element. For example, for a mail icon, a rural mailbox would be less recognizable than a postage stamp.</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dirty="0">
                <a:solidFill>
                  <a:srgbClr val="000000"/>
                </a:solidFill>
                <a:latin typeface="Gill Sans MT" pitchFamily="34" charset="0"/>
              </a:rPr>
              <a:t>Strive for simplicity. Try to use a </a:t>
            </a:r>
            <a:r>
              <a:rPr lang="en-US" sz="2400" b="1" dirty="0">
                <a:solidFill>
                  <a:srgbClr val="000000"/>
                </a:solidFill>
                <a:latin typeface="Gill Sans MT" pitchFamily="34" charset="0"/>
              </a:rPr>
              <a:t>single object </a:t>
            </a:r>
            <a:r>
              <a:rPr lang="en-US" sz="2400" dirty="0">
                <a:solidFill>
                  <a:srgbClr val="000000"/>
                </a:solidFill>
                <a:latin typeface="Gill Sans MT" pitchFamily="34" charset="0"/>
              </a:rPr>
              <a:t>that captures the icon’s action or represents the control. Start with a </a:t>
            </a:r>
            <a:r>
              <a:rPr lang="en-US" sz="2400" b="1" dirty="0">
                <a:solidFill>
                  <a:srgbClr val="000000"/>
                </a:solidFill>
                <a:latin typeface="Gill Sans MT" pitchFamily="34" charset="0"/>
              </a:rPr>
              <a:t>basic shape</a:t>
            </a:r>
            <a:r>
              <a:rPr lang="en-US" sz="2400" dirty="0" smtClean="0">
                <a:solidFill>
                  <a:srgbClr val="000000"/>
                </a:solidFill>
                <a:latin typeface="Gill Sans MT" pitchFamily="34" charset="0"/>
              </a:rPr>
              <a:t>.</a:t>
            </a:r>
            <a:endParaRPr lang="en-US" sz="2400" dirty="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Tips for designing icons </a:t>
            </a:r>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1/2 </a:t>
            </a:r>
            <a:r>
              <a:rPr lang="en-US" sz="18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Apple Human Interface Guidelines</a:t>
            </a:r>
            <a:endParaRPr lang="en-US" sz="18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502139365"/>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414770" cy="3724092"/>
          </a:xfrm>
          <a:prstGeom prst="rect">
            <a:avLst/>
          </a:prstGeom>
          <a:noFill/>
        </p:spPr>
        <p:txBody>
          <a:bodyPr wrap="square" lIns="359982" tIns="45718" rIns="91435" bIns="45718" rtlCol="0">
            <a:spAutoFit/>
          </a:bodyPr>
          <a:lstStyle/>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dirty="0">
                <a:solidFill>
                  <a:srgbClr val="000000"/>
                </a:solidFill>
                <a:latin typeface="Gill Sans MT" pitchFamily="34" charset="0"/>
              </a:rPr>
              <a:t>Use </a:t>
            </a:r>
            <a:r>
              <a:rPr lang="en-US" sz="2400" b="1" dirty="0">
                <a:solidFill>
                  <a:srgbClr val="000000"/>
                </a:solidFill>
                <a:latin typeface="Gill Sans MT" pitchFamily="34" charset="0"/>
              </a:rPr>
              <a:t>color judiciously </a:t>
            </a:r>
            <a:r>
              <a:rPr lang="en-US" sz="2400" dirty="0">
                <a:solidFill>
                  <a:srgbClr val="000000"/>
                </a:solidFill>
                <a:latin typeface="Gill Sans MT" pitchFamily="34" charset="0"/>
              </a:rPr>
              <a:t>to help the icon tell its story; don’t add color just to make the icon more colorful. Smooth gradients typically work better than sharp delineations of color.</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b="1" dirty="0">
                <a:solidFill>
                  <a:srgbClr val="000000"/>
                </a:solidFill>
                <a:latin typeface="Gill Sans MT" pitchFamily="34" charset="0"/>
              </a:rPr>
              <a:t>Don’t use replicas </a:t>
            </a:r>
            <a:r>
              <a:rPr lang="en-US" sz="2400" dirty="0">
                <a:solidFill>
                  <a:srgbClr val="000000"/>
                </a:solidFill>
                <a:latin typeface="Gill Sans MT" pitchFamily="34" charset="0"/>
              </a:rPr>
              <a:t>of Apple hardware products in your icons. These symbols are copyrighted, and hardware designs change frequently.</a:t>
            </a:r>
          </a:p>
          <a:p>
            <a:pPr marL="457200" indent="-457200" defTabSz="914353" eaLnBrk="1" fontAlgn="auto" hangingPunct="1">
              <a:lnSpc>
                <a:spcPct val="90000"/>
              </a:lnSpc>
              <a:spcBef>
                <a:spcPts val="1200"/>
              </a:spcBef>
              <a:spcAft>
                <a:spcPts val="0"/>
              </a:spcAft>
              <a:buFont typeface="Arial" panose="020B0604020202020204" pitchFamily="34" charset="0"/>
              <a:buChar char="•"/>
            </a:pPr>
            <a:r>
              <a:rPr lang="en-US" sz="2400" b="1" dirty="0">
                <a:solidFill>
                  <a:srgbClr val="000000"/>
                </a:solidFill>
                <a:latin typeface="Gill Sans MT" pitchFamily="34" charset="0"/>
              </a:rPr>
              <a:t>Don’t reuse </a:t>
            </a:r>
            <a:r>
              <a:rPr lang="en-US" sz="2400" dirty="0">
                <a:solidFill>
                  <a:srgbClr val="000000"/>
                </a:solidFill>
                <a:latin typeface="Gill Sans MT" pitchFamily="34" charset="0"/>
              </a:rPr>
              <a:t>Mac OS X </a:t>
            </a:r>
            <a:r>
              <a:rPr lang="en-US" sz="2400" b="1" dirty="0">
                <a:solidFill>
                  <a:srgbClr val="000000"/>
                </a:solidFill>
                <a:latin typeface="Gill Sans MT" pitchFamily="34" charset="0"/>
              </a:rPr>
              <a:t>system icons </a:t>
            </a:r>
            <a:r>
              <a:rPr lang="en-US" sz="2400" dirty="0">
                <a:solidFill>
                  <a:srgbClr val="000000"/>
                </a:solidFill>
                <a:latin typeface="Gill Sans MT" pitchFamily="34" charset="0"/>
              </a:rPr>
              <a:t>in your interface; it can be confusing to users to see the same icon used to mean slightly different things in multiple locations.</a:t>
            </a: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Tips for designing icons </a:t>
            </a:r>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2/2 </a:t>
            </a:r>
            <a:r>
              <a:rPr lang="en-US" sz="18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Apple Human Interface Guidelines</a:t>
            </a:r>
            <a:endParaRPr lang="en-US" sz="18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3656919582"/>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9144000" cy="3877981"/>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Important component</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(WIMP </a:t>
            </a:r>
            <a:r>
              <a:rPr lang="en-US" sz="3000" dirty="0">
                <a:solidFill>
                  <a:srgbClr val="000000"/>
                </a:solidFill>
                <a:latin typeface="Gill Sans MT" pitchFamily="34" charset="0"/>
              </a:rPr>
              <a:t>style relies on pointing and selecting </a:t>
            </a:r>
            <a:r>
              <a:rPr lang="en-US" sz="3000" dirty="0" smtClean="0">
                <a:solidFill>
                  <a:srgbClr val="000000"/>
                </a:solidFill>
                <a:latin typeface="Gill Sans MT" pitchFamily="34" charset="0"/>
              </a:rPr>
              <a:t>things)</a:t>
            </a:r>
            <a:endParaRPr lang="en-US" sz="3000" dirty="0">
              <a:solidFill>
                <a:srgbClr val="000000"/>
              </a:solidFill>
              <a:latin typeface="Gill Sans MT" pitchFamily="34" charset="0"/>
            </a:endParaRP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Use </a:t>
            </a:r>
            <a:r>
              <a:rPr lang="en-US" sz="3000" dirty="0">
                <a:solidFill>
                  <a:srgbClr val="000000"/>
                </a:solidFill>
                <a:latin typeface="Gill Sans MT" pitchFamily="34" charset="0"/>
              </a:rPr>
              <a:t>mouse, trackpad, joystick, trackball, cursor keys or keyboard shortcuts</a:t>
            </a:r>
          </a:p>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Wide </a:t>
            </a:r>
            <a:r>
              <a:rPr lang="en-US" sz="3000" dirty="0">
                <a:solidFill>
                  <a:srgbClr val="000000"/>
                </a:solidFill>
                <a:latin typeface="Gill Sans MT" pitchFamily="34" charset="0"/>
              </a:rPr>
              <a:t>variety of graphical </a:t>
            </a:r>
            <a:r>
              <a:rPr lang="en-US" sz="3000" dirty="0" smtClean="0">
                <a:solidFill>
                  <a:srgbClr val="000000"/>
                </a:solidFill>
                <a:latin typeface="Gill Sans MT" pitchFamily="34" charset="0"/>
              </a:rPr>
              <a:t>images to</a:t>
            </a:r>
            <a:br>
              <a:rPr lang="en-US" sz="3000" dirty="0" smtClean="0">
                <a:solidFill>
                  <a:srgbClr val="000000"/>
                </a:solidFill>
                <a:latin typeface="Gill Sans MT" pitchFamily="34" charset="0"/>
              </a:rPr>
            </a:br>
            <a:r>
              <a:rPr lang="en-US" sz="3000" dirty="0">
                <a:solidFill>
                  <a:srgbClr val="000000"/>
                </a:solidFill>
                <a:latin typeface="Gill Sans MT" pitchFamily="34" charset="0"/>
              </a:rPr>
              <a:t>- </a:t>
            </a:r>
            <a:r>
              <a:rPr lang="en-US" sz="3000" b="1" dirty="0">
                <a:solidFill>
                  <a:srgbClr val="000000"/>
                </a:solidFill>
                <a:latin typeface="Gill Sans MT" pitchFamily="34" charset="0"/>
              </a:rPr>
              <a:t>distinguish</a:t>
            </a:r>
            <a:r>
              <a:rPr lang="en-US" sz="3000" dirty="0">
                <a:solidFill>
                  <a:srgbClr val="000000"/>
                </a:solidFill>
                <a:latin typeface="Gill Sans MT" pitchFamily="34" charset="0"/>
              </a:rPr>
              <a:t> different </a:t>
            </a:r>
            <a:r>
              <a:rPr lang="en-US" sz="3000" b="1" dirty="0" smtClean="0">
                <a:solidFill>
                  <a:srgbClr val="000000"/>
                </a:solidFill>
                <a:latin typeface="Gill Sans MT" pitchFamily="34" charset="0"/>
              </a:rPr>
              <a:t>operating modes</a:t>
            </a:r>
            <a:br>
              <a:rPr lang="en-US" sz="3000" b="1" dirty="0" smtClean="0">
                <a:solidFill>
                  <a:srgbClr val="000000"/>
                </a:solidFill>
                <a:latin typeface="Gill Sans MT" pitchFamily="34" charset="0"/>
              </a:rPr>
            </a:br>
            <a:r>
              <a:rPr lang="en-US" sz="3000" dirty="0" smtClean="0">
                <a:solidFill>
                  <a:srgbClr val="000000"/>
                </a:solidFill>
                <a:latin typeface="Gill Sans MT" pitchFamily="34" charset="0"/>
              </a:rPr>
              <a:t>- </a:t>
            </a:r>
            <a:r>
              <a:rPr lang="en-US" sz="3000" dirty="0" smtClean="0">
                <a:solidFill>
                  <a:srgbClr val="C00000"/>
                </a:solidFill>
                <a:latin typeface="Gill Sans MT" pitchFamily="34" charset="0"/>
              </a:rPr>
              <a:t>inform about the </a:t>
            </a:r>
            <a:r>
              <a:rPr lang="en-US" sz="3000" b="1" dirty="0" smtClean="0">
                <a:solidFill>
                  <a:srgbClr val="C00000"/>
                </a:solidFill>
                <a:latin typeface="Gill Sans MT" pitchFamily="34" charset="0"/>
              </a:rPr>
              <a:t>status of the system</a:t>
            </a:r>
            <a:r>
              <a:rPr lang="en-US" sz="3000" b="1" dirty="0">
                <a:solidFill>
                  <a:srgbClr val="000000"/>
                </a:solidFill>
                <a:latin typeface="Gill Sans MT" pitchFamily="34" charset="0"/>
              </a:rPr>
              <a:t/>
            </a:r>
            <a:br>
              <a:rPr lang="en-US" sz="3000" b="1" dirty="0">
                <a:solidFill>
                  <a:srgbClr val="000000"/>
                </a:solidFill>
                <a:latin typeface="Gill Sans MT" pitchFamily="34" charset="0"/>
              </a:rPr>
            </a:br>
            <a:r>
              <a:rPr lang="en-US" sz="3000" dirty="0" smtClean="0">
                <a:solidFill>
                  <a:srgbClr val="000000"/>
                </a:solidFill>
                <a:latin typeface="Gill Sans MT" pitchFamily="34" charset="0"/>
              </a:rPr>
              <a:t>- indicate </a:t>
            </a:r>
            <a:r>
              <a:rPr lang="en-US" sz="3000" b="1" dirty="0" smtClean="0">
                <a:solidFill>
                  <a:srgbClr val="000000"/>
                </a:solidFill>
                <a:latin typeface="Gill Sans MT" pitchFamily="34" charset="0"/>
              </a:rPr>
              <a:t>sensible areas</a:t>
            </a:r>
            <a:r>
              <a:rPr lang="en-US" sz="3000" dirty="0" smtClean="0">
                <a:solidFill>
                  <a:srgbClr val="000000"/>
                </a:solidFill>
                <a:latin typeface="Gill Sans MT" pitchFamily="34" charset="0"/>
              </a:rPr>
              <a:t> (e.g. links)</a:t>
            </a: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Pointers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2164" name="Picture 4" descr="https://i-msdn.sec.s-msft.com/dynimg/IC72566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59" y="5589240"/>
            <a:ext cx="4680505" cy="9361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02184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9144000" cy="923326"/>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a:solidFill>
                  <a:srgbClr val="000000"/>
                </a:solidFill>
                <a:latin typeface="Gill Sans MT" pitchFamily="34" charset="0"/>
              </a:rPr>
              <a:t>The </a:t>
            </a:r>
            <a:r>
              <a:rPr lang="en-US" sz="3000" b="1" dirty="0">
                <a:solidFill>
                  <a:srgbClr val="000000"/>
                </a:solidFill>
                <a:latin typeface="Gill Sans MT" pitchFamily="34" charset="0"/>
              </a:rPr>
              <a:t>active zone </a:t>
            </a:r>
            <a:r>
              <a:rPr lang="en-US" sz="3000" dirty="0">
                <a:solidFill>
                  <a:srgbClr val="000000"/>
                </a:solidFill>
                <a:latin typeface="Gill Sans MT" pitchFamily="34" charset="0"/>
              </a:rPr>
              <a:t>(usually the tip of the arrow)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must </a:t>
            </a:r>
            <a:r>
              <a:rPr lang="en-US" sz="3000" dirty="0">
                <a:solidFill>
                  <a:srgbClr val="000000"/>
                </a:solidFill>
                <a:latin typeface="Gill Sans MT" pitchFamily="34" charset="0"/>
              </a:rPr>
              <a:t>be </a:t>
            </a:r>
            <a:r>
              <a:rPr lang="en-US" sz="3000" b="1" dirty="0">
                <a:solidFill>
                  <a:srgbClr val="000000"/>
                </a:solidFill>
                <a:latin typeface="Gill Sans MT" pitchFamily="34" charset="0"/>
              </a:rPr>
              <a:t>clearly identified</a:t>
            </a:r>
            <a:endParaRPr lang="en-US" sz="3000" b="1" dirty="0" smtClean="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Pointers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532" y="2564904"/>
            <a:ext cx="4529809" cy="1872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8976457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964488" cy="480127"/>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dirty="0">
                <a:solidFill>
                  <a:srgbClr val="000000"/>
                </a:solidFill>
                <a:latin typeface="Gill Sans MT" pitchFamily="34" charset="0"/>
              </a:rPr>
              <a:t>&lt;a </a:t>
            </a:r>
            <a:r>
              <a:rPr lang="en-US" dirty="0" err="1">
                <a:solidFill>
                  <a:srgbClr val="000000"/>
                </a:solidFill>
                <a:latin typeface="Gill Sans MT" pitchFamily="34" charset="0"/>
              </a:rPr>
              <a:t>href</a:t>
            </a:r>
            <a:r>
              <a:rPr lang="en-US" dirty="0">
                <a:solidFill>
                  <a:srgbClr val="000000"/>
                </a:solidFill>
                <a:latin typeface="Gill Sans MT" pitchFamily="34" charset="0"/>
              </a:rPr>
              <a:t>="</a:t>
            </a:r>
            <a:r>
              <a:rPr lang="en-US" dirty="0" smtClean="0">
                <a:solidFill>
                  <a:srgbClr val="000000"/>
                </a:solidFill>
                <a:latin typeface="Gill Sans MT" pitchFamily="34" charset="0"/>
              </a:rPr>
              <a:t>hci.html“ </a:t>
            </a:r>
            <a:r>
              <a:rPr lang="en-US" dirty="0" smtClean="0">
                <a:solidFill>
                  <a:srgbClr val="FF0000"/>
                </a:solidFill>
                <a:latin typeface="Gill Sans MT" pitchFamily="34" charset="0"/>
              </a:rPr>
              <a:t>style</a:t>
            </a:r>
            <a:r>
              <a:rPr lang="en-US" dirty="0">
                <a:solidFill>
                  <a:srgbClr val="FF0000"/>
                </a:solidFill>
                <a:latin typeface="Gill Sans MT" pitchFamily="34" charset="0"/>
              </a:rPr>
              <a:t>="</a:t>
            </a:r>
            <a:r>
              <a:rPr lang="en-US" dirty="0" err="1">
                <a:solidFill>
                  <a:srgbClr val="FF0000"/>
                </a:solidFill>
                <a:latin typeface="Gill Sans MT" pitchFamily="34" charset="0"/>
              </a:rPr>
              <a:t>cursor:crosshair</a:t>
            </a:r>
            <a:r>
              <a:rPr lang="en-US" dirty="0">
                <a:solidFill>
                  <a:srgbClr val="FF0000"/>
                </a:solidFill>
                <a:latin typeface="Gill Sans MT" pitchFamily="34" charset="0"/>
              </a:rPr>
              <a:t>"</a:t>
            </a:r>
            <a:r>
              <a:rPr lang="en-US" dirty="0">
                <a:solidFill>
                  <a:srgbClr val="000000"/>
                </a:solidFill>
                <a:latin typeface="Gill Sans MT" pitchFamily="34" charset="0"/>
              </a:rPr>
              <a:t>&gt;crosshair&lt;/a&gt; </a:t>
            </a:r>
            <a:endParaRPr lang="en-US" dirty="0" smtClean="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Cursors and CSS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2132856"/>
            <a:ext cx="7239000" cy="3876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2436400"/>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9144000" cy="2215987"/>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a:solidFill>
                  <a:srgbClr val="000000"/>
                </a:solidFill>
                <a:latin typeface="Gill Sans MT" pitchFamily="34" charset="0"/>
              </a:rPr>
              <a:t>Choice of operations or services offered on the </a:t>
            </a:r>
            <a:r>
              <a:rPr lang="en-US" sz="3000" dirty="0" smtClean="0">
                <a:solidFill>
                  <a:srgbClr val="000000"/>
                </a:solidFill>
                <a:latin typeface="Gill Sans MT" pitchFamily="34" charset="0"/>
              </a:rPr>
              <a:t>screen</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Required </a:t>
            </a:r>
            <a:r>
              <a:rPr lang="en-US" sz="3000" dirty="0">
                <a:solidFill>
                  <a:srgbClr val="000000"/>
                </a:solidFill>
                <a:latin typeface="Gill Sans MT" pitchFamily="34" charset="0"/>
              </a:rPr>
              <a:t>option selected with pointer</a:t>
            </a:r>
          </a:p>
          <a:p>
            <a:pPr defTabSz="914353" eaLnBrk="1" fontAlgn="auto" hangingPunct="1">
              <a:lnSpc>
                <a:spcPct val="90000"/>
              </a:lnSpc>
              <a:spcBef>
                <a:spcPts val="1800"/>
              </a:spcBef>
              <a:spcAft>
                <a:spcPts val="0"/>
              </a:spcAft>
            </a:pPr>
            <a:r>
              <a:rPr lang="en-US" sz="3000" b="1" dirty="0" smtClean="0">
                <a:solidFill>
                  <a:srgbClr val="000000"/>
                </a:solidFill>
                <a:latin typeface="Gill Sans MT" pitchFamily="34" charset="0"/>
              </a:rPr>
              <a:t>Problem</a:t>
            </a:r>
            <a:r>
              <a:rPr lang="en-US" sz="3000" dirty="0" smtClean="0">
                <a:solidFill>
                  <a:srgbClr val="000000"/>
                </a:solidFill>
                <a:latin typeface="Gill Sans MT" pitchFamily="34" charset="0"/>
              </a:rPr>
              <a:t> </a:t>
            </a:r>
            <a:r>
              <a:rPr lang="en-US" sz="3000" dirty="0">
                <a:solidFill>
                  <a:srgbClr val="000000"/>
                </a:solidFill>
                <a:latin typeface="Gill Sans MT" pitchFamily="34" charset="0"/>
              </a:rPr>
              <a:t>– take a lot of screen space</a:t>
            </a:r>
          </a:p>
          <a:p>
            <a:pPr defTabSz="914353" eaLnBrk="1" fontAlgn="auto" hangingPunct="1">
              <a:lnSpc>
                <a:spcPct val="90000"/>
              </a:lnSpc>
              <a:spcBef>
                <a:spcPts val="1800"/>
              </a:spcBef>
              <a:spcAft>
                <a:spcPts val="0"/>
              </a:spcAft>
            </a:pPr>
            <a:r>
              <a:rPr lang="en-US" sz="3000" b="1" dirty="0" smtClean="0">
                <a:solidFill>
                  <a:srgbClr val="000000"/>
                </a:solidFill>
                <a:latin typeface="Gill Sans MT" pitchFamily="34" charset="0"/>
              </a:rPr>
              <a:t>Solution</a:t>
            </a:r>
            <a:r>
              <a:rPr lang="en-US" sz="3000" dirty="0" smtClean="0">
                <a:solidFill>
                  <a:srgbClr val="000000"/>
                </a:solidFill>
                <a:latin typeface="Gill Sans MT" pitchFamily="34" charset="0"/>
              </a:rPr>
              <a:t> </a:t>
            </a:r>
            <a:r>
              <a:rPr lang="en-US" sz="3000" dirty="0">
                <a:solidFill>
                  <a:srgbClr val="000000"/>
                </a:solidFill>
                <a:latin typeface="Gill Sans MT" pitchFamily="34" charset="0"/>
              </a:rPr>
              <a:t>– pop-up: menu appears when needed</a:t>
            </a: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Menus</a:t>
            </a:r>
            <a:endParaRPr lang="en-US" sz="3200" b="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3933056"/>
            <a:ext cx="3206586"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9784847"/>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892480" cy="4062647"/>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Conventions and guidelines: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place </a:t>
            </a:r>
            <a:r>
              <a:rPr lang="en-US" sz="3000" b="1" dirty="0" smtClean="0">
                <a:solidFill>
                  <a:srgbClr val="000000"/>
                </a:solidFill>
                <a:latin typeface="Gill Sans MT" pitchFamily="34" charset="0"/>
              </a:rPr>
              <a:t>top-left</a:t>
            </a:r>
            <a:r>
              <a:rPr lang="en-US" sz="3000" dirty="0" smtClean="0">
                <a:solidFill>
                  <a:srgbClr val="000000"/>
                </a:solidFill>
                <a:latin typeface="Gill Sans MT" pitchFamily="34" charset="0"/>
              </a:rPr>
              <a:t> (more variety within web sites)</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t>
            </a:r>
            <a:r>
              <a:rPr lang="en-US" sz="3000" b="1" dirty="0" smtClean="0">
                <a:solidFill>
                  <a:srgbClr val="000000"/>
                </a:solidFill>
                <a:latin typeface="Gill Sans MT" pitchFamily="34" charset="0"/>
              </a:rPr>
              <a:t>feedback</a:t>
            </a:r>
            <a:r>
              <a:rPr lang="en-US" sz="3000" dirty="0" smtClean="0">
                <a:solidFill>
                  <a:srgbClr val="000000"/>
                </a:solidFill>
                <a:latin typeface="Gill Sans MT" pitchFamily="34" charset="0"/>
              </a:rPr>
              <a:t> (color change),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t>
            </a:r>
            <a:r>
              <a:rPr lang="en-US" sz="3000" b="1" dirty="0" smtClean="0">
                <a:solidFill>
                  <a:srgbClr val="000000"/>
                </a:solidFill>
                <a:latin typeface="Gill Sans MT" pitchFamily="34" charset="0"/>
              </a:rPr>
              <a:t>greyed</a:t>
            </a:r>
            <a:r>
              <a:rPr lang="en-US" sz="3000" dirty="0" smtClean="0">
                <a:solidFill>
                  <a:srgbClr val="000000"/>
                </a:solidFill>
                <a:latin typeface="Gill Sans MT" pitchFamily="34" charset="0"/>
              </a:rPr>
              <a:t> items..</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t>
            </a:r>
            <a:r>
              <a:rPr lang="en-US" sz="3000" b="1" dirty="0" smtClean="0">
                <a:solidFill>
                  <a:srgbClr val="000000"/>
                </a:solidFill>
                <a:latin typeface="Gill Sans MT" pitchFamily="34" charset="0"/>
              </a:rPr>
              <a:t>chunking</a:t>
            </a:r>
            <a:r>
              <a:rPr lang="en-US" sz="3000" dirty="0" smtClean="0">
                <a:solidFill>
                  <a:srgbClr val="000000"/>
                </a:solidFill>
                <a:latin typeface="Gill Sans MT" pitchFamily="34" charset="0"/>
              </a:rPr>
              <a:t>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(with separators)</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dirty="0" smtClean="0">
              <a:solidFill>
                <a:srgbClr val="000000"/>
              </a:solidFill>
              <a:latin typeface="Gill Sans MT" pitchFamily="34" charset="0"/>
            </a:endParaRPr>
          </a:p>
          <a:p>
            <a:pPr defTabSz="914353" eaLnBrk="1" fontAlgn="auto" hangingPunct="1">
              <a:lnSpc>
                <a:spcPct val="90000"/>
              </a:lnSpc>
              <a:spcBef>
                <a:spcPts val="1800"/>
              </a:spcBef>
              <a:spcAft>
                <a:spcPts val="0"/>
              </a:spcAft>
            </a:pPr>
            <a:endParaRPr lang="en-US" sz="3000" dirty="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Menus</a:t>
            </a:r>
            <a:endParaRPr lang="en-US" sz="3200" b="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42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3007172"/>
            <a:ext cx="4537789" cy="3579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9022010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8892480" cy="4708977"/>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smtClean="0">
                <a:solidFill>
                  <a:srgbClr val="000000"/>
                </a:solidFill>
                <a:latin typeface="Gill Sans MT" pitchFamily="34" charset="0"/>
              </a:rPr>
              <a:t>Menus </a:t>
            </a:r>
            <a:r>
              <a:rPr lang="en-US" sz="3000" dirty="0">
                <a:solidFill>
                  <a:srgbClr val="000000"/>
                </a:solidFill>
                <a:latin typeface="Gill Sans MT" pitchFamily="34" charset="0"/>
              </a:rPr>
              <a:t>are not effective when they contain too many </a:t>
            </a:r>
            <a:r>
              <a:rPr lang="en-US" sz="3000" dirty="0" smtClean="0">
                <a:solidFill>
                  <a:srgbClr val="000000"/>
                </a:solidFill>
                <a:latin typeface="Gill Sans MT" pitchFamily="34" charset="0"/>
              </a:rPr>
              <a:t>items.. therefore… </a:t>
            </a:r>
            <a:r>
              <a:rPr lang="en-US" sz="3000" b="1" dirty="0" smtClean="0">
                <a:solidFill>
                  <a:srgbClr val="000000"/>
                </a:solidFill>
                <a:latin typeface="Gill Sans MT" pitchFamily="34" charset="0"/>
              </a:rPr>
              <a:t>sub-menus</a:t>
            </a:r>
          </a:p>
          <a:p>
            <a:pPr defTabSz="914353" eaLnBrk="1" fontAlgn="auto" hangingPunct="1">
              <a:lnSpc>
                <a:spcPct val="90000"/>
              </a:lnSpc>
              <a:spcBef>
                <a:spcPts val="1800"/>
              </a:spcBef>
              <a:spcAft>
                <a:spcPts val="0"/>
              </a:spcAft>
            </a:pPr>
            <a:r>
              <a:rPr lang="en-US" sz="3000" dirty="0">
                <a:solidFill>
                  <a:srgbClr val="000000"/>
                </a:solidFill>
                <a:latin typeface="Gill Sans MT" pitchFamily="34" charset="0"/>
              </a:rPr>
              <a:t>Cascading menus are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difficult </a:t>
            </a:r>
            <a:r>
              <a:rPr lang="en-US" sz="3000" dirty="0">
                <a:solidFill>
                  <a:srgbClr val="000000"/>
                </a:solidFill>
                <a:latin typeface="Gill Sans MT" pitchFamily="34" charset="0"/>
              </a:rPr>
              <a:t>to use when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the </a:t>
            </a:r>
            <a:r>
              <a:rPr lang="en-US" sz="3000" dirty="0">
                <a:solidFill>
                  <a:srgbClr val="000000"/>
                </a:solidFill>
                <a:latin typeface="Gill Sans MT" pitchFamily="34" charset="0"/>
              </a:rPr>
              <a:t>entry is very </a:t>
            </a:r>
            <a:r>
              <a:rPr lang="en-US" sz="3000" dirty="0" smtClean="0">
                <a:solidFill>
                  <a:srgbClr val="000000"/>
                </a:solidFill>
                <a:latin typeface="Gill Sans MT" pitchFamily="34" charset="0"/>
              </a:rPr>
              <a:t>long</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and </a:t>
            </a:r>
            <a:r>
              <a:rPr lang="en-US" sz="3000" dirty="0">
                <a:solidFill>
                  <a:srgbClr val="000000"/>
                </a:solidFill>
                <a:latin typeface="Gill Sans MT" pitchFamily="34" charset="0"/>
              </a:rPr>
              <a:t>it is difficult to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move </a:t>
            </a:r>
            <a:r>
              <a:rPr lang="en-US" sz="3000" dirty="0">
                <a:solidFill>
                  <a:srgbClr val="000000"/>
                </a:solidFill>
                <a:latin typeface="Gill Sans MT" pitchFamily="34" charset="0"/>
              </a:rPr>
              <a:t>the mouse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horizontally</a:t>
            </a:r>
            <a:r>
              <a:rPr lang="en-US" sz="3000" dirty="0">
                <a:solidFill>
                  <a:srgbClr val="000000"/>
                </a:solidFill>
                <a:latin typeface="Gill Sans MT" pitchFamily="34" charset="0"/>
              </a:rPr>
              <a:t>.</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endParaRPr lang="en-US" sz="3000" dirty="0" smtClean="0">
              <a:solidFill>
                <a:srgbClr val="000000"/>
              </a:solidFill>
              <a:latin typeface="Gill Sans MT" pitchFamily="34" charset="0"/>
            </a:endParaRPr>
          </a:p>
          <a:p>
            <a:pPr defTabSz="914353" eaLnBrk="1" fontAlgn="auto" hangingPunct="1">
              <a:lnSpc>
                <a:spcPct val="90000"/>
              </a:lnSpc>
              <a:spcBef>
                <a:spcPts val="1800"/>
              </a:spcBef>
              <a:spcAft>
                <a:spcPts val="0"/>
              </a:spcAft>
            </a:pPr>
            <a:endParaRPr lang="en-US" sz="3000" dirty="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Menus</a:t>
            </a:r>
            <a:endParaRPr lang="en-US" sz="3200" b="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5" name="Picture 1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3200400"/>
            <a:ext cx="5343525"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616362636"/>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8736"/>
            <a:ext cx="9468544" cy="2816152"/>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b="1" dirty="0">
                <a:solidFill>
                  <a:srgbClr val="C00000"/>
                </a:solidFill>
                <a:latin typeface="Gill Sans MT" pitchFamily="34" charset="0"/>
              </a:rPr>
              <a:t>Menu Bar at top of screen </a:t>
            </a:r>
            <a:r>
              <a:rPr lang="en-US" sz="3000" b="1" dirty="0" smtClean="0">
                <a:solidFill>
                  <a:srgbClr val="C00000"/>
                </a:solidFill>
                <a:latin typeface="Gill Sans MT" pitchFamily="34" charset="0"/>
              </a:rPr>
              <a:t/>
            </a:r>
            <a:br>
              <a:rPr lang="en-US" sz="3000" b="1" dirty="0" smtClean="0">
                <a:solidFill>
                  <a:srgbClr val="C00000"/>
                </a:solidFill>
                <a:latin typeface="Gill Sans MT" pitchFamily="34" charset="0"/>
              </a:rPr>
            </a:br>
            <a:r>
              <a:rPr lang="en-US" sz="3000" dirty="0" smtClean="0">
                <a:solidFill>
                  <a:srgbClr val="000000"/>
                </a:solidFill>
                <a:latin typeface="Gill Sans MT" pitchFamily="34" charset="0"/>
              </a:rPr>
              <a:t>(</a:t>
            </a:r>
            <a:r>
              <a:rPr lang="en-US" sz="3000" dirty="0">
                <a:solidFill>
                  <a:srgbClr val="000000"/>
                </a:solidFill>
                <a:latin typeface="Gill Sans MT" pitchFamily="34" charset="0"/>
              </a:rPr>
              <a:t>normally), menu drags </a:t>
            </a:r>
            <a:r>
              <a:rPr lang="en-US" sz="3000" dirty="0" smtClean="0">
                <a:solidFill>
                  <a:srgbClr val="000000"/>
                </a:solidFill>
                <a:latin typeface="Gill Sans MT" pitchFamily="34" charset="0"/>
              </a:rPr>
              <a:t>down</a:t>
            </a:r>
            <a:br>
              <a:rPr lang="en-US" sz="3000" dirty="0" smtClean="0">
                <a:solidFill>
                  <a:srgbClr val="000000"/>
                </a:solidFill>
                <a:latin typeface="Gill Sans MT" pitchFamily="34" charset="0"/>
              </a:rPr>
            </a:br>
            <a:r>
              <a:rPr lang="en-US" sz="3000" b="1" dirty="0" smtClean="0">
                <a:solidFill>
                  <a:srgbClr val="000000"/>
                </a:solidFill>
                <a:latin typeface="Gill Sans MT" pitchFamily="34" charset="0"/>
              </a:rPr>
              <a:t>pull-down </a:t>
            </a:r>
            <a:r>
              <a:rPr lang="en-US" sz="3000" b="1" dirty="0">
                <a:solidFill>
                  <a:srgbClr val="000000"/>
                </a:solidFill>
                <a:latin typeface="Gill Sans MT" pitchFamily="34" charset="0"/>
              </a:rPr>
              <a:t>menu</a:t>
            </a:r>
            <a:r>
              <a:rPr lang="en-US" sz="3000" dirty="0">
                <a:solidFill>
                  <a:srgbClr val="000000"/>
                </a:solidFill>
                <a:latin typeface="Gill Sans MT" pitchFamily="34" charset="0"/>
              </a:rPr>
              <a:t> - mouse hold and drag down </a:t>
            </a:r>
            <a:r>
              <a:rPr lang="en-US" sz="3000" dirty="0" smtClean="0">
                <a:solidFill>
                  <a:srgbClr val="000000"/>
                </a:solidFill>
                <a:latin typeface="Gill Sans MT" pitchFamily="34" charset="0"/>
              </a:rPr>
              <a:t>menu</a:t>
            </a:r>
            <a:br>
              <a:rPr lang="en-US" sz="3000" dirty="0" smtClean="0">
                <a:solidFill>
                  <a:srgbClr val="000000"/>
                </a:solidFill>
                <a:latin typeface="Gill Sans MT" pitchFamily="34" charset="0"/>
              </a:rPr>
            </a:br>
            <a:r>
              <a:rPr lang="en-US" sz="3000" b="1" dirty="0" smtClean="0">
                <a:solidFill>
                  <a:srgbClr val="000000"/>
                </a:solidFill>
                <a:latin typeface="Gill Sans MT" pitchFamily="34" charset="0"/>
              </a:rPr>
              <a:t>drop-down </a:t>
            </a:r>
            <a:r>
              <a:rPr lang="en-US" sz="3000" b="1" dirty="0">
                <a:solidFill>
                  <a:srgbClr val="000000"/>
                </a:solidFill>
                <a:latin typeface="Gill Sans MT" pitchFamily="34" charset="0"/>
              </a:rPr>
              <a:t>menu </a:t>
            </a:r>
            <a:r>
              <a:rPr lang="en-US" sz="3000" dirty="0">
                <a:solidFill>
                  <a:srgbClr val="000000"/>
                </a:solidFill>
                <a:latin typeface="Gill Sans MT" pitchFamily="34" charset="0"/>
              </a:rPr>
              <a:t>- mouse click reveals </a:t>
            </a:r>
            <a:r>
              <a:rPr lang="en-US" sz="3000" dirty="0" smtClean="0">
                <a:solidFill>
                  <a:srgbClr val="000000"/>
                </a:solidFill>
                <a:latin typeface="Gill Sans MT" pitchFamily="34" charset="0"/>
              </a:rPr>
              <a:t>menu</a:t>
            </a:r>
            <a:br>
              <a:rPr lang="en-US" sz="3000" dirty="0" smtClean="0">
                <a:solidFill>
                  <a:srgbClr val="000000"/>
                </a:solidFill>
                <a:latin typeface="Gill Sans MT" pitchFamily="34" charset="0"/>
              </a:rPr>
            </a:br>
            <a:r>
              <a:rPr lang="en-US" sz="3000" b="1" dirty="0" smtClean="0">
                <a:solidFill>
                  <a:srgbClr val="000000"/>
                </a:solidFill>
                <a:latin typeface="Gill Sans MT" pitchFamily="34" charset="0"/>
              </a:rPr>
              <a:t>fall-down </a:t>
            </a:r>
            <a:r>
              <a:rPr lang="en-US" sz="3000" b="1" dirty="0">
                <a:solidFill>
                  <a:srgbClr val="000000"/>
                </a:solidFill>
                <a:latin typeface="Gill Sans MT" pitchFamily="34" charset="0"/>
              </a:rPr>
              <a:t>menus </a:t>
            </a:r>
            <a:r>
              <a:rPr lang="en-US" sz="3000" dirty="0">
                <a:solidFill>
                  <a:srgbClr val="000000"/>
                </a:solidFill>
                <a:latin typeface="Gill Sans MT" pitchFamily="34" charset="0"/>
              </a:rPr>
              <a:t>- mouse just moves over bar</a:t>
            </a:r>
            <a:r>
              <a:rPr lang="en-US" sz="3000" dirty="0" smtClean="0">
                <a:solidFill>
                  <a:srgbClr val="000000"/>
                </a:solidFill>
                <a:latin typeface="Gill Sans MT" pitchFamily="34" charset="0"/>
              </a:rPr>
              <a:t>!</a:t>
            </a:r>
          </a:p>
          <a:p>
            <a:pPr defTabSz="914353" eaLnBrk="1" fontAlgn="auto" hangingPunct="1">
              <a:lnSpc>
                <a:spcPct val="90000"/>
              </a:lnSpc>
              <a:spcBef>
                <a:spcPts val="1800"/>
              </a:spcBef>
              <a:spcAft>
                <a:spcPts val="0"/>
              </a:spcAft>
            </a:pPr>
            <a:endParaRPr lang="en-US" sz="3000" dirty="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Kinds of Menus </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79260904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52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1966" y="1196752"/>
            <a:ext cx="4152034" cy="3426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CasellaDiTesto 2"/>
          <p:cNvSpPr txBox="1"/>
          <p:nvPr/>
        </p:nvSpPr>
        <p:spPr>
          <a:xfrm>
            <a:off x="0" y="1428736"/>
            <a:ext cx="9468544" cy="1754322"/>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b="1" dirty="0" smtClean="0">
                <a:solidFill>
                  <a:srgbClr val="C00000"/>
                </a:solidFill>
                <a:latin typeface="Gill Sans MT" pitchFamily="34" charset="0"/>
              </a:rPr>
              <a:t>Contextual </a:t>
            </a:r>
            <a:r>
              <a:rPr lang="en-US" sz="3000" b="1" dirty="0">
                <a:solidFill>
                  <a:srgbClr val="C00000"/>
                </a:solidFill>
                <a:latin typeface="Gill Sans MT" pitchFamily="34" charset="0"/>
              </a:rPr>
              <a:t>menu</a:t>
            </a:r>
            <a:r>
              <a:rPr lang="en-US" sz="3000" dirty="0">
                <a:solidFill>
                  <a:srgbClr val="000000"/>
                </a:solidFill>
                <a:latin typeface="Gill Sans MT" pitchFamily="34" charset="0"/>
              </a:rPr>
              <a:t> </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appears </a:t>
            </a:r>
            <a:r>
              <a:rPr lang="en-US" sz="3000" dirty="0">
                <a:solidFill>
                  <a:srgbClr val="000000"/>
                </a:solidFill>
                <a:latin typeface="Gill Sans MT" pitchFamily="34" charset="0"/>
              </a:rPr>
              <a:t>where you </a:t>
            </a:r>
            <a:r>
              <a:rPr lang="en-US" sz="3000" dirty="0" smtClean="0">
                <a:solidFill>
                  <a:srgbClr val="000000"/>
                </a:solidFill>
                <a:latin typeface="Gill Sans MT" pitchFamily="34" charset="0"/>
              </a:rPr>
              <a:t>are</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t>
            </a:r>
            <a:r>
              <a:rPr lang="en-US" sz="3000" b="1" dirty="0" smtClean="0">
                <a:solidFill>
                  <a:srgbClr val="000000"/>
                </a:solidFill>
                <a:latin typeface="Gill Sans MT" pitchFamily="34" charset="0"/>
              </a:rPr>
              <a:t>pop-up menus</a:t>
            </a:r>
            <a:r>
              <a:rPr lang="en-US" sz="3000" dirty="0">
                <a:solidFill>
                  <a:srgbClr val="000000"/>
                </a:solidFill>
                <a:latin typeface="Gill Sans MT" pitchFamily="34" charset="0"/>
              </a:rPr>
              <a:t> </a:t>
            </a:r>
            <a:r>
              <a:rPr lang="en-US" sz="3000" dirty="0" smtClean="0">
                <a:solidFill>
                  <a:srgbClr val="000000"/>
                </a:solidFill>
                <a:latin typeface="Gill Sans MT" pitchFamily="34" charset="0"/>
              </a:rPr>
              <a:t>with</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  actions </a:t>
            </a:r>
            <a:r>
              <a:rPr lang="en-US" sz="3000" dirty="0">
                <a:solidFill>
                  <a:srgbClr val="000000"/>
                </a:solidFill>
                <a:latin typeface="Gill Sans MT" pitchFamily="34" charset="0"/>
              </a:rPr>
              <a:t>for selected </a:t>
            </a:r>
            <a:r>
              <a:rPr lang="en-US" sz="3000" dirty="0" smtClean="0">
                <a:solidFill>
                  <a:srgbClr val="000000"/>
                </a:solidFill>
                <a:latin typeface="Gill Sans MT" pitchFamily="34" charset="0"/>
              </a:rPr>
              <a:t>object</a:t>
            </a: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Kinds of Menus </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62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560" y="4005064"/>
            <a:ext cx="2073275"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CasellaDiTesto 6"/>
          <p:cNvSpPr txBox="1"/>
          <p:nvPr/>
        </p:nvSpPr>
        <p:spPr>
          <a:xfrm>
            <a:off x="2699792" y="5013176"/>
            <a:ext cx="5760640" cy="1338824"/>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a:solidFill>
                  <a:schemeClr val="bg1">
                    <a:lumMod val="50000"/>
                  </a:schemeClr>
                </a:solidFill>
                <a:latin typeface="Gill Sans MT" pitchFamily="34" charset="0"/>
              </a:rPr>
              <a:t>You can </a:t>
            </a:r>
            <a:r>
              <a:rPr lang="en-US" sz="3000" dirty="0" smtClean="0">
                <a:solidFill>
                  <a:schemeClr val="bg1">
                    <a:lumMod val="50000"/>
                  </a:schemeClr>
                </a:solidFill>
                <a:latin typeface="Gill Sans MT" pitchFamily="34" charset="0"/>
              </a:rPr>
              <a:t>also create </a:t>
            </a:r>
            <a:r>
              <a:rPr lang="en-US" sz="3000" dirty="0">
                <a:solidFill>
                  <a:schemeClr val="bg1">
                    <a:lumMod val="50000"/>
                  </a:schemeClr>
                </a:solidFill>
                <a:latin typeface="Gill Sans MT" pitchFamily="34" charset="0"/>
              </a:rPr>
              <a:t>a </a:t>
            </a:r>
            <a:r>
              <a:rPr lang="en-US" sz="3000" b="1" dirty="0">
                <a:solidFill>
                  <a:schemeClr val="bg1">
                    <a:lumMod val="50000"/>
                  </a:schemeClr>
                </a:solidFill>
                <a:latin typeface="Gill Sans MT" pitchFamily="34" charset="0"/>
              </a:rPr>
              <a:t>pop-up form </a:t>
            </a:r>
            <a:r>
              <a:rPr lang="en-US" sz="3000" dirty="0">
                <a:solidFill>
                  <a:schemeClr val="bg1">
                    <a:lumMod val="50000"/>
                  </a:schemeClr>
                </a:solidFill>
                <a:latin typeface="Gill Sans MT" pitchFamily="34" charset="0"/>
              </a:rPr>
              <a:t>to display information to a user or to prompt a user for data. </a:t>
            </a:r>
          </a:p>
        </p:txBody>
      </p:sp>
    </p:spTree>
    <p:extLst>
      <p:ext uri="{BB962C8B-B14F-4D97-AF65-F5344CB8AC3E}">
        <p14:creationId xmlns:p14="http://schemas.microsoft.com/office/powerpoint/2010/main" val="727334102"/>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752850"/>
            <a:ext cx="1695450"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4572000"/>
            <a:ext cx="2162175"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CasellaDiTesto 2"/>
          <p:cNvSpPr txBox="1"/>
          <p:nvPr/>
        </p:nvSpPr>
        <p:spPr>
          <a:xfrm>
            <a:off x="0" y="1428736"/>
            <a:ext cx="8532440" cy="3046984"/>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smtClean="0">
                <a:latin typeface="Gill Sans MT" pitchFamily="34" charset="0"/>
              </a:rPr>
              <a:t>Arranged </a:t>
            </a:r>
            <a:r>
              <a:rPr lang="en-US" sz="3000" dirty="0">
                <a:latin typeface="Gill Sans MT" pitchFamily="34" charset="0"/>
              </a:rPr>
              <a:t>in a </a:t>
            </a:r>
            <a:r>
              <a:rPr lang="en-US" sz="3000" b="1" dirty="0" smtClean="0">
                <a:latin typeface="Gill Sans MT" pitchFamily="34" charset="0"/>
              </a:rPr>
              <a:t>circle</a:t>
            </a:r>
            <a:r>
              <a:rPr lang="en-US" sz="3000" dirty="0">
                <a:latin typeface="Gill Sans MT" pitchFamily="34" charset="0"/>
              </a:rPr>
              <a:t>: </a:t>
            </a:r>
            <a:r>
              <a:rPr lang="en-US" sz="3000" dirty="0" smtClean="0">
                <a:latin typeface="Gill Sans MT" pitchFamily="34" charset="0"/>
              </a:rPr>
              <a:t>the </a:t>
            </a:r>
            <a:r>
              <a:rPr lang="en-US" sz="3000" dirty="0">
                <a:latin typeface="Gill Sans MT" pitchFamily="34" charset="0"/>
              </a:rPr>
              <a:t>cursor starts out in the center of the </a:t>
            </a:r>
            <a:r>
              <a:rPr lang="en-US" sz="3000" dirty="0" smtClean="0">
                <a:latin typeface="Gill Sans MT" pitchFamily="34" charset="0"/>
              </a:rPr>
              <a:t>pie.</a:t>
            </a:r>
          </a:p>
          <a:p>
            <a:pPr defTabSz="914353" eaLnBrk="1" fontAlgn="auto" hangingPunct="1">
              <a:lnSpc>
                <a:spcPct val="90000"/>
              </a:lnSpc>
              <a:spcBef>
                <a:spcPts val="1800"/>
              </a:spcBef>
              <a:spcAft>
                <a:spcPts val="0"/>
              </a:spcAft>
            </a:pPr>
            <a:r>
              <a:rPr lang="en-US" sz="3000" dirty="0" smtClean="0">
                <a:latin typeface="Gill Sans MT" pitchFamily="34" charset="0"/>
              </a:rPr>
              <a:t>Easier </a:t>
            </a:r>
            <a:r>
              <a:rPr lang="en-US" sz="3000" dirty="0">
                <a:latin typeface="Gill Sans MT" pitchFamily="34" charset="0"/>
              </a:rPr>
              <a:t>to select item (</a:t>
            </a:r>
            <a:r>
              <a:rPr lang="en-US" sz="3000" b="1" dirty="0">
                <a:latin typeface="Gill Sans MT" pitchFamily="34" charset="0"/>
              </a:rPr>
              <a:t>larger target </a:t>
            </a:r>
            <a:r>
              <a:rPr lang="en-US" sz="3000" b="1" dirty="0" smtClean="0">
                <a:latin typeface="Gill Sans MT" pitchFamily="34" charset="0"/>
              </a:rPr>
              <a:t>area</a:t>
            </a:r>
            <a:r>
              <a:rPr lang="en-US" sz="3000" dirty="0" smtClean="0">
                <a:latin typeface="Gill Sans MT" pitchFamily="34" charset="0"/>
              </a:rPr>
              <a:t>)</a:t>
            </a:r>
            <a:br>
              <a:rPr lang="en-US" sz="3000" dirty="0" smtClean="0">
                <a:latin typeface="Gill Sans MT" pitchFamily="34" charset="0"/>
              </a:rPr>
            </a:br>
            <a:r>
              <a:rPr lang="en-US" sz="3000" dirty="0" smtClean="0">
                <a:latin typeface="Gill Sans MT" pitchFamily="34" charset="0"/>
              </a:rPr>
              <a:t>therefore.. </a:t>
            </a:r>
            <a:r>
              <a:rPr lang="en-US" sz="3000" b="1" dirty="0" smtClean="0">
                <a:latin typeface="Gill Sans MT" pitchFamily="34" charset="0"/>
              </a:rPr>
              <a:t>low error </a:t>
            </a:r>
            <a:r>
              <a:rPr lang="en-US" sz="3000" b="1" dirty="0" err="1" smtClean="0">
                <a:latin typeface="Gill Sans MT" pitchFamily="34" charset="0"/>
              </a:rPr>
              <a:t>tate</a:t>
            </a:r>
            <a:endParaRPr lang="en-US" sz="3000" b="1" dirty="0" smtClean="0">
              <a:latin typeface="Gill Sans MT" pitchFamily="34" charset="0"/>
            </a:endParaRPr>
          </a:p>
          <a:p>
            <a:pPr defTabSz="914353" eaLnBrk="1" fontAlgn="auto" hangingPunct="1">
              <a:lnSpc>
                <a:spcPct val="90000"/>
              </a:lnSpc>
              <a:spcBef>
                <a:spcPts val="1800"/>
              </a:spcBef>
              <a:spcAft>
                <a:spcPts val="0"/>
              </a:spcAft>
            </a:pPr>
            <a:r>
              <a:rPr lang="en-US" sz="3000" b="1" dirty="0" smtClean="0">
                <a:latin typeface="Gill Sans MT" pitchFamily="34" charset="0"/>
              </a:rPr>
              <a:t>Quicker</a:t>
            </a:r>
            <a:r>
              <a:rPr lang="en-US" sz="3000" dirty="0" smtClean="0">
                <a:latin typeface="Gill Sans MT" pitchFamily="34" charset="0"/>
              </a:rPr>
              <a:t> </a:t>
            </a:r>
            <a:r>
              <a:rPr lang="en-US" sz="3000" dirty="0">
                <a:latin typeface="Gill Sans MT" pitchFamily="34" charset="0"/>
              </a:rPr>
              <a:t>(same distance to any option)</a:t>
            </a:r>
            <a:br>
              <a:rPr lang="en-US" sz="3000" dirty="0">
                <a:latin typeface="Gill Sans MT" pitchFamily="34" charset="0"/>
              </a:rPr>
            </a:br>
            <a:r>
              <a:rPr lang="en-US" sz="3000" dirty="0">
                <a:latin typeface="Gill Sans MT" pitchFamily="34" charset="0"/>
              </a:rPr>
              <a:t>…  but not widely </a:t>
            </a:r>
            <a:r>
              <a:rPr lang="en-US" sz="3000" dirty="0" smtClean="0">
                <a:latin typeface="Gill Sans MT" pitchFamily="34" charset="0"/>
              </a:rPr>
              <a:t>used (space needed)</a:t>
            </a:r>
            <a:endParaRPr lang="en-US" sz="3000" dirty="0">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Pie-Menus </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819650"/>
            <a:ext cx="1247775"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1800" y="4638675"/>
            <a:ext cx="18764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6695914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0487"/>
            <a:ext cx="9144000" cy="5816973"/>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a:latin typeface="Gill Sans MT" pitchFamily="34" charset="0"/>
              </a:rPr>
              <a:t>Short-cut keys can </a:t>
            </a:r>
            <a:r>
              <a:rPr lang="en-US" sz="3000" b="1" dirty="0">
                <a:latin typeface="Gill Sans MT" pitchFamily="34" charset="0"/>
              </a:rPr>
              <a:t>reduce the number of interactions </a:t>
            </a:r>
            <a:r>
              <a:rPr lang="en-US" sz="3000" dirty="0">
                <a:latin typeface="Gill Sans MT" pitchFamily="34" charset="0"/>
              </a:rPr>
              <a:t>for a given </a:t>
            </a:r>
            <a:r>
              <a:rPr lang="en-US" sz="3000" dirty="0" smtClean="0">
                <a:latin typeface="Gill Sans MT" pitchFamily="34" charset="0"/>
              </a:rPr>
              <a:t>task</a:t>
            </a:r>
          </a:p>
          <a:p>
            <a:pPr defTabSz="914353" eaLnBrk="1" fontAlgn="auto" hangingPunct="1">
              <a:lnSpc>
                <a:spcPct val="90000"/>
              </a:lnSpc>
              <a:spcBef>
                <a:spcPts val="1800"/>
              </a:spcBef>
              <a:spcAft>
                <a:spcPts val="0"/>
              </a:spcAft>
            </a:pPr>
            <a:r>
              <a:rPr lang="en-US" sz="3000" b="1" dirty="0" smtClean="0">
                <a:latin typeface="Gill Sans MT" pitchFamily="34" charset="0"/>
              </a:rPr>
              <a:t>Two kinds</a:t>
            </a:r>
            <a:r>
              <a:rPr lang="en-US" sz="3000" dirty="0" smtClean="0">
                <a:latin typeface="Gill Sans MT" pitchFamily="34" charset="0"/>
              </a:rPr>
              <a:t>:</a:t>
            </a:r>
            <a:br>
              <a:rPr lang="en-US" sz="3000" dirty="0" smtClean="0">
                <a:latin typeface="Gill Sans MT" pitchFamily="34" charset="0"/>
              </a:rPr>
            </a:br>
            <a:r>
              <a:rPr lang="en-US" sz="3000" dirty="0" smtClean="0">
                <a:latin typeface="Gill Sans MT" pitchFamily="34" charset="0"/>
              </a:rPr>
              <a:t>- active </a:t>
            </a:r>
            <a:r>
              <a:rPr lang="en-US" sz="3000" dirty="0">
                <a:latin typeface="Gill Sans MT" pitchFamily="34" charset="0"/>
              </a:rPr>
              <a:t>when menu open </a:t>
            </a:r>
            <a:r>
              <a:rPr lang="en-US" sz="3000" dirty="0" smtClean="0">
                <a:latin typeface="Gill Sans MT" pitchFamily="34" charset="0"/>
              </a:rPr>
              <a:t/>
            </a:r>
            <a:br>
              <a:rPr lang="en-US" sz="3000" dirty="0" smtClean="0">
                <a:latin typeface="Gill Sans MT" pitchFamily="34" charset="0"/>
              </a:rPr>
            </a:br>
            <a:r>
              <a:rPr lang="en-US" sz="3000" dirty="0" smtClean="0">
                <a:latin typeface="Gill Sans MT" pitchFamily="34" charset="0"/>
              </a:rPr>
              <a:t>  </a:t>
            </a:r>
            <a:r>
              <a:rPr lang="en-US" sz="3000" dirty="0" smtClean="0">
                <a:solidFill>
                  <a:srgbClr val="008000"/>
                </a:solidFill>
                <a:latin typeface="Gill Sans MT" pitchFamily="34" charset="0"/>
              </a:rPr>
              <a:t>usually </a:t>
            </a:r>
            <a:r>
              <a:rPr lang="en-US" sz="3000" dirty="0">
                <a:solidFill>
                  <a:srgbClr val="008000"/>
                </a:solidFill>
                <a:latin typeface="Gill Sans MT" pitchFamily="34" charset="0"/>
              </a:rPr>
              <a:t>first </a:t>
            </a:r>
            <a:r>
              <a:rPr lang="en-US" sz="3000" dirty="0" smtClean="0">
                <a:solidFill>
                  <a:srgbClr val="008000"/>
                </a:solidFill>
                <a:latin typeface="Gill Sans MT" pitchFamily="34" charset="0"/>
              </a:rPr>
              <a:t>letter</a:t>
            </a:r>
            <a:r>
              <a:rPr lang="en-US" sz="3000" dirty="0" smtClean="0">
                <a:latin typeface="Gill Sans MT" pitchFamily="34" charset="0"/>
              </a:rPr>
              <a:t/>
            </a:r>
            <a:br>
              <a:rPr lang="en-US" sz="3000" dirty="0" smtClean="0">
                <a:latin typeface="Gill Sans MT" pitchFamily="34" charset="0"/>
              </a:rPr>
            </a:br>
            <a:r>
              <a:rPr lang="en-US" sz="3000" dirty="0" smtClean="0">
                <a:latin typeface="Gill Sans MT" pitchFamily="34" charset="0"/>
              </a:rPr>
              <a:t>- active </a:t>
            </a:r>
            <a:r>
              <a:rPr lang="en-US" sz="3000" dirty="0">
                <a:latin typeface="Gill Sans MT" pitchFamily="34" charset="0"/>
              </a:rPr>
              <a:t>when menu closed </a:t>
            </a:r>
            <a:r>
              <a:rPr lang="en-US" sz="3000" dirty="0" smtClean="0">
                <a:latin typeface="Gill Sans MT" pitchFamily="34" charset="0"/>
              </a:rPr>
              <a:t/>
            </a:r>
            <a:br>
              <a:rPr lang="en-US" sz="3000" dirty="0" smtClean="0">
                <a:latin typeface="Gill Sans MT" pitchFamily="34" charset="0"/>
              </a:rPr>
            </a:br>
            <a:r>
              <a:rPr lang="en-US" sz="3000" dirty="0" smtClean="0">
                <a:latin typeface="Gill Sans MT" pitchFamily="34" charset="0"/>
              </a:rPr>
              <a:t>  </a:t>
            </a:r>
            <a:r>
              <a:rPr lang="en-US" sz="3000" dirty="0" smtClean="0">
                <a:solidFill>
                  <a:srgbClr val="6600FF"/>
                </a:solidFill>
                <a:latin typeface="Gill Sans MT" pitchFamily="34" charset="0"/>
              </a:rPr>
              <a:t>usually </a:t>
            </a:r>
            <a:r>
              <a:rPr lang="en-US" sz="3000" dirty="0">
                <a:solidFill>
                  <a:srgbClr val="6600FF"/>
                </a:solidFill>
                <a:latin typeface="Gill Sans MT" pitchFamily="34" charset="0"/>
              </a:rPr>
              <a:t>Ctrl + </a:t>
            </a:r>
            <a:r>
              <a:rPr lang="en-US" sz="3000" dirty="0" smtClean="0">
                <a:solidFill>
                  <a:srgbClr val="6600FF"/>
                </a:solidFill>
                <a:latin typeface="Gill Sans MT" pitchFamily="34" charset="0"/>
              </a:rPr>
              <a:t>letter</a:t>
            </a:r>
          </a:p>
          <a:p>
            <a:pPr defTabSz="914353" eaLnBrk="1" fontAlgn="auto" hangingPunct="1">
              <a:lnSpc>
                <a:spcPct val="90000"/>
              </a:lnSpc>
              <a:spcBef>
                <a:spcPts val="1800"/>
              </a:spcBef>
              <a:spcAft>
                <a:spcPts val="0"/>
              </a:spcAft>
            </a:pPr>
            <a:r>
              <a:rPr lang="en-US" sz="3000" dirty="0" smtClean="0">
                <a:latin typeface="Gill Sans MT" pitchFamily="34" charset="0"/>
              </a:rPr>
              <a:t>Ideal maximum: 2 keys </a:t>
            </a:r>
            <a:r>
              <a:rPr lang="en-US" sz="3000" dirty="0" smtClean="0">
                <a:solidFill>
                  <a:schemeClr val="bg1">
                    <a:lumMod val="65000"/>
                  </a:schemeClr>
                </a:solidFill>
                <a:latin typeface="Gill Sans MT" pitchFamily="34" charset="0"/>
              </a:rPr>
              <a:t>(+)</a:t>
            </a:r>
          </a:p>
          <a:p>
            <a:pPr defTabSz="914353" eaLnBrk="1" fontAlgn="auto" hangingPunct="1">
              <a:lnSpc>
                <a:spcPct val="90000"/>
              </a:lnSpc>
              <a:spcBef>
                <a:spcPts val="1800"/>
              </a:spcBef>
              <a:spcAft>
                <a:spcPts val="0"/>
              </a:spcAft>
            </a:pPr>
            <a:r>
              <a:rPr lang="en-US" sz="3000" dirty="0" smtClean="0">
                <a:latin typeface="Gill Sans MT" pitchFamily="34" charset="0"/>
              </a:rPr>
              <a:t>Not usable with cascading </a:t>
            </a:r>
            <a:r>
              <a:rPr lang="en-US" sz="3000" dirty="0" smtClean="0">
                <a:latin typeface="Gill Sans MT" pitchFamily="34" charset="0"/>
              </a:rPr>
              <a:t>menus</a:t>
            </a:r>
          </a:p>
          <a:p>
            <a:pPr defTabSz="914353" eaLnBrk="1" fontAlgn="auto" hangingPunct="1">
              <a:lnSpc>
                <a:spcPct val="90000"/>
              </a:lnSpc>
              <a:spcBef>
                <a:spcPts val="1800"/>
              </a:spcBef>
              <a:spcAft>
                <a:spcPts val="0"/>
              </a:spcAft>
            </a:pPr>
            <a:r>
              <a:rPr lang="en-US" sz="3000" dirty="0" smtClean="0">
                <a:latin typeface="Gill Sans MT" pitchFamily="34" charset="0"/>
              </a:rPr>
              <a:t>Icons to.. familiarize</a:t>
            </a:r>
            <a:endParaRPr lang="en-US" sz="3000" dirty="0">
              <a:latin typeface="Gill Sans MT" pitchFamily="34" charset="0"/>
            </a:endParaRPr>
          </a:p>
          <a:p>
            <a:pPr defTabSz="914353" eaLnBrk="1" fontAlgn="auto" hangingPunct="1">
              <a:lnSpc>
                <a:spcPct val="90000"/>
              </a:lnSpc>
              <a:spcBef>
                <a:spcPts val="1800"/>
              </a:spcBef>
              <a:spcAft>
                <a:spcPts val="0"/>
              </a:spcAft>
            </a:pPr>
            <a:endParaRPr lang="en-US" sz="3000" dirty="0">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Keyboard accelerators </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6350" y="3124200"/>
            <a:ext cx="2254250"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 name="AutoShape 7"/>
          <p:cNvSpPr>
            <a:spLocks noChangeArrowheads="1"/>
          </p:cNvSpPr>
          <p:nvPr/>
        </p:nvSpPr>
        <p:spPr bwMode="auto">
          <a:xfrm>
            <a:off x="7924800" y="3200400"/>
            <a:ext cx="685800" cy="381000"/>
          </a:xfrm>
          <a:prstGeom prst="roundRect">
            <a:avLst>
              <a:gd name="adj" fmla="val 16667"/>
            </a:avLst>
          </a:prstGeom>
          <a:noFill/>
          <a:ln w="38100">
            <a:solidFill>
              <a:srgbClr val="66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b="1" smtClean="0">
              <a:solidFill>
                <a:srgbClr val="000000"/>
              </a:solidFill>
              <a:latin typeface="Arial" charset="0"/>
            </a:endParaRPr>
          </a:p>
        </p:txBody>
      </p:sp>
      <p:sp>
        <p:nvSpPr>
          <p:cNvPr id="11" name="AutoShape 8"/>
          <p:cNvSpPr>
            <a:spLocks noChangeArrowheads="1"/>
          </p:cNvSpPr>
          <p:nvPr/>
        </p:nvSpPr>
        <p:spPr bwMode="auto">
          <a:xfrm>
            <a:off x="6553200" y="3200400"/>
            <a:ext cx="685800" cy="381000"/>
          </a:xfrm>
          <a:prstGeom prst="roundRect">
            <a:avLst>
              <a:gd name="adj" fmla="val 16667"/>
            </a:avLst>
          </a:prstGeom>
          <a:noFill/>
          <a:ln w="38100">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b="1" smtClean="0">
              <a:solidFill>
                <a:srgbClr val="000000"/>
              </a:solidFill>
              <a:latin typeface="Arial" charset="0"/>
            </a:endParaRPr>
          </a:p>
        </p:txBody>
      </p:sp>
      <p:sp>
        <p:nvSpPr>
          <p:cNvPr id="7" name="AutoShape 8"/>
          <p:cNvSpPr>
            <a:spLocks noChangeArrowheads="1"/>
          </p:cNvSpPr>
          <p:nvPr/>
        </p:nvSpPr>
        <p:spPr bwMode="auto">
          <a:xfrm rot="16200000">
            <a:off x="6191808" y="5481600"/>
            <a:ext cx="469776" cy="253008"/>
          </a:xfrm>
          <a:prstGeom prst="roundRect">
            <a:avLst>
              <a:gd name="adj" fmla="val 16667"/>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sz="2400" b="1" smtClean="0">
              <a:solidFill>
                <a:srgbClr val="000000"/>
              </a:solidFill>
              <a:latin typeface="Arial" charset="0"/>
            </a:endParaRPr>
          </a:p>
        </p:txBody>
      </p:sp>
      <p:cxnSp>
        <p:nvCxnSpPr>
          <p:cNvPr id="4" name="Connettore 2 3"/>
          <p:cNvCxnSpPr/>
          <p:nvPr/>
        </p:nvCxnSpPr>
        <p:spPr bwMode="auto">
          <a:xfrm flipV="1">
            <a:off x="3491880" y="5842992"/>
            <a:ext cx="2808312" cy="466328"/>
          </a:xfrm>
          <a:prstGeom prst="straightConnector1">
            <a:avLst/>
          </a:prstGeom>
          <a:noFill/>
          <a:ln w="9525"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416357881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AUT0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3696" y="3356992"/>
            <a:ext cx="3352800"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CasellaDiTesto 2"/>
          <p:cNvSpPr txBox="1"/>
          <p:nvPr/>
        </p:nvSpPr>
        <p:spPr>
          <a:xfrm>
            <a:off x="0" y="1420487"/>
            <a:ext cx="8532440" cy="5016754"/>
          </a:xfrm>
          <a:prstGeom prst="rect">
            <a:avLst/>
          </a:prstGeom>
          <a:noFill/>
        </p:spPr>
        <p:txBody>
          <a:bodyPr wrap="square" lIns="359982" tIns="45718" rIns="91435" bIns="45718" rtlCol="0">
            <a:spAutoFit/>
          </a:bodyPr>
          <a:lstStyle/>
          <a:p>
            <a:pPr defTabSz="914353" eaLnBrk="1" fontAlgn="auto" hangingPunct="1">
              <a:lnSpc>
                <a:spcPct val="90000"/>
              </a:lnSpc>
              <a:spcBef>
                <a:spcPts val="1200"/>
              </a:spcBef>
              <a:spcAft>
                <a:spcPts val="0"/>
              </a:spcAft>
            </a:pPr>
            <a:r>
              <a:rPr lang="en-US" sz="3000" dirty="0">
                <a:latin typeface="Gill Sans MT" pitchFamily="34" charset="0"/>
              </a:rPr>
              <a:t>which </a:t>
            </a:r>
            <a:r>
              <a:rPr lang="en-US" sz="3000" b="1" dirty="0">
                <a:latin typeface="Gill Sans MT" pitchFamily="34" charset="0"/>
              </a:rPr>
              <a:t>kind</a:t>
            </a:r>
            <a:r>
              <a:rPr lang="en-US" sz="3000" dirty="0">
                <a:latin typeface="Gill Sans MT" pitchFamily="34" charset="0"/>
              </a:rPr>
              <a:t> to use</a:t>
            </a:r>
          </a:p>
          <a:p>
            <a:pPr defTabSz="914353" eaLnBrk="1" fontAlgn="auto" hangingPunct="1">
              <a:lnSpc>
                <a:spcPct val="90000"/>
              </a:lnSpc>
              <a:spcBef>
                <a:spcPts val="1200"/>
              </a:spcBef>
              <a:spcAft>
                <a:spcPts val="0"/>
              </a:spcAft>
            </a:pPr>
            <a:r>
              <a:rPr lang="en-US" sz="3000" dirty="0">
                <a:latin typeface="Gill Sans MT" pitchFamily="34" charset="0"/>
              </a:rPr>
              <a:t>what to include in menus at all</a:t>
            </a:r>
          </a:p>
          <a:p>
            <a:pPr defTabSz="914353" eaLnBrk="1" fontAlgn="auto" hangingPunct="1">
              <a:lnSpc>
                <a:spcPct val="90000"/>
              </a:lnSpc>
              <a:spcBef>
                <a:spcPts val="1200"/>
              </a:spcBef>
              <a:spcAft>
                <a:spcPts val="0"/>
              </a:spcAft>
            </a:pPr>
            <a:r>
              <a:rPr lang="en-US" sz="3000" b="1" dirty="0">
                <a:latin typeface="Gill Sans MT" pitchFamily="34" charset="0"/>
              </a:rPr>
              <a:t>words</a:t>
            </a:r>
            <a:r>
              <a:rPr lang="en-US" sz="3000" dirty="0">
                <a:latin typeface="Gill Sans MT" pitchFamily="34" charset="0"/>
              </a:rPr>
              <a:t> to use (action or description</a:t>
            </a:r>
            <a:r>
              <a:rPr lang="en-US" sz="3000" dirty="0" smtClean="0">
                <a:latin typeface="Gill Sans MT" pitchFamily="34" charset="0"/>
              </a:rPr>
              <a:t>)</a:t>
            </a:r>
            <a:br>
              <a:rPr lang="en-US" sz="3000" dirty="0" smtClean="0">
                <a:latin typeface="Gill Sans MT" pitchFamily="34" charset="0"/>
              </a:rPr>
            </a:br>
            <a:r>
              <a:rPr lang="en-US" sz="3000" dirty="0">
                <a:solidFill>
                  <a:srgbClr val="C00000"/>
                </a:solidFill>
                <a:latin typeface="Gill Sans MT" pitchFamily="34" charset="0"/>
              </a:rPr>
              <a:t>(make item </a:t>
            </a:r>
            <a:r>
              <a:rPr lang="en-US" sz="3000" dirty="0" smtClean="0">
                <a:solidFill>
                  <a:srgbClr val="C00000"/>
                </a:solidFill>
                <a:latin typeface="Gill Sans MT" pitchFamily="34" charset="0"/>
              </a:rPr>
              <a:t>brief; </a:t>
            </a:r>
            <a:r>
              <a:rPr lang="en-US" sz="3000" dirty="0">
                <a:solidFill>
                  <a:srgbClr val="C00000"/>
                </a:solidFill>
                <a:latin typeface="Gill Sans MT" pitchFamily="34" charset="0"/>
              </a:rPr>
              <a:t>begin with </a:t>
            </a:r>
            <a:r>
              <a:rPr lang="en-US" sz="3000" dirty="0" smtClean="0">
                <a:solidFill>
                  <a:srgbClr val="C00000"/>
                </a:solidFill>
                <a:latin typeface="Gill Sans MT" pitchFamily="34" charset="0"/>
              </a:rPr>
              <a:t/>
            </a:r>
            <a:br>
              <a:rPr lang="en-US" sz="3000" dirty="0" smtClean="0">
                <a:solidFill>
                  <a:srgbClr val="C00000"/>
                </a:solidFill>
                <a:latin typeface="Gill Sans MT" pitchFamily="34" charset="0"/>
              </a:rPr>
            </a:br>
            <a:r>
              <a:rPr lang="en-US" sz="3000" dirty="0" smtClean="0">
                <a:solidFill>
                  <a:srgbClr val="C00000"/>
                </a:solidFill>
                <a:latin typeface="Gill Sans MT" pitchFamily="34" charset="0"/>
              </a:rPr>
              <a:t>keyword; use </a:t>
            </a:r>
            <a:r>
              <a:rPr lang="en-US" sz="3000" dirty="0">
                <a:solidFill>
                  <a:srgbClr val="C00000"/>
                </a:solidFill>
                <a:latin typeface="Gill Sans MT" pitchFamily="34" charset="0"/>
              </a:rPr>
              <a:t>consistent grammar, </a:t>
            </a:r>
            <a:br>
              <a:rPr lang="en-US" sz="3000" dirty="0">
                <a:solidFill>
                  <a:srgbClr val="C00000"/>
                </a:solidFill>
                <a:latin typeface="Gill Sans MT" pitchFamily="34" charset="0"/>
              </a:rPr>
            </a:br>
            <a:r>
              <a:rPr lang="en-US" sz="3000" dirty="0" smtClean="0">
                <a:solidFill>
                  <a:srgbClr val="C00000"/>
                </a:solidFill>
                <a:latin typeface="Gill Sans MT" pitchFamily="34" charset="0"/>
              </a:rPr>
              <a:t>layout</a:t>
            </a:r>
            <a:r>
              <a:rPr lang="en-US" sz="3000" dirty="0">
                <a:solidFill>
                  <a:srgbClr val="C00000"/>
                </a:solidFill>
                <a:latin typeface="Gill Sans MT" pitchFamily="34" charset="0"/>
              </a:rPr>
              <a:t>, terminology)</a:t>
            </a:r>
          </a:p>
          <a:p>
            <a:pPr defTabSz="914353" eaLnBrk="1" fontAlgn="auto" hangingPunct="1">
              <a:lnSpc>
                <a:spcPct val="90000"/>
              </a:lnSpc>
              <a:spcBef>
                <a:spcPts val="1200"/>
              </a:spcBef>
              <a:spcAft>
                <a:spcPts val="0"/>
              </a:spcAft>
            </a:pPr>
            <a:r>
              <a:rPr lang="en-US" sz="3000" dirty="0" smtClean="0">
                <a:latin typeface="Gill Sans MT" pitchFamily="34" charset="0"/>
              </a:rPr>
              <a:t>how </a:t>
            </a:r>
            <a:r>
              <a:rPr lang="en-US" sz="3000" dirty="0">
                <a:latin typeface="Gill Sans MT" pitchFamily="34" charset="0"/>
              </a:rPr>
              <a:t>to </a:t>
            </a:r>
            <a:r>
              <a:rPr lang="en-US" sz="3000" b="1" dirty="0">
                <a:latin typeface="Gill Sans MT" pitchFamily="34" charset="0"/>
              </a:rPr>
              <a:t>group</a:t>
            </a:r>
            <a:r>
              <a:rPr lang="en-US" sz="3000" dirty="0">
                <a:latin typeface="Gill Sans MT" pitchFamily="34" charset="0"/>
              </a:rPr>
              <a:t> </a:t>
            </a:r>
            <a:r>
              <a:rPr lang="en-US" sz="3000" dirty="0" smtClean="0">
                <a:latin typeface="Gill Sans MT" pitchFamily="34" charset="0"/>
              </a:rPr>
              <a:t>items</a:t>
            </a:r>
          </a:p>
          <a:p>
            <a:pPr defTabSz="914353" eaLnBrk="1" fontAlgn="auto" hangingPunct="1">
              <a:lnSpc>
                <a:spcPct val="90000"/>
              </a:lnSpc>
              <a:spcBef>
                <a:spcPts val="1200"/>
              </a:spcBef>
              <a:spcAft>
                <a:spcPts val="0"/>
              </a:spcAft>
            </a:pPr>
            <a:r>
              <a:rPr lang="en-US" sz="3000" dirty="0" smtClean="0">
                <a:latin typeface="Gill Sans MT" pitchFamily="34" charset="0"/>
              </a:rPr>
              <a:t>choice </a:t>
            </a:r>
            <a:r>
              <a:rPr lang="en-US" sz="3000" dirty="0">
                <a:latin typeface="Gill Sans MT" pitchFamily="34" charset="0"/>
              </a:rPr>
              <a:t>of keyboard </a:t>
            </a:r>
            <a:r>
              <a:rPr lang="en-US" sz="3000" dirty="0" smtClean="0">
                <a:latin typeface="Gill Sans MT" pitchFamily="34" charset="0"/>
              </a:rPr>
              <a:t>accelerators</a:t>
            </a:r>
            <a:endParaRPr lang="en-US" sz="3000" dirty="0">
              <a:latin typeface="Gill Sans MT" pitchFamily="34" charset="0"/>
            </a:endParaRPr>
          </a:p>
          <a:p>
            <a:pPr defTabSz="914353" eaLnBrk="1" fontAlgn="auto" hangingPunct="1">
              <a:lnSpc>
                <a:spcPct val="90000"/>
              </a:lnSpc>
              <a:spcBef>
                <a:spcPts val="1200"/>
              </a:spcBef>
              <a:spcAft>
                <a:spcPts val="0"/>
              </a:spcAft>
            </a:pPr>
            <a:r>
              <a:rPr lang="en-US" sz="3000" b="1" dirty="0" smtClean="0">
                <a:latin typeface="Gill Sans MT" pitchFamily="34" charset="0"/>
              </a:rPr>
              <a:t>order </a:t>
            </a:r>
            <a:r>
              <a:rPr lang="en-US" sz="3000" dirty="0" smtClean="0">
                <a:solidFill>
                  <a:srgbClr val="C00000"/>
                </a:solidFill>
                <a:latin typeface="Gill Sans MT" pitchFamily="34" charset="0"/>
              </a:rPr>
              <a:t>(frequency, sequence,</a:t>
            </a:r>
            <a:br>
              <a:rPr lang="en-US" sz="3000" dirty="0" smtClean="0">
                <a:solidFill>
                  <a:srgbClr val="C00000"/>
                </a:solidFill>
                <a:latin typeface="Gill Sans MT" pitchFamily="34" charset="0"/>
              </a:rPr>
            </a:br>
            <a:r>
              <a:rPr lang="en-US" sz="3000" dirty="0" smtClean="0">
                <a:solidFill>
                  <a:srgbClr val="C00000"/>
                </a:solidFill>
                <a:latin typeface="Gill Sans MT" pitchFamily="34" charset="0"/>
              </a:rPr>
              <a:t>separate opposite functions)</a:t>
            </a:r>
            <a:endParaRPr lang="en-US" sz="3000" dirty="0">
              <a:solidFill>
                <a:srgbClr val="C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Menus design issues </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3664373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0487"/>
            <a:ext cx="8748464" cy="4447367"/>
          </a:xfrm>
          <a:prstGeom prst="rect">
            <a:avLst/>
          </a:prstGeom>
          <a:noFill/>
        </p:spPr>
        <p:txBody>
          <a:bodyPr wrap="square" lIns="359982" tIns="45718" rIns="91435" bIns="45718" rtlCol="0">
            <a:spAutoFit/>
          </a:bodyPr>
          <a:lstStyle/>
          <a:p>
            <a:pPr defTabSz="914353" eaLnBrk="1" fontAlgn="auto" hangingPunct="1">
              <a:lnSpc>
                <a:spcPct val="90000"/>
              </a:lnSpc>
              <a:spcBef>
                <a:spcPts val="1800"/>
              </a:spcBef>
              <a:spcAft>
                <a:spcPts val="0"/>
              </a:spcAft>
            </a:pPr>
            <a:r>
              <a:rPr lang="en-US" sz="3000" dirty="0" smtClean="0">
                <a:latin typeface="Gill Sans MT" pitchFamily="34" charset="0"/>
              </a:rPr>
              <a:t>Individual </a:t>
            </a:r>
            <a:r>
              <a:rPr lang="en-US" sz="3000" dirty="0">
                <a:latin typeface="Gill Sans MT" pitchFamily="34" charset="0"/>
              </a:rPr>
              <a:t>and isolated regions within a display that can be selected to invoke an </a:t>
            </a:r>
            <a:r>
              <a:rPr lang="en-US" sz="3000" dirty="0" smtClean="0">
                <a:latin typeface="Gill Sans MT" pitchFamily="34" charset="0"/>
              </a:rPr>
              <a:t>action, to change the status or  to select options within a form</a:t>
            </a:r>
          </a:p>
          <a:p>
            <a:pPr defTabSz="914353" eaLnBrk="1" fontAlgn="auto" hangingPunct="1">
              <a:lnSpc>
                <a:spcPct val="90000"/>
              </a:lnSpc>
              <a:spcBef>
                <a:spcPts val="1800"/>
              </a:spcBef>
              <a:spcAft>
                <a:spcPts val="0"/>
              </a:spcAft>
            </a:pPr>
            <a:r>
              <a:rPr lang="en-US" sz="3000" dirty="0" smtClean="0">
                <a:latin typeface="Gill Sans MT" pitchFamily="34" charset="0"/>
              </a:rPr>
              <a:t>They may provide a </a:t>
            </a:r>
            <a:r>
              <a:rPr lang="en-US" sz="3000" b="1" dirty="0" smtClean="0">
                <a:latin typeface="Gill Sans MT" pitchFamily="34" charset="0"/>
              </a:rPr>
              <a:t>feedback </a:t>
            </a:r>
            <a:br>
              <a:rPr lang="en-US" sz="3000" b="1" dirty="0" smtClean="0">
                <a:latin typeface="Gill Sans MT" pitchFamily="34" charset="0"/>
              </a:rPr>
            </a:br>
            <a:r>
              <a:rPr lang="en-US" sz="3000" dirty="0" smtClean="0">
                <a:latin typeface="Gill Sans MT" pitchFamily="34" charset="0"/>
              </a:rPr>
              <a:t>on the </a:t>
            </a:r>
            <a:r>
              <a:rPr lang="en-US" sz="3000" b="1" dirty="0" smtClean="0">
                <a:latin typeface="Gill Sans MT" pitchFamily="34" charset="0"/>
              </a:rPr>
              <a:t>status</a:t>
            </a:r>
            <a:r>
              <a:rPr lang="en-US" sz="3000" dirty="0" smtClean="0">
                <a:latin typeface="Gill Sans MT" pitchFamily="34" charset="0"/>
              </a:rPr>
              <a:t> of the </a:t>
            </a:r>
            <a:r>
              <a:rPr lang="en-US" sz="3000" dirty="0" err="1" smtClean="0">
                <a:latin typeface="Gill Sans MT" pitchFamily="34" charset="0"/>
              </a:rPr>
              <a:t>sytem</a:t>
            </a:r>
            <a:endParaRPr lang="en-US" sz="3000" dirty="0" smtClean="0">
              <a:latin typeface="Gill Sans MT" pitchFamily="34" charset="0"/>
            </a:endParaRPr>
          </a:p>
          <a:p>
            <a:pPr defTabSz="914353" eaLnBrk="1" fontAlgn="auto" hangingPunct="1">
              <a:lnSpc>
                <a:spcPct val="90000"/>
              </a:lnSpc>
              <a:spcBef>
                <a:spcPts val="1800"/>
              </a:spcBef>
              <a:spcAft>
                <a:spcPts val="0"/>
              </a:spcAft>
            </a:pPr>
            <a:r>
              <a:rPr lang="en-US" sz="3000" dirty="0">
                <a:latin typeface="Gill Sans MT" pitchFamily="34" charset="0"/>
              </a:rPr>
              <a:t>Special </a:t>
            </a:r>
            <a:r>
              <a:rPr lang="en-US" sz="3000" dirty="0" smtClean="0">
                <a:latin typeface="Gill Sans MT" pitchFamily="34" charset="0"/>
              </a:rPr>
              <a:t>kinds</a:t>
            </a:r>
            <a:br>
              <a:rPr lang="en-US" sz="3000" dirty="0" smtClean="0">
                <a:latin typeface="Gill Sans MT" pitchFamily="34" charset="0"/>
              </a:rPr>
            </a:br>
            <a:r>
              <a:rPr lang="en-US" sz="3000" dirty="0" smtClean="0">
                <a:latin typeface="Gill Sans MT" pitchFamily="34" charset="0"/>
              </a:rPr>
              <a:t>- </a:t>
            </a:r>
            <a:r>
              <a:rPr lang="en-US" sz="3000" b="1" dirty="0" smtClean="0">
                <a:latin typeface="Gill Sans MT" pitchFamily="34" charset="0"/>
              </a:rPr>
              <a:t>radio buttons </a:t>
            </a:r>
            <a:r>
              <a:rPr lang="en-US" sz="3000" dirty="0" smtClean="0">
                <a:latin typeface="Gill Sans MT" pitchFamily="34" charset="0"/>
              </a:rPr>
              <a:t>(set </a:t>
            </a:r>
            <a:r>
              <a:rPr lang="en-US" sz="3000" dirty="0">
                <a:latin typeface="Gill Sans MT" pitchFamily="34" charset="0"/>
              </a:rPr>
              <a:t>of mutually exclusive </a:t>
            </a:r>
            <a:r>
              <a:rPr lang="en-US" sz="3000" dirty="0" smtClean="0">
                <a:latin typeface="Gill Sans MT" pitchFamily="34" charset="0"/>
              </a:rPr>
              <a:t>choices)</a:t>
            </a:r>
            <a:br>
              <a:rPr lang="en-US" sz="3000" dirty="0" smtClean="0">
                <a:latin typeface="Gill Sans MT" pitchFamily="34" charset="0"/>
              </a:rPr>
            </a:br>
            <a:r>
              <a:rPr lang="en-US" sz="3000" dirty="0" smtClean="0">
                <a:latin typeface="Gill Sans MT" pitchFamily="34" charset="0"/>
              </a:rPr>
              <a:t>- </a:t>
            </a:r>
            <a:r>
              <a:rPr lang="en-US" sz="3000" b="1" dirty="0" smtClean="0">
                <a:latin typeface="Gill Sans MT" pitchFamily="34" charset="0"/>
              </a:rPr>
              <a:t>check boxes </a:t>
            </a:r>
            <a:r>
              <a:rPr lang="en-US" sz="3000" dirty="0" smtClean="0">
                <a:latin typeface="Gill Sans MT" pitchFamily="34" charset="0"/>
              </a:rPr>
              <a:t>(set </a:t>
            </a:r>
            <a:r>
              <a:rPr lang="en-US" sz="3000" dirty="0">
                <a:latin typeface="Gill Sans MT" pitchFamily="34" charset="0"/>
              </a:rPr>
              <a:t>of non-exclusive </a:t>
            </a:r>
            <a:r>
              <a:rPr lang="en-US" sz="3000" dirty="0" smtClean="0">
                <a:latin typeface="Gill Sans MT" pitchFamily="34" charset="0"/>
              </a:rPr>
              <a:t>choices)</a:t>
            </a:r>
            <a:endParaRPr lang="en-US" sz="3000" dirty="0">
              <a:latin typeface="Gill Sans MT" pitchFamily="34" charset="0"/>
            </a:endParaRPr>
          </a:p>
          <a:p>
            <a:pPr defTabSz="914353" eaLnBrk="1" fontAlgn="auto" hangingPunct="1">
              <a:lnSpc>
                <a:spcPct val="90000"/>
              </a:lnSpc>
              <a:spcBef>
                <a:spcPts val="1200"/>
              </a:spcBef>
              <a:spcAft>
                <a:spcPts val="0"/>
              </a:spcAft>
            </a:pPr>
            <a:endParaRPr lang="en-US" sz="3000" b="1" dirty="0" smtClean="0">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Buttons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5" name="Picture 5"/>
          <p:cNvPicPr>
            <a:picLocks noChangeAspect="1" noChangeArrowheads="1"/>
          </p:cNvPicPr>
          <p:nvPr/>
        </p:nvPicPr>
        <p:blipFill>
          <a:blip r:embed="rId3"/>
          <a:srcRect/>
          <a:stretch>
            <a:fillRect/>
          </a:stretch>
        </p:blipFill>
        <p:spPr bwMode="auto">
          <a:xfrm>
            <a:off x="323529" y="5259268"/>
            <a:ext cx="4752528" cy="1410091"/>
          </a:xfrm>
          <a:prstGeom prst="rect">
            <a:avLst/>
          </a:prstGeom>
          <a:noFill/>
          <a:ln w="28575">
            <a:solidFill>
              <a:schemeClr val="bg2"/>
            </a:solidFill>
            <a:miter lim="800000"/>
            <a:headEnd/>
            <a:tailEnd/>
          </a:ln>
          <a:effectLst/>
        </p:spPr>
      </p:pic>
      <p:pic>
        <p:nvPicPr>
          <p:cNvPr id="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2948031"/>
            <a:ext cx="3456384" cy="84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039405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0487"/>
            <a:ext cx="8532440" cy="4185757"/>
          </a:xfrm>
          <a:prstGeom prst="rect">
            <a:avLst/>
          </a:prstGeom>
          <a:noFill/>
        </p:spPr>
        <p:txBody>
          <a:bodyPr wrap="square" lIns="359982" tIns="45718" rIns="91435" bIns="45718" rtlCol="0">
            <a:spAutoFit/>
          </a:bodyPr>
          <a:lstStyle/>
          <a:p>
            <a:pPr defTabSz="914353" eaLnBrk="1" fontAlgn="auto" hangingPunct="1">
              <a:lnSpc>
                <a:spcPct val="90000"/>
              </a:lnSpc>
              <a:spcBef>
                <a:spcPts val="1200"/>
              </a:spcBef>
              <a:spcAft>
                <a:spcPts val="0"/>
              </a:spcAft>
            </a:pPr>
            <a:r>
              <a:rPr lang="en-US" sz="3000" b="1" dirty="0" smtClean="0">
                <a:latin typeface="Gill Sans MT" pitchFamily="34" charset="0"/>
              </a:rPr>
              <a:t>Problem</a:t>
            </a:r>
            <a:r>
              <a:rPr lang="en-US" sz="3000" dirty="0" smtClean="0">
                <a:latin typeface="Gill Sans MT" pitchFamily="34" charset="0"/>
              </a:rPr>
              <a:t>: menu </a:t>
            </a:r>
            <a:r>
              <a:rPr lang="en-US" sz="3000" dirty="0">
                <a:latin typeface="Gill Sans MT" pitchFamily="34" charset="0"/>
              </a:rPr>
              <a:t>not there when you </a:t>
            </a:r>
            <a:r>
              <a:rPr lang="en-US" sz="3000" dirty="0" smtClean="0">
                <a:latin typeface="Gill Sans MT" pitchFamily="34" charset="0"/>
              </a:rPr>
              <a:t>want it.  </a:t>
            </a:r>
            <a:r>
              <a:rPr lang="en-US" sz="3000" b="1" dirty="0" smtClean="0">
                <a:latin typeface="Gill Sans MT" pitchFamily="34" charset="0"/>
              </a:rPr>
              <a:t>Solution</a:t>
            </a:r>
            <a:r>
              <a:rPr lang="en-US" sz="3000" dirty="0" smtClean="0">
                <a:latin typeface="Gill Sans MT" pitchFamily="34" charset="0"/>
              </a:rPr>
              <a:t>: palettes </a:t>
            </a:r>
            <a:r>
              <a:rPr lang="en-US" sz="3000" dirty="0">
                <a:latin typeface="Gill Sans MT" pitchFamily="34" charset="0"/>
              </a:rPr>
              <a:t>– </a:t>
            </a:r>
            <a:r>
              <a:rPr lang="en-US" sz="3000" dirty="0" smtClean="0">
                <a:latin typeface="Gill Sans MT" pitchFamily="34" charset="0"/>
              </a:rPr>
              <a:t>little </a:t>
            </a:r>
            <a:r>
              <a:rPr lang="en-US" sz="3000" dirty="0">
                <a:latin typeface="Gill Sans MT" pitchFamily="34" charset="0"/>
              </a:rPr>
              <a:t>windows of </a:t>
            </a:r>
            <a:r>
              <a:rPr lang="en-US" sz="3000" dirty="0" smtClean="0">
                <a:latin typeface="Gill Sans MT" pitchFamily="34" charset="0"/>
              </a:rPr>
              <a:t>actions</a:t>
            </a:r>
          </a:p>
          <a:p>
            <a:pPr defTabSz="914353" eaLnBrk="1" fontAlgn="auto" hangingPunct="1">
              <a:lnSpc>
                <a:spcPct val="90000"/>
              </a:lnSpc>
              <a:spcBef>
                <a:spcPts val="1200"/>
              </a:spcBef>
              <a:spcAft>
                <a:spcPts val="0"/>
              </a:spcAft>
            </a:pPr>
            <a:endParaRPr lang="en-US" sz="3000" dirty="0">
              <a:latin typeface="Gill Sans MT" pitchFamily="34" charset="0"/>
            </a:endParaRPr>
          </a:p>
          <a:p>
            <a:pPr defTabSz="914353" eaLnBrk="1" fontAlgn="auto" hangingPunct="1">
              <a:lnSpc>
                <a:spcPct val="90000"/>
              </a:lnSpc>
              <a:spcBef>
                <a:spcPts val="1200"/>
              </a:spcBef>
              <a:spcAft>
                <a:spcPts val="0"/>
              </a:spcAft>
            </a:pPr>
            <a:r>
              <a:rPr lang="en-US" sz="3000" dirty="0" smtClean="0">
                <a:latin typeface="Gill Sans MT" pitchFamily="34" charset="0"/>
              </a:rPr>
              <a:t>Shown / hidden </a:t>
            </a:r>
            <a:r>
              <a:rPr lang="en-US" sz="3000" dirty="0">
                <a:latin typeface="Gill Sans MT" pitchFamily="34" charset="0"/>
              </a:rPr>
              <a:t>via </a:t>
            </a:r>
            <a:r>
              <a:rPr lang="en-US" sz="3000" b="1" dirty="0">
                <a:latin typeface="Gill Sans MT" pitchFamily="34" charset="0"/>
              </a:rPr>
              <a:t>menu option</a:t>
            </a:r>
            <a:r>
              <a:rPr lang="en-US" sz="3000" dirty="0">
                <a:latin typeface="Gill Sans MT" pitchFamily="34" charset="0"/>
              </a:rPr>
              <a:t/>
            </a:r>
            <a:br>
              <a:rPr lang="en-US" sz="3000" dirty="0">
                <a:latin typeface="Gill Sans MT" pitchFamily="34" charset="0"/>
              </a:rPr>
            </a:br>
            <a:r>
              <a:rPr lang="en-US" sz="3000" dirty="0" smtClean="0">
                <a:latin typeface="Gill Sans MT" pitchFamily="34" charset="0"/>
              </a:rPr>
              <a:t>(e.g</a:t>
            </a:r>
            <a:r>
              <a:rPr lang="en-US" sz="3000" dirty="0">
                <a:latin typeface="Gill Sans MT" pitchFamily="34" charset="0"/>
              </a:rPr>
              <a:t>. available shapes in drawing </a:t>
            </a:r>
            <a:r>
              <a:rPr lang="en-US" sz="3000" dirty="0" smtClean="0">
                <a:latin typeface="Gill Sans MT" pitchFamily="34" charset="0"/>
              </a:rPr>
              <a:t>package)</a:t>
            </a:r>
            <a:endParaRPr lang="en-US" sz="3000" dirty="0">
              <a:latin typeface="Gill Sans MT" pitchFamily="34" charset="0"/>
            </a:endParaRPr>
          </a:p>
          <a:p>
            <a:pPr defTabSz="914353" eaLnBrk="1" fontAlgn="auto" hangingPunct="1">
              <a:lnSpc>
                <a:spcPct val="90000"/>
              </a:lnSpc>
              <a:spcBef>
                <a:spcPts val="1200"/>
              </a:spcBef>
              <a:spcAft>
                <a:spcPts val="0"/>
              </a:spcAft>
            </a:pPr>
            <a:r>
              <a:rPr lang="en-US" sz="3000" b="1" dirty="0" smtClean="0">
                <a:latin typeface="Gill Sans MT" pitchFamily="34" charset="0"/>
              </a:rPr>
              <a:t>Tear-off </a:t>
            </a:r>
            <a:r>
              <a:rPr lang="en-US" sz="3000" b="1" dirty="0">
                <a:latin typeface="Gill Sans MT" pitchFamily="34" charset="0"/>
              </a:rPr>
              <a:t>and pin-up </a:t>
            </a:r>
            <a:r>
              <a:rPr lang="en-US" sz="3000" b="1" dirty="0" smtClean="0">
                <a:latin typeface="Gill Sans MT" pitchFamily="34" charset="0"/>
              </a:rPr>
              <a:t>menus</a:t>
            </a:r>
            <a:r>
              <a:rPr lang="en-US" sz="3000" dirty="0" smtClean="0">
                <a:latin typeface="Gill Sans MT" pitchFamily="34" charset="0"/>
              </a:rPr>
              <a:t>:</a:t>
            </a:r>
            <a:br>
              <a:rPr lang="en-US" sz="3000" dirty="0" smtClean="0">
                <a:latin typeface="Gill Sans MT" pitchFamily="34" charset="0"/>
              </a:rPr>
            </a:br>
            <a:r>
              <a:rPr lang="en-US" sz="3000" dirty="0" smtClean="0">
                <a:latin typeface="Gill Sans MT" pitchFamily="34" charset="0"/>
              </a:rPr>
              <a:t>menu </a:t>
            </a:r>
            <a:r>
              <a:rPr lang="en-US" sz="3000" dirty="0">
                <a:latin typeface="Gill Sans MT" pitchFamily="34" charset="0"/>
              </a:rPr>
              <a:t>‘tears off’ to become palette </a:t>
            </a:r>
          </a:p>
          <a:p>
            <a:pPr defTabSz="914353" eaLnBrk="1" fontAlgn="auto" hangingPunct="1">
              <a:lnSpc>
                <a:spcPct val="90000"/>
              </a:lnSpc>
              <a:spcBef>
                <a:spcPts val="1200"/>
              </a:spcBef>
              <a:spcAft>
                <a:spcPts val="0"/>
              </a:spcAft>
            </a:pPr>
            <a:endParaRPr lang="en-US" sz="3000" dirty="0">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Palettes </a:t>
            </a:r>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(and </a:t>
            </a:r>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tear-off menus </a:t>
            </a:r>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31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7583" y="2880885"/>
            <a:ext cx="2493963" cy="3951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2327824"/>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0487"/>
            <a:ext cx="8532440" cy="3046984"/>
          </a:xfrm>
          <a:prstGeom prst="rect">
            <a:avLst/>
          </a:prstGeom>
          <a:noFill/>
        </p:spPr>
        <p:txBody>
          <a:bodyPr wrap="square" lIns="359982" tIns="45718" rIns="91435" bIns="45718" rtlCol="0">
            <a:spAutoFit/>
          </a:bodyPr>
          <a:lstStyle/>
          <a:p>
            <a:pPr defTabSz="914353" eaLnBrk="1" fontAlgn="auto" hangingPunct="1">
              <a:lnSpc>
                <a:spcPct val="90000"/>
              </a:lnSpc>
              <a:spcBef>
                <a:spcPts val="1200"/>
              </a:spcBef>
              <a:spcAft>
                <a:spcPts val="0"/>
              </a:spcAft>
            </a:pPr>
            <a:r>
              <a:rPr lang="en-US" sz="3000" b="1" dirty="0" smtClean="0">
                <a:latin typeface="Gill Sans MT" pitchFamily="34" charset="0"/>
              </a:rPr>
              <a:t>Long </a:t>
            </a:r>
            <a:r>
              <a:rPr lang="en-US" sz="3000" b="1" dirty="0">
                <a:latin typeface="Gill Sans MT" pitchFamily="34" charset="0"/>
              </a:rPr>
              <a:t>lines of </a:t>
            </a:r>
            <a:r>
              <a:rPr lang="en-US" sz="3000" b="1" dirty="0" smtClean="0">
                <a:latin typeface="Gill Sans MT" pitchFamily="34" charset="0"/>
              </a:rPr>
              <a:t>icons</a:t>
            </a:r>
            <a:r>
              <a:rPr lang="en-US" sz="3000" dirty="0" smtClean="0">
                <a:latin typeface="Gill Sans MT" pitchFamily="34" charset="0"/>
              </a:rPr>
              <a:t>…</a:t>
            </a:r>
          </a:p>
          <a:p>
            <a:pPr defTabSz="914353" eaLnBrk="1" fontAlgn="auto" hangingPunct="1">
              <a:lnSpc>
                <a:spcPct val="90000"/>
              </a:lnSpc>
              <a:spcBef>
                <a:spcPts val="1200"/>
              </a:spcBef>
              <a:spcAft>
                <a:spcPts val="0"/>
              </a:spcAft>
            </a:pPr>
            <a:r>
              <a:rPr lang="en-US" sz="3000" b="1" dirty="0" smtClean="0">
                <a:latin typeface="Gill Sans MT" pitchFamily="34" charset="0"/>
              </a:rPr>
              <a:t>Fast </a:t>
            </a:r>
            <a:r>
              <a:rPr lang="en-US" sz="3000" b="1" dirty="0">
                <a:latin typeface="Gill Sans MT" pitchFamily="34" charset="0"/>
              </a:rPr>
              <a:t>access</a:t>
            </a:r>
            <a:r>
              <a:rPr lang="en-US" sz="3000" dirty="0">
                <a:latin typeface="Gill Sans MT" pitchFamily="34" charset="0"/>
              </a:rPr>
              <a:t> to common </a:t>
            </a:r>
            <a:r>
              <a:rPr lang="en-US" sz="3000" dirty="0" smtClean="0">
                <a:latin typeface="Gill Sans MT" pitchFamily="34" charset="0"/>
              </a:rPr>
              <a:t>actions</a:t>
            </a:r>
          </a:p>
          <a:p>
            <a:pPr defTabSz="914353" eaLnBrk="1" fontAlgn="auto" hangingPunct="1">
              <a:lnSpc>
                <a:spcPct val="90000"/>
              </a:lnSpc>
              <a:spcBef>
                <a:spcPts val="1200"/>
              </a:spcBef>
              <a:spcAft>
                <a:spcPts val="0"/>
              </a:spcAft>
            </a:pPr>
            <a:r>
              <a:rPr lang="en-US" sz="3000" dirty="0" smtClean="0">
                <a:latin typeface="Gill Sans MT" pitchFamily="34" charset="0"/>
              </a:rPr>
              <a:t>Often </a:t>
            </a:r>
            <a:r>
              <a:rPr lang="en-US" sz="3000" b="1" dirty="0" smtClean="0">
                <a:latin typeface="Gill Sans MT" pitchFamily="34" charset="0"/>
              </a:rPr>
              <a:t>customizable</a:t>
            </a:r>
            <a:r>
              <a:rPr lang="en-US" sz="3000" dirty="0" smtClean="0">
                <a:latin typeface="Gill Sans MT" pitchFamily="34" charset="0"/>
              </a:rPr>
              <a:t>:</a:t>
            </a:r>
            <a:br>
              <a:rPr lang="en-US" sz="3000" dirty="0" smtClean="0">
                <a:latin typeface="Gill Sans MT" pitchFamily="34" charset="0"/>
              </a:rPr>
            </a:br>
            <a:r>
              <a:rPr lang="en-US" sz="3000" dirty="0" smtClean="0">
                <a:latin typeface="Gill Sans MT" pitchFamily="34" charset="0"/>
              </a:rPr>
              <a:t>choose </a:t>
            </a:r>
            <a:r>
              <a:rPr lang="en-US" sz="3000" i="1" dirty="0">
                <a:latin typeface="Gill Sans MT" pitchFamily="34" charset="0"/>
              </a:rPr>
              <a:t>which toolbars</a:t>
            </a:r>
            <a:r>
              <a:rPr lang="en-US" sz="3000" dirty="0">
                <a:latin typeface="Gill Sans MT" pitchFamily="34" charset="0"/>
              </a:rPr>
              <a:t> to </a:t>
            </a:r>
            <a:r>
              <a:rPr lang="en-US" sz="3000" dirty="0" smtClean="0">
                <a:latin typeface="Gill Sans MT" pitchFamily="34" charset="0"/>
              </a:rPr>
              <a:t>see</a:t>
            </a:r>
            <a:br>
              <a:rPr lang="en-US" sz="3000" dirty="0" smtClean="0">
                <a:latin typeface="Gill Sans MT" pitchFamily="34" charset="0"/>
              </a:rPr>
            </a:br>
            <a:r>
              <a:rPr lang="en-US" sz="3000" dirty="0" smtClean="0">
                <a:latin typeface="Gill Sans MT" pitchFamily="34" charset="0"/>
              </a:rPr>
              <a:t>choose </a:t>
            </a:r>
            <a:r>
              <a:rPr lang="en-US" sz="3000" i="1" dirty="0">
                <a:latin typeface="Gill Sans MT" pitchFamily="34" charset="0"/>
              </a:rPr>
              <a:t>what options </a:t>
            </a:r>
            <a:r>
              <a:rPr lang="en-US" sz="3000" dirty="0">
                <a:latin typeface="Gill Sans MT" pitchFamily="34" charset="0"/>
              </a:rPr>
              <a:t>are on it</a:t>
            </a:r>
          </a:p>
          <a:p>
            <a:pPr defTabSz="914353" eaLnBrk="1" fontAlgn="auto" hangingPunct="1">
              <a:lnSpc>
                <a:spcPct val="90000"/>
              </a:lnSpc>
              <a:spcBef>
                <a:spcPts val="1200"/>
              </a:spcBef>
              <a:spcAft>
                <a:spcPts val="0"/>
              </a:spcAft>
            </a:pPr>
            <a:endParaRPr lang="en-US" sz="3000" dirty="0">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Toolbars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21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149080"/>
            <a:ext cx="8136904" cy="1395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CasellaDiTesto 1"/>
          <p:cNvSpPr txBox="1"/>
          <p:nvPr/>
        </p:nvSpPr>
        <p:spPr>
          <a:xfrm>
            <a:off x="6012160" y="5784561"/>
            <a:ext cx="1159292" cy="523220"/>
          </a:xfrm>
          <a:prstGeom prst="rect">
            <a:avLst/>
          </a:prstGeom>
          <a:noFill/>
        </p:spPr>
        <p:txBody>
          <a:bodyPr wrap="none" rtlCol="0">
            <a:spAutoFit/>
          </a:bodyPr>
          <a:lstStyle/>
          <a:p>
            <a:r>
              <a:rPr lang="it-IT" dirty="0" err="1" smtClean="0">
                <a:solidFill>
                  <a:srgbClr val="C00000"/>
                </a:solidFill>
                <a:latin typeface="Gill Sans MT" panose="020B0502020104020203" pitchFamily="34" charset="0"/>
              </a:rPr>
              <a:t>tooltip</a:t>
            </a:r>
            <a:endParaRPr lang="it-IT" dirty="0">
              <a:solidFill>
                <a:srgbClr val="C00000"/>
              </a:solidFill>
              <a:latin typeface="Gill Sans MT" panose="020B0502020104020203" pitchFamily="34" charset="0"/>
            </a:endParaRPr>
          </a:p>
        </p:txBody>
      </p:sp>
      <p:cxnSp>
        <p:nvCxnSpPr>
          <p:cNvPr id="5" name="Connettore 2 4"/>
          <p:cNvCxnSpPr/>
          <p:nvPr/>
        </p:nvCxnSpPr>
        <p:spPr bwMode="auto">
          <a:xfrm flipH="1" flipV="1">
            <a:off x="6012160" y="5157192"/>
            <a:ext cx="288032" cy="720080"/>
          </a:xfrm>
          <a:prstGeom prst="straightConnector1">
            <a:avLst/>
          </a:prstGeom>
          <a:noFill/>
          <a:ln w="9525" cap="flat" cmpd="sng" algn="ctr">
            <a:solidFill>
              <a:srgbClr val="C00000"/>
            </a:solidFill>
            <a:prstDash val="solid"/>
            <a:round/>
            <a:headEnd type="none" w="med" len="med"/>
            <a:tailEnd type="arrow"/>
          </a:ln>
          <a:effectLst/>
        </p:spPr>
      </p:cxnSp>
    </p:spTree>
    <p:extLst>
      <p:ext uri="{BB962C8B-B14F-4D97-AF65-F5344CB8AC3E}">
        <p14:creationId xmlns:p14="http://schemas.microsoft.com/office/powerpoint/2010/main" val="1839353084"/>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0487"/>
            <a:ext cx="8532440" cy="5124476"/>
          </a:xfrm>
          <a:prstGeom prst="rect">
            <a:avLst/>
          </a:prstGeom>
          <a:noFill/>
        </p:spPr>
        <p:txBody>
          <a:bodyPr wrap="square" lIns="359982" tIns="45718" rIns="91435" bIns="45718" rtlCol="0">
            <a:spAutoFit/>
          </a:bodyPr>
          <a:lstStyle/>
          <a:p>
            <a:pPr defTabSz="914353" eaLnBrk="1" fontAlgn="auto" hangingPunct="1">
              <a:lnSpc>
                <a:spcPct val="90000"/>
              </a:lnSpc>
              <a:spcBef>
                <a:spcPts val="1200"/>
              </a:spcBef>
              <a:spcAft>
                <a:spcPts val="0"/>
              </a:spcAft>
            </a:pPr>
            <a:r>
              <a:rPr lang="en-US" sz="3000" dirty="0" smtClean="0">
                <a:latin typeface="Gill Sans MT" pitchFamily="34" charset="0"/>
              </a:rPr>
              <a:t>Information </a:t>
            </a:r>
            <a:r>
              <a:rPr lang="en-US" sz="3000" b="1" dirty="0">
                <a:latin typeface="Gill Sans MT" pitchFamily="34" charset="0"/>
              </a:rPr>
              <a:t>windows that pop up</a:t>
            </a:r>
            <a:r>
              <a:rPr lang="en-US" sz="3000" dirty="0">
                <a:latin typeface="Gill Sans MT" pitchFamily="34" charset="0"/>
              </a:rPr>
              <a:t> to inform of an important </a:t>
            </a:r>
            <a:r>
              <a:rPr lang="en-US" sz="3000" b="1" dirty="0">
                <a:latin typeface="Gill Sans MT" pitchFamily="34" charset="0"/>
              </a:rPr>
              <a:t>event or request </a:t>
            </a:r>
            <a:r>
              <a:rPr lang="en-US" sz="3000" b="1" dirty="0" smtClean="0">
                <a:latin typeface="Gill Sans MT" pitchFamily="34" charset="0"/>
              </a:rPr>
              <a:t>information</a:t>
            </a:r>
            <a:r>
              <a:rPr lang="en-US" sz="3000" dirty="0" smtClean="0">
                <a:latin typeface="Gill Sans MT" pitchFamily="34" charset="0"/>
              </a:rPr>
              <a:t>..</a:t>
            </a:r>
            <a:br>
              <a:rPr lang="en-US" sz="3000" dirty="0" smtClean="0">
                <a:latin typeface="Gill Sans MT" pitchFamily="34" charset="0"/>
              </a:rPr>
            </a:br>
            <a:r>
              <a:rPr lang="en-US" sz="3000" dirty="0" smtClean="0">
                <a:latin typeface="Gill Sans MT" pitchFamily="34" charset="0"/>
              </a:rPr>
              <a:t>and </a:t>
            </a:r>
            <a:r>
              <a:rPr lang="en-US" sz="3000" b="1" dirty="0" smtClean="0">
                <a:latin typeface="Gill Sans MT" pitchFamily="34" charset="0"/>
              </a:rPr>
              <a:t>once used.. disappear</a:t>
            </a:r>
            <a:endParaRPr lang="en-US" sz="3000" b="1" dirty="0">
              <a:latin typeface="Gill Sans MT" pitchFamily="34" charset="0"/>
            </a:endParaRPr>
          </a:p>
          <a:p>
            <a:pPr defTabSz="914353" eaLnBrk="1" fontAlgn="auto" hangingPunct="1">
              <a:lnSpc>
                <a:spcPct val="90000"/>
              </a:lnSpc>
              <a:spcBef>
                <a:spcPts val="1200"/>
              </a:spcBef>
              <a:spcAft>
                <a:spcPts val="0"/>
              </a:spcAft>
            </a:pPr>
            <a:r>
              <a:rPr lang="en-US" sz="3000" dirty="0" err="1" smtClean="0">
                <a:solidFill>
                  <a:schemeClr val="bg1">
                    <a:lumMod val="50000"/>
                  </a:schemeClr>
                </a:solidFill>
                <a:latin typeface="Gill Sans MT" pitchFamily="34" charset="0"/>
              </a:rPr>
              <a:t>E.g</a:t>
            </a:r>
            <a:r>
              <a:rPr lang="en-US" sz="3000" dirty="0">
                <a:solidFill>
                  <a:schemeClr val="bg1">
                    <a:lumMod val="50000"/>
                  </a:schemeClr>
                </a:solidFill>
                <a:latin typeface="Gill Sans MT" pitchFamily="34" charset="0"/>
              </a:rPr>
              <a:t>:  when saving a file, a dialogue box is displayed to allow the user to specify the filename and location.  </a:t>
            </a:r>
            <a:r>
              <a:rPr lang="en-US" sz="3000" dirty="0" smtClean="0">
                <a:solidFill>
                  <a:schemeClr val="bg1">
                    <a:lumMod val="50000"/>
                  </a:schemeClr>
                </a:solidFill>
                <a:latin typeface="Gill Sans MT" pitchFamily="34" charset="0"/>
              </a:rPr>
              <a:t>Once the file is saved, the box disappears.</a:t>
            </a:r>
            <a:br>
              <a:rPr lang="en-US" sz="3000" dirty="0" smtClean="0">
                <a:solidFill>
                  <a:schemeClr val="bg1">
                    <a:lumMod val="50000"/>
                  </a:schemeClr>
                </a:solidFill>
                <a:latin typeface="Gill Sans MT" pitchFamily="34" charset="0"/>
              </a:rPr>
            </a:br>
            <a:r>
              <a:rPr lang="en-US" sz="3000" dirty="0" smtClean="0">
                <a:solidFill>
                  <a:schemeClr val="bg1">
                    <a:lumMod val="50000"/>
                  </a:schemeClr>
                </a:solidFill>
                <a:latin typeface="Gill Sans MT" pitchFamily="34" charset="0"/>
              </a:rPr>
              <a:t/>
            </a:r>
            <a:br>
              <a:rPr lang="en-US" sz="3000" dirty="0" smtClean="0">
                <a:solidFill>
                  <a:schemeClr val="bg1">
                    <a:lumMod val="50000"/>
                  </a:schemeClr>
                </a:solidFill>
                <a:latin typeface="Gill Sans MT" pitchFamily="34" charset="0"/>
              </a:rPr>
            </a:br>
            <a:endParaRPr lang="en-US" sz="3000" dirty="0" smtClean="0">
              <a:solidFill>
                <a:schemeClr val="bg1">
                  <a:lumMod val="50000"/>
                </a:schemeClr>
              </a:solidFill>
              <a:latin typeface="Gill Sans MT" pitchFamily="34" charset="0"/>
            </a:endParaRPr>
          </a:p>
          <a:p>
            <a:pPr defTabSz="914353" eaLnBrk="1" fontAlgn="auto" hangingPunct="1">
              <a:lnSpc>
                <a:spcPct val="90000"/>
              </a:lnSpc>
              <a:spcBef>
                <a:spcPts val="1200"/>
              </a:spcBef>
              <a:spcAft>
                <a:spcPts val="0"/>
              </a:spcAft>
            </a:pPr>
            <a:r>
              <a:rPr lang="en-US" sz="3000" b="1" dirty="0">
                <a:latin typeface="Gill Sans MT" pitchFamily="34" charset="0"/>
              </a:rPr>
              <a:t>Philosophy</a:t>
            </a:r>
            <a:r>
              <a:rPr lang="en-US" sz="3000" dirty="0">
                <a:latin typeface="Gill Sans MT" pitchFamily="34" charset="0"/>
              </a:rPr>
              <a:t>: divide complex </a:t>
            </a:r>
            <a:r>
              <a:rPr lang="en-US" sz="3000" dirty="0" smtClean="0">
                <a:latin typeface="Gill Sans MT" pitchFamily="34" charset="0"/>
              </a:rPr>
              <a:t/>
            </a:r>
            <a:br>
              <a:rPr lang="en-US" sz="3000" dirty="0" smtClean="0">
                <a:latin typeface="Gill Sans MT" pitchFamily="34" charset="0"/>
              </a:rPr>
            </a:br>
            <a:r>
              <a:rPr lang="en-US" sz="3000" dirty="0" smtClean="0">
                <a:latin typeface="Gill Sans MT" pitchFamily="34" charset="0"/>
              </a:rPr>
              <a:t>tasks </a:t>
            </a:r>
            <a:r>
              <a:rPr lang="en-US" sz="3000" dirty="0">
                <a:latin typeface="Gill Sans MT" pitchFamily="34" charset="0"/>
              </a:rPr>
              <a:t>into </a:t>
            </a:r>
            <a:r>
              <a:rPr lang="en-US" sz="3000" dirty="0" smtClean="0">
                <a:latin typeface="Gill Sans MT" pitchFamily="34" charset="0"/>
              </a:rPr>
              <a:t>simpler steps</a:t>
            </a:r>
            <a:endParaRPr lang="en-US" sz="3000" dirty="0">
              <a:latin typeface="Gill Sans MT" pitchFamily="34" charset="0"/>
            </a:endParaRPr>
          </a:p>
          <a:p>
            <a:pPr defTabSz="914353" eaLnBrk="1" fontAlgn="auto" hangingPunct="1">
              <a:lnSpc>
                <a:spcPct val="90000"/>
              </a:lnSpc>
              <a:spcBef>
                <a:spcPts val="1200"/>
              </a:spcBef>
              <a:spcAft>
                <a:spcPts val="0"/>
              </a:spcAft>
            </a:pPr>
            <a:endParaRPr lang="en-US" sz="3000" dirty="0">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Dialogue boxes</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pic>
        <p:nvPicPr>
          <p:cNvPr id="931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9965" y="4653136"/>
            <a:ext cx="3292475" cy="16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338253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asellaDiTesto 2"/>
          <p:cNvSpPr txBox="1"/>
          <p:nvPr/>
        </p:nvSpPr>
        <p:spPr>
          <a:xfrm>
            <a:off x="0" y="1420487"/>
            <a:ext cx="8532440" cy="3462482"/>
          </a:xfrm>
          <a:prstGeom prst="rect">
            <a:avLst/>
          </a:prstGeom>
          <a:noFill/>
        </p:spPr>
        <p:txBody>
          <a:bodyPr wrap="square" lIns="359982" tIns="45718" rIns="91435" bIns="45718" rtlCol="0">
            <a:spAutoFit/>
          </a:bodyPr>
          <a:lstStyle/>
          <a:p>
            <a:pPr defTabSz="914353" eaLnBrk="1" fontAlgn="auto" hangingPunct="1">
              <a:lnSpc>
                <a:spcPct val="90000"/>
              </a:lnSpc>
              <a:spcBef>
                <a:spcPts val="1200"/>
              </a:spcBef>
              <a:spcAft>
                <a:spcPts val="0"/>
              </a:spcAft>
            </a:pPr>
            <a:r>
              <a:rPr lang="en-US" sz="3000" dirty="0">
                <a:solidFill>
                  <a:srgbClr val="000000"/>
                </a:solidFill>
                <a:latin typeface="Gill Sans MT" pitchFamily="34" charset="0"/>
              </a:rPr>
              <a:t>WIMP systems have the </a:t>
            </a:r>
            <a:r>
              <a:rPr lang="en-US" sz="3000" b="1" dirty="0">
                <a:solidFill>
                  <a:srgbClr val="000000"/>
                </a:solidFill>
                <a:latin typeface="Gill Sans MT" pitchFamily="34" charset="0"/>
              </a:rPr>
              <a:t>same </a:t>
            </a:r>
            <a:r>
              <a:rPr lang="en-US" sz="3000" b="1" dirty="0" smtClean="0">
                <a:solidFill>
                  <a:srgbClr val="000000"/>
                </a:solidFill>
                <a:latin typeface="Gill Sans MT" pitchFamily="34" charset="0"/>
              </a:rPr>
              <a:t>elements</a:t>
            </a:r>
            <a:r>
              <a:rPr lang="en-US" sz="3000" dirty="0">
                <a:solidFill>
                  <a:srgbClr val="000000"/>
                </a:solidFill>
                <a:latin typeface="Gill Sans MT" pitchFamily="34" charset="0"/>
              </a:rPr>
              <a:t/>
            </a:r>
            <a:br>
              <a:rPr lang="en-US" sz="3000" dirty="0">
                <a:solidFill>
                  <a:srgbClr val="000000"/>
                </a:solidFill>
                <a:latin typeface="Gill Sans MT" pitchFamily="34" charset="0"/>
              </a:rPr>
            </a:br>
            <a:r>
              <a:rPr lang="en-US" sz="3000" dirty="0" smtClean="0">
                <a:solidFill>
                  <a:srgbClr val="000000"/>
                </a:solidFill>
                <a:latin typeface="Gill Sans MT" pitchFamily="34" charset="0"/>
              </a:rPr>
              <a:t>(windows</a:t>
            </a:r>
            <a:r>
              <a:rPr lang="en-US" sz="3000" dirty="0">
                <a:solidFill>
                  <a:srgbClr val="000000"/>
                </a:solidFill>
                <a:latin typeface="Gill Sans MT" pitchFamily="34" charset="0"/>
              </a:rPr>
              <a:t>, icons., menus, pointers, buttons, etc</a:t>
            </a:r>
            <a:r>
              <a:rPr lang="en-US" sz="3000" dirty="0" smtClean="0">
                <a:solidFill>
                  <a:srgbClr val="000000"/>
                </a:solidFill>
                <a:latin typeface="Gill Sans MT" pitchFamily="34" charset="0"/>
              </a:rPr>
              <a:t>.)</a:t>
            </a:r>
            <a:br>
              <a:rPr lang="en-US" sz="3000" dirty="0" smtClean="0">
                <a:solidFill>
                  <a:srgbClr val="000000"/>
                </a:solidFill>
                <a:latin typeface="Gill Sans MT" pitchFamily="34" charset="0"/>
              </a:rPr>
            </a:br>
            <a:r>
              <a:rPr lang="en-US" sz="3000" dirty="0" smtClean="0">
                <a:solidFill>
                  <a:srgbClr val="000000"/>
                </a:solidFill>
                <a:latin typeface="Gill Sans MT" pitchFamily="34" charset="0"/>
              </a:rPr>
              <a:t>but </a:t>
            </a:r>
            <a:r>
              <a:rPr lang="en-US" sz="3000" dirty="0">
                <a:solidFill>
                  <a:srgbClr val="000000"/>
                </a:solidFill>
                <a:latin typeface="Gill Sans MT" pitchFamily="34" charset="0"/>
              </a:rPr>
              <a:t>different window </a:t>
            </a:r>
            <a:r>
              <a:rPr lang="en-US" sz="3000" dirty="0" smtClean="0">
                <a:solidFill>
                  <a:srgbClr val="000000"/>
                </a:solidFill>
                <a:latin typeface="Gill Sans MT" pitchFamily="34" charset="0"/>
              </a:rPr>
              <a:t>systems </a:t>
            </a:r>
            <a:r>
              <a:rPr lang="en-US" sz="3000" b="1" dirty="0" smtClean="0">
                <a:solidFill>
                  <a:srgbClr val="000000"/>
                </a:solidFill>
                <a:latin typeface="Gill Sans MT" pitchFamily="34" charset="0"/>
              </a:rPr>
              <a:t>behave differently</a:t>
            </a:r>
            <a:r>
              <a:rPr lang="en-US" sz="3000" dirty="0" smtClean="0">
                <a:solidFill>
                  <a:srgbClr val="000000"/>
                </a:solidFill>
                <a:latin typeface="Gill Sans MT" pitchFamily="34" charset="0"/>
              </a:rPr>
              <a:t/>
            </a:r>
            <a:br>
              <a:rPr lang="en-US" sz="3000" dirty="0" smtClean="0">
                <a:solidFill>
                  <a:srgbClr val="000000"/>
                </a:solidFill>
                <a:latin typeface="Gill Sans MT" pitchFamily="34" charset="0"/>
              </a:rPr>
            </a:br>
            <a:r>
              <a:rPr lang="en-US" sz="3000" dirty="0" smtClean="0">
                <a:solidFill>
                  <a:schemeClr val="bg1">
                    <a:lumMod val="50000"/>
                  </a:schemeClr>
                </a:solidFill>
                <a:latin typeface="Gill Sans MT" pitchFamily="34" charset="0"/>
              </a:rPr>
              <a:t>(e.g</a:t>
            </a:r>
            <a:r>
              <a:rPr lang="en-US" sz="3000" dirty="0">
                <a:solidFill>
                  <a:schemeClr val="bg1">
                    <a:lumMod val="50000"/>
                  </a:schemeClr>
                </a:solidFill>
                <a:latin typeface="Gill Sans MT" pitchFamily="34" charset="0"/>
              </a:rPr>
              <a:t>. </a:t>
            </a:r>
            <a:r>
              <a:rPr lang="en-US" sz="3000" dirty="0" err="1">
                <a:solidFill>
                  <a:schemeClr val="bg1">
                    <a:lumMod val="50000"/>
                  </a:schemeClr>
                </a:solidFill>
                <a:latin typeface="Gill Sans MT" pitchFamily="34" charset="0"/>
              </a:rPr>
              <a:t>MacOS</a:t>
            </a:r>
            <a:r>
              <a:rPr lang="en-US" sz="3000" dirty="0">
                <a:solidFill>
                  <a:schemeClr val="bg1">
                    <a:lumMod val="50000"/>
                  </a:schemeClr>
                </a:solidFill>
                <a:latin typeface="Gill Sans MT" pitchFamily="34" charset="0"/>
              </a:rPr>
              <a:t> vs Windows </a:t>
            </a:r>
            <a:r>
              <a:rPr lang="en-US" sz="3000" dirty="0" smtClean="0">
                <a:solidFill>
                  <a:schemeClr val="bg1">
                    <a:lumMod val="50000"/>
                  </a:schemeClr>
                </a:solidFill>
                <a:latin typeface="Gill Sans MT" pitchFamily="34" charset="0"/>
              </a:rPr>
              <a:t>menus)</a:t>
            </a:r>
            <a:endParaRPr lang="en-US" sz="3000" dirty="0">
              <a:solidFill>
                <a:schemeClr val="bg1">
                  <a:lumMod val="50000"/>
                </a:schemeClr>
              </a:solidFill>
              <a:latin typeface="Gill Sans MT" pitchFamily="34" charset="0"/>
            </a:endParaRPr>
          </a:p>
          <a:p>
            <a:pPr defTabSz="914353" eaLnBrk="1" fontAlgn="auto" hangingPunct="1">
              <a:lnSpc>
                <a:spcPct val="90000"/>
              </a:lnSpc>
              <a:spcBef>
                <a:spcPts val="1200"/>
              </a:spcBef>
              <a:spcAft>
                <a:spcPts val="0"/>
              </a:spcAft>
            </a:pPr>
            <a:endParaRPr lang="en-US" sz="3000" dirty="0" smtClean="0">
              <a:solidFill>
                <a:srgbClr val="000000"/>
              </a:solidFill>
              <a:latin typeface="Gill Sans MT" pitchFamily="34" charset="0"/>
            </a:endParaRPr>
          </a:p>
          <a:p>
            <a:pPr defTabSz="914353" eaLnBrk="1" fontAlgn="auto" hangingPunct="1">
              <a:lnSpc>
                <a:spcPct val="90000"/>
              </a:lnSpc>
              <a:spcBef>
                <a:spcPts val="1200"/>
              </a:spcBef>
              <a:spcAft>
                <a:spcPts val="0"/>
              </a:spcAft>
            </a:pPr>
            <a:r>
              <a:rPr lang="en-US" sz="3000" b="1" dirty="0" smtClean="0">
                <a:solidFill>
                  <a:srgbClr val="C00000"/>
                </a:solidFill>
                <a:latin typeface="Gill Sans MT" pitchFamily="34" charset="0"/>
              </a:rPr>
              <a:t>appearance</a:t>
            </a:r>
            <a:r>
              <a:rPr lang="en-US" sz="3000" b="1" dirty="0" smtClean="0">
                <a:latin typeface="Gill Sans MT" pitchFamily="34" charset="0"/>
              </a:rPr>
              <a:t> </a:t>
            </a:r>
            <a:r>
              <a:rPr lang="en-US" sz="3000" b="1" dirty="0">
                <a:latin typeface="Gill Sans MT" pitchFamily="34" charset="0"/>
              </a:rPr>
              <a:t>+ </a:t>
            </a:r>
            <a:r>
              <a:rPr lang="en-US" sz="3000" b="1" dirty="0" err="1">
                <a:solidFill>
                  <a:srgbClr val="C00000"/>
                </a:solidFill>
                <a:latin typeface="Gill Sans MT" pitchFamily="34" charset="0"/>
              </a:rPr>
              <a:t>behaviour</a:t>
            </a:r>
            <a:r>
              <a:rPr lang="en-US" sz="3000" b="1" dirty="0">
                <a:latin typeface="Gill Sans MT" pitchFamily="34" charset="0"/>
              </a:rPr>
              <a:t>  </a:t>
            </a:r>
            <a:r>
              <a:rPr lang="en-US" sz="3000" b="1" dirty="0" smtClean="0">
                <a:latin typeface="Gill Sans MT" pitchFamily="34" charset="0"/>
              </a:rPr>
              <a:t>=  </a:t>
            </a:r>
            <a:r>
              <a:rPr lang="en-US" sz="3000" b="1" dirty="0">
                <a:solidFill>
                  <a:srgbClr val="C00000"/>
                </a:solidFill>
                <a:latin typeface="Gill Sans MT" pitchFamily="34" charset="0"/>
              </a:rPr>
              <a:t>look and feel</a:t>
            </a:r>
          </a:p>
          <a:p>
            <a:pPr defTabSz="914353" eaLnBrk="1" fontAlgn="auto" hangingPunct="1">
              <a:lnSpc>
                <a:spcPct val="90000"/>
              </a:lnSpc>
              <a:spcBef>
                <a:spcPts val="1200"/>
              </a:spcBef>
              <a:spcAft>
                <a:spcPts val="0"/>
              </a:spcAft>
            </a:pPr>
            <a:endParaRPr lang="en-US" sz="3000" dirty="0">
              <a:solidFill>
                <a:srgbClr val="000000"/>
              </a:solidFill>
              <a:latin typeface="Gill Sans MT" pitchFamily="34" charset="0"/>
            </a:endParaRPr>
          </a:p>
        </p:txBody>
      </p:sp>
      <p:sp>
        <p:nvSpPr>
          <p:cNvPr id="6" name="Titolo 1"/>
          <p:cNvSpPr>
            <a:spLocks noGrp="1"/>
          </p:cNvSpPr>
          <p:nvPr>
            <p:ph type="title"/>
          </p:nvPr>
        </p:nvSpPr>
        <p:spPr>
          <a:xfrm>
            <a:off x="0" y="360000"/>
            <a:ext cx="9144000" cy="644400"/>
          </a:xfrm>
          <a:solidFill>
            <a:srgbClr val="000000">
              <a:alpha val="50196"/>
            </a:srgbClr>
          </a:solidFill>
          <a:ln>
            <a:noFill/>
          </a:ln>
        </p:spPr>
        <p:style>
          <a:lnRef idx="2">
            <a:schemeClr val="dk1"/>
          </a:lnRef>
          <a:fillRef idx="1">
            <a:schemeClr val="lt1"/>
          </a:fillRef>
          <a:effectRef idx="0">
            <a:schemeClr val="dk1"/>
          </a:effectRef>
          <a:fontRef idx="minor">
            <a:schemeClr val="dk1"/>
          </a:fontRef>
        </p:style>
        <p:txBody>
          <a:bodyPr vert="horz" lIns="359982" tIns="45718" rIns="91435" bIns="45718" rtlCol="0" anchor="t" anchorCtr="0">
            <a:noAutofit/>
          </a:bodyPr>
          <a:lstStyle/>
          <a:p>
            <a:r>
              <a:rPr lang="en-US" sz="3600" b="0" dirty="0" smtClean="0">
                <a:ln w="18415" cmpd="sng">
                  <a:noFill/>
                  <a:prstDash val="solid"/>
                </a:ln>
                <a:solidFill>
                  <a:srgbClr val="FFFFFF"/>
                </a:solidFill>
                <a:effectLst>
                  <a:outerShdw blurRad="38100" dist="38100" dir="2700000" algn="tl">
                    <a:srgbClr val="000000">
                      <a:alpha val="43137"/>
                    </a:srgbClr>
                  </a:outerShdw>
                </a:effectLst>
                <a:latin typeface="Gill Sans MT" pitchFamily="34" charset="0"/>
                <a:ea typeface="Gulim" pitchFamily="34" charset="-127"/>
                <a:cs typeface="Tunga" pitchFamily="2" charset="0"/>
              </a:rPr>
              <a:t>Look and feel</a:t>
            </a:r>
            <a:endParaRPr lang="en-US" sz="3200" b="0" dirty="0">
              <a:ln w="18415" cmpd="sng">
                <a:noFill/>
                <a:prstDash val="solid"/>
              </a:ln>
              <a:solidFill>
                <a:srgbClr val="FFC000"/>
              </a:solidFill>
              <a:effectLst>
                <a:outerShdw blurRad="38100" dist="38100" dir="2700000" algn="tl">
                  <a:srgbClr val="000000">
                    <a:alpha val="43137"/>
                  </a:srgbClr>
                </a:outerShdw>
              </a:effectLst>
              <a:latin typeface="Gill Sans MT" pitchFamily="34" charset="0"/>
              <a:ea typeface="Gulim" pitchFamily="34" charset="-127"/>
              <a:cs typeface="Tunga" pitchFamily="2" charset="0"/>
            </a:endParaRPr>
          </a:p>
        </p:txBody>
      </p:sp>
    </p:spTree>
    <p:extLst>
      <p:ext uri="{BB962C8B-B14F-4D97-AF65-F5344CB8AC3E}">
        <p14:creationId xmlns:p14="http://schemas.microsoft.com/office/powerpoint/2010/main" val="2065604935"/>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3_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81000" marR="0" indent="-381000" algn="l" defTabSz="914400" rtl="0" eaLnBrk="1" fontAlgn="base" latinLnBrk="0" hangingPunct="1">
          <a:lnSpc>
            <a:spcPct val="100000"/>
          </a:lnSpc>
          <a:spcBef>
            <a:spcPct val="20000"/>
          </a:spcBef>
          <a:spcAft>
            <a:spcPct val="0"/>
          </a:spcAft>
          <a:buClrTx/>
          <a:buSzTx/>
          <a:buFontTx/>
          <a:buNone/>
          <a:tabLst/>
          <a:defRPr kumimoji="0" lang="en-GB" sz="2800" b="0" i="0" u="none" strike="noStrike" cap="none" normalizeH="0" baseline="0">
            <a:ln>
              <a:noFill/>
            </a:ln>
            <a:solidFill>
              <a:schemeClr val="bg1"/>
            </a:solidFill>
            <a:effectLst/>
            <a:latin typeface="Tahoma" pitchFamily="-109"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81000" marR="0" indent="-381000" algn="l" defTabSz="914400" rtl="0" eaLnBrk="1" fontAlgn="base" latinLnBrk="0" hangingPunct="1">
          <a:lnSpc>
            <a:spcPct val="100000"/>
          </a:lnSpc>
          <a:spcBef>
            <a:spcPct val="20000"/>
          </a:spcBef>
          <a:spcAft>
            <a:spcPct val="0"/>
          </a:spcAft>
          <a:buClrTx/>
          <a:buSzTx/>
          <a:buFontTx/>
          <a:buNone/>
          <a:tabLst/>
          <a:defRPr kumimoji="0" lang="en-GB" sz="2800" b="0" i="0" u="none" strike="noStrike" cap="none" normalizeH="0" baseline="0">
            <a:ln>
              <a:noFill/>
            </a:ln>
            <a:solidFill>
              <a:schemeClr val="bg1"/>
            </a:solidFill>
            <a:effectLst/>
            <a:latin typeface="Tahoma" pitchFamily="-109"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ramonto">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1008</TotalTime>
  <Words>1021</Words>
  <Application>Microsoft Office PowerPoint</Application>
  <PresentationFormat>Presentazione su schermo (4:3)</PresentationFormat>
  <Paragraphs>168</Paragraphs>
  <Slides>26</Slides>
  <Notes>26</Notes>
  <HiddenSlides>0</HiddenSlides>
  <MMClips>0</MMClips>
  <ScaleCrop>false</ScaleCrop>
  <HeadingPairs>
    <vt:vector size="4" baseType="variant">
      <vt:variant>
        <vt:lpstr>Tema</vt:lpstr>
      </vt:variant>
      <vt:variant>
        <vt:i4>2</vt:i4>
      </vt:variant>
      <vt:variant>
        <vt:lpstr>Titoli diapositive</vt:lpstr>
      </vt:variant>
      <vt:variant>
        <vt:i4>26</vt:i4>
      </vt:variant>
    </vt:vector>
  </HeadingPairs>
  <TitlesOfParts>
    <vt:vector size="28" baseType="lpstr">
      <vt:lpstr>3_Blank</vt:lpstr>
      <vt:lpstr>1_Tema di Office</vt:lpstr>
      <vt:lpstr>Presentazione standard di PowerPoint</vt:lpstr>
      <vt:lpstr>Elements of the WIMP interface</vt:lpstr>
      <vt:lpstr>Windows</vt:lpstr>
      <vt:lpstr>Icons</vt:lpstr>
      <vt:lpstr>Icons advantages</vt:lpstr>
      <vt:lpstr>Use icons when..</vt:lpstr>
      <vt:lpstr>Use icons when..</vt:lpstr>
      <vt:lpstr>Types of visual icons</vt:lpstr>
      <vt:lpstr>Tips for designing icons 1/2 Apple Human Interface Guidelines</vt:lpstr>
      <vt:lpstr>Tips for designing icons 2/2 Apple Human Interface Guidelines</vt:lpstr>
      <vt:lpstr>Pointers</vt:lpstr>
      <vt:lpstr>Pointers</vt:lpstr>
      <vt:lpstr>Cursors and CSS</vt:lpstr>
      <vt:lpstr>Menus</vt:lpstr>
      <vt:lpstr>Menus</vt:lpstr>
      <vt:lpstr>Menus</vt:lpstr>
      <vt:lpstr>Kinds of Menus </vt:lpstr>
      <vt:lpstr>Kinds of Menus </vt:lpstr>
      <vt:lpstr>Pie-Menus </vt:lpstr>
      <vt:lpstr>Keyboard accelerators </vt:lpstr>
      <vt:lpstr>Menus design issues </vt:lpstr>
      <vt:lpstr>Buttons</vt:lpstr>
      <vt:lpstr>Palettes (and tear-off menus )</vt:lpstr>
      <vt:lpstr>Toolbars</vt:lpstr>
      <vt:lpstr>Dialogue boxes</vt:lpstr>
      <vt:lpstr>Look and feel</vt:lpstr>
    </vt:vector>
  </TitlesOfParts>
  <Company>Lancaster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Alan Dix</dc:creator>
  <cp:lastModifiedBy>Amministratore</cp:lastModifiedBy>
  <cp:revision>95</cp:revision>
  <dcterms:created xsi:type="dcterms:W3CDTF">2003-08-07T14:10:51Z</dcterms:created>
  <dcterms:modified xsi:type="dcterms:W3CDTF">2020-05-12T09:34:51Z</dcterms:modified>
</cp:coreProperties>
</file>